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6"/>
  </p:notesMasterIdLst>
  <p:sldIdLst>
    <p:sldId id="256" r:id="rId2"/>
    <p:sldId id="257" r:id="rId3"/>
    <p:sldId id="258" r:id="rId4"/>
    <p:sldId id="259" r:id="rId5"/>
    <p:sldId id="260" r:id="rId6"/>
    <p:sldId id="261" r:id="rId7"/>
    <p:sldId id="901" r:id="rId8"/>
    <p:sldId id="902" r:id="rId9"/>
    <p:sldId id="903" r:id="rId10"/>
    <p:sldId id="262" r:id="rId11"/>
    <p:sldId id="263" r:id="rId12"/>
    <p:sldId id="264" r:id="rId13"/>
    <p:sldId id="265" r:id="rId14"/>
    <p:sldId id="266" r:id="rId15"/>
  </p:sldIdLst>
  <p:sldSz cx="18288000" cy="10287000"/>
  <p:notesSz cx="6858000" cy="9144000"/>
  <p:embeddedFontLst>
    <p:embeddedFont>
      <p:font typeface="Arimo" panose="020B0604020202020204" charset="0"/>
      <p:regular r:id="rId17"/>
    </p:embeddedFont>
    <p:embeddedFont>
      <p:font typeface="Calistoga" panose="020B0604020202020204" charset="0"/>
      <p:regular r:id="rId18"/>
    </p:embeddedFont>
    <p:embeddedFont>
      <p:font typeface="Noto Serif" panose="02020600060500020200" pitchFamily="18" charset="0"/>
      <p:regular r:id="rId19"/>
      <p:bold r:id="rId20"/>
      <p:italic r:id="rId21"/>
      <p:boldItalic r:id="rId22"/>
    </p:embeddedFont>
    <p:embeddedFont>
      <p:font typeface="Noto Serif Bold" panose="020B0604020202020204" charset="0"/>
      <p:regular r:id="rId23"/>
    </p:embeddedFont>
    <p:embeddedFont>
      <p:font typeface="Proxima Nova" panose="020B0604020202020204" charset="0"/>
      <p:regular r:id="rId24"/>
    </p:embeddedFont>
    <p:embeddedFont>
      <p:font typeface="Proxima Nova Bold" panose="020B0604020202020204" charset="0"/>
      <p:regular r:id="rId25"/>
    </p:embeddedFont>
    <p:embeddedFont>
      <p:font typeface="Proxima Nova Bold Italics" panose="020B0604020202020204" charset="0"/>
      <p:regular r:id="rId26"/>
    </p:embeddedFont>
    <p:embeddedFont>
      <p:font typeface="Proxima Nova Heavy" panose="020B0604020202020204" charset="0"/>
      <p:regular r:id="rId27"/>
    </p:embeddedFont>
    <p:embeddedFont>
      <p:font typeface="Proxima Nova Italics"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6" d="100"/>
          <a:sy n="76" d="100"/>
        </p:scale>
        <p:origin x="474"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EC8FD0-2DF2-4DA3-9510-AC764FA73BE2}" type="datetimeFigureOut">
              <a:rPr lang="en-US" smtClean="0"/>
              <a:t>10/3/2026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129D68-7CBC-4A86-A387-3BB1ECCE2E05}" type="slidenum">
              <a:rPr lang="en-US" smtClean="0"/>
              <a:t>‹#›</a:t>
            </a:fld>
            <a:endParaRPr lang="en-US"/>
          </a:p>
        </p:txBody>
      </p:sp>
    </p:spTree>
    <p:extLst>
      <p:ext uri="{BB962C8B-B14F-4D97-AF65-F5344CB8AC3E}">
        <p14:creationId xmlns:p14="http://schemas.microsoft.com/office/powerpoint/2010/main" val="2235390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64450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 Id="rId9" Type="http://schemas.openxmlformats.org/officeDocument/2006/relationships/image" Target="../media/image27.sv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3.svg"/></Relationships>
</file>

<file path=ppt/slides/_rels/slide1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5F0"/>
        </a:solidFill>
        <a:effectLst/>
      </p:bgPr>
    </p:bg>
    <p:spTree>
      <p:nvGrpSpPr>
        <p:cNvPr id="1" name=""/>
        <p:cNvGrpSpPr/>
        <p:nvPr/>
      </p:nvGrpSpPr>
      <p:grpSpPr>
        <a:xfrm>
          <a:off x="0" y="0"/>
          <a:ext cx="0" cy="0"/>
          <a:chOff x="0" y="0"/>
          <a:chExt cx="0" cy="0"/>
        </a:xfrm>
      </p:grpSpPr>
      <p:sp>
        <p:nvSpPr>
          <p:cNvPr id="2" name="Freeform 2"/>
          <p:cNvSpPr/>
          <p:nvPr/>
        </p:nvSpPr>
        <p:spPr>
          <a:xfrm>
            <a:off x="-255765" y="8875757"/>
            <a:ext cx="9089136" cy="1619907"/>
          </a:xfrm>
          <a:custGeom>
            <a:avLst/>
            <a:gdLst/>
            <a:ahLst/>
            <a:cxnLst/>
            <a:rect l="l" t="t" r="r" b="b"/>
            <a:pathLst>
              <a:path w="9089136" h="1619907">
                <a:moveTo>
                  <a:pt x="0" y="0"/>
                </a:moveTo>
                <a:lnTo>
                  <a:pt x="9089136" y="0"/>
                </a:lnTo>
                <a:lnTo>
                  <a:pt x="9089136" y="1619907"/>
                </a:lnTo>
                <a:lnTo>
                  <a:pt x="0" y="16199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452094" y="-1703664"/>
            <a:ext cx="20776787" cy="19297660"/>
          </a:xfrm>
          <a:custGeom>
            <a:avLst/>
            <a:gdLst/>
            <a:ahLst/>
            <a:cxnLst/>
            <a:rect l="l" t="t" r="r" b="b"/>
            <a:pathLst>
              <a:path w="20776787" h="19297660">
                <a:moveTo>
                  <a:pt x="0" y="0"/>
                </a:moveTo>
                <a:lnTo>
                  <a:pt x="20776788" y="0"/>
                </a:lnTo>
                <a:lnTo>
                  <a:pt x="20776788" y="19297660"/>
                </a:lnTo>
                <a:lnTo>
                  <a:pt x="0" y="192976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819150" y="1095375"/>
            <a:ext cx="16668750" cy="1238250"/>
          </a:xfrm>
          <a:prstGeom prst="rect">
            <a:avLst/>
          </a:prstGeom>
        </p:spPr>
        <p:txBody>
          <a:bodyPr lIns="0" tIns="0" rIns="0" bIns="0" rtlCol="0" anchor="t">
            <a:spAutoFit/>
          </a:bodyPr>
          <a:lstStyle/>
          <a:p>
            <a:pPr algn="l">
              <a:lnSpc>
                <a:spcPts val="10736"/>
              </a:lnSpc>
            </a:pPr>
            <a:r>
              <a:rPr lang="en-US" sz="6200" b="1">
                <a:gradFill>
                  <a:gsLst>
                    <a:gs pos="0">
                      <a:srgbClr val="FF3131">
                        <a:alpha val="100000"/>
                      </a:srgbClr>
                    </a:gs>
                    <a:gs pos="100000">
                      <a:srgbClr val="FF914D">
                        <a:alpha val="100000"/>
                      </a:srgbClr>
                    </a:gs>
                  </a:gsLst>
                  <a:lin ang="0"/>
                </a:gradFill>
                <a:latin typeface="Proxima Nova Bold"/>
                <a:ea typeface="Proxima Nova Bold"/>
                <a:cs typeface="Proxima Nova Bold"/>
                <a:sym typeface="Proxima Nova Bold"/>
              </a:rPr>
              <a:t>GROUP RESEARCH REPORT</a:t>
            </a:r>
          </a:p>
        </p:txBody>
      </p:sp>
      <p:sp>
        <p:nvSpPr>
          <p:cNvPr id="5" name="TextBox 5"/>
          <p:cNvSpPr txBox="1"/>
          <p:nvPr/>
        </p:nvSpPr>
        <p:spPr>
          <a:xfrm>
            <a:off x="1028700" y="9277350"/>
            <a:ext cx="3506619" cy="586740"/>
          </a:xfrm>
          <a:prstGeom prst="rect">
            <a:avLst/>
          </a:prstGeom>
        </p:spPr>
        <p:txBody>
          <a:bodyPr lIns="0" tIns="0" rIns="0" bIns="0" rtlCol="0" anchor="t">
            <a:spAutoFit/>
          </a:bodyPr>
          <a:lstStyle/>
          <a:p>
            <a:pPr algn="l">
              <a:lnSpc>
                <a:spcPts val="4678"/>
              </a:lnSpc>
            </a:pPr>
            <a:r>
              <a:rPr lang="en-US" sz="3999" b="1">
                <a:solidFill>
                  <a:srgbClr val="FFFFFF"/>
                </a:solidFill>
                <a:latin typeface="Proxima Nova Bold"/>
                <a:ea typeface="Proxima Nova Bold"/>
                <a:cs typeface="Proxima Nova Bold"/>
                <a:sym typeface="Proxima Nova Bold"/>
              </a:rPr>
              <a:t>WEEK 3</a:t>
            </a:r>
          </a:p>
        </p:txBody>
      </p:sp>
      <p:sp>
        <p:nvSpPr>
          <p:cNvPr id="6" name="TextBox 6"/>
          <p:cNvSpPr txBox="1"/>
          <p:nvPr/>
        </p:nvSpPr>
        <p:spPr>
          <a:xfrm>
            <a:off x="819150" y="2809875"/>
            <a:ext cx="16478250" cy="2190750"/>
          </a:xfrm>
          <a:prstGeom prst="rect">
            <a:avLst/>
          </a:prstGeom>
        </p:spPr>
        <p:txBody>
          <a:bodyPr lIns="0" tIns="0" rIns="0" bIns="0" rtlCol="0" anchor="t">
            <a:spAutoFit/>
          </a:bodyPr>
          <a:lstStyle/>
          <a:p>
            <a:pPr algn="ctr">
              <a:lnSpc>
                <a:spcPts val="5161"/>
              </a:lnSpc>
            </a:pPr>
            <a:r>
              <a:rPr lang="en-US" sz="3700" b="1" i="1">
                <a:gradFill>
                  <a:gsLst>
                    <a:gs pos="0">
                      <a:srgbClr val="FF5757">
                        <a:alpha val="100000"/>
                      </a:srgbClr>
                    </a:gs>
                    <a:gs pos="100000">
                      <a:srgbClr val="8C52FF">
                        <a:alpha val="100000"/>
                      </a:srgbClr>
                    </a:gs>
                  </a:gsLst>
                  <a:lin ang="0"/>
                </a:gradFill>
                <a:latin typeface="Proxima Nova Bold Italics"/>
                <a:ea typeface="Proxima Nova Bold Italics"/>
                <a:cs typeface="Proxima Nova Bold Italics"/>
                <a:sym typeface="Proxima Nova Bold Italics"/>
              </a:rPr>
              <a:t>Exploratory Data Analysis</a:t>
            </a:r>
          </a:p>
          <a:p>
            <a:pPr algn="ctr">
              <a:lnSpc>
                <a:spcPts val="5161"/>
              </a:lnSpc>
            </a:pPr>
            <a:r>
              <a:rPr lang="en-US" sz="3700" b="1" i="1">
                <a:gradFill>
                  <a:gsLst>
                    <a:gs pos="0">
                      <a:srgbClr val="FF5757">
                        <a:alpha val="100000"/>
                      </a:srgbClr>
                    </a:gs>
                    <a:gs pos="100000">
                      <a:srgbClr val="8C52FF">
                        <a:alpha val="100000"/>
                      </a:srgbClr>
                    </a:gs>
                  </a:gsLst>
                  <a:lin ang="0"/>
                </a:gradFill>
                <a:latin typeface="Proxima Nova Bold Italics"/>
                <a:ea typeface="Proxima Nova Bold Italics"/>
                <a:cs typeface="Proxima Nova Bold Italics"/>
                <a:sym typeface="Proxima Nova Bold Italics"/>
              </a:rPr>
              <a:t>House Prices - Advanced Regression Techniques</a:t>
            </a:r>
          </a:p>
        </p:txBody>
      </p:sp>
      <p:sp>
        <p:nvSpPr>
          <p:cNvPr id="7" name="TextBox 7"/>
          <p:cNvSpPr txBox="1"/>
          <p:nvPr/>
        </p:nvSpPr>
        <p:spPr>
          <a:xfrm>
            <a:off x="7810500" y="6000750"/>
            <a:ext cx="3143250" cy="476250"/>
          </a:xfrm>
          <a:prstGeom prst="rect">
            <a:avLst/>
          </a:prstGeom>
        </p:spPr>
        <p:txBody>
          <a:bodyPr lIns="0" tIns="0" rIns="0" bIns="0" rtlCol="0" anchor="t">
            <a:spAutoFit/>
          </a:bodyPr>
          <a:lstStyle/>
          <a:p>
            <a:pPr algn="l">
              <a:lnSpc>
                <a:spcPts val="2807"/>
              </a:lnSpc>
            </a:pPr>
            <a:r>
              <a:rPr lang="en-US" sz="2800" b="1" i="1">
                <a:gradFill>
                  <a:gsLst>
                    <a:gs pos="0">
                      <a:srgbClr val="FF3131">
                        <a:alpha val="100000"/>
                      </a:srgbClr>
                    </a:gs>
                    <a:gs pos="100000">
                      <a:srgbClr val="FF914D">
                        <a:alpha val="100000"/>
                      </a:srgbClr>
                    </a:gs>
                  </a:gsLst>
                  <a:lin ang="0"/>
                </a:gradFill>
                <a:latin typeface="Proxima Nova Bold Italics"/>
                <a:ea typeface="Proxima Nova Bold Italics"/>
                <a:cs typeface="Proxima Nova Bold Italics"/>
                <a:sym typeface="Proxima Nova Bold Italics"/>
              </a:rPr>
              <a:t>Prepared by:</a:t>
            </a:r>
          </a:p>
        </p:txBody>
      </p:sp>
      <p:sp>
        <p:nvSpPr>
          <p:cNvPr id="8" name="TextBox 8"/>
          <p:cNvSpPr txBox="1"/>
          <p:nvPr/>
        </p:nvSpPr>
        <p:spPr>
          <a:xfrm>
            <a:off x="10477500" y="7048500"/>
            <a:ext cx="7239000" cy="619125"/>
          </a:xfrm>
          <a:prstGeom prst="rect">
            <a:avLst/>
          </a:prstGeom>
        </p:spPr>
        <p:txBody>
          <a:bodyPr lIns="0" tIns="0" rIns="0" bIns="0" rtlCol="0" anchor="t">
            <a:spAutoFit/>
          </a:bodyPr>
          <a:lstStyle/>
          <a:p>
            <a:pPr algn="l">
              <a:lnSpc>
                <a:spcPts val="3790"/>
              </a:lnSpc>
            </a:pPr>
            <a:r>
              <a:rPr lang="en-US" sz="2500" b="1">
                <a:gradFill>
                  <a:gsLst>
                    <a:gs pos="0">
                      <a:srgbClr val="8C52FF">
                        <a:alpha val="100000"/>
                      </a:srgbClr>
                    </a:gs>
                    <a:gs pos="100000">
                      <a:srgbClr val="00BF63">
                        <a:alpha val="100000"/>
                      </a:srgbClr>
                    </a:gs>
                  </a:gsLst>
                  <a:lin ang="0"/>
                </a:gradFill>
                <a:latin typeface="Proxima Nova Bold"/>
                <a:ea typeface="Proxima Nova Bold"/>
                <a:cs typeface="Proxima Nova Bold"/>
                <a:sym typeface="Proxima Nova Bold"/>
              </a:rPr>
              <a:t>Lê Nguyễn Anh Bảo (Slide design)</a:t>
            </a:r>
          </a:p>
        </p:txBody>
      </p:sp>
      <p:sp>
        <p:nvSpPr>
          <p:cNvPr id="9" name="TextBox 9"/>
          <p:cNvSpPr txBox="1"/>
          <p:nvPr/>
        </p:nvSpPr>
        <p:spPr>
          <a:xfrm>
            <a:off x="10477500" y="7810500"/>
            <a:ext cx="7239000" cy="619125"/>
          </a:xfrm>
          <a:prstGeom prst="rect">
            <a:avLst/>
          </a:prstGeom>
        </p:spPr>
        <p:txBody>
          <a:bodyPr wrap="square" lIns="0" tIns="0" rIns="0" bIns="0" rtlCol="0" anchor="t">
            <a:spAutoFit/>
          </a:bodyPr>
          <a:lstStyle/>
          <a:p>
            <a:pPr algn="l">
              <a:lnSpc>
                <a:spcPts val="3790"/>
              </a:lnSpc>
            </a:pPr>
            <a:r>
              <a:rPr lang="en-US" sz="2500" b="1" dirty="0" err="1">
                <a:gradFill>
                  <a:gsLst>
                    <a:gs pos="0">
                      <a:srgbClr val="8C52FF">
                        <a:alpha val="100000"/>
                      </a:srgbClr>
                    </a:gs>
                    <a:gs pos="100000">
                      <a:srgbClr val="00BF63">
                        <a:alpha val="100000"/>
                      </a:srgbClr>
                    </a:gs>
                  </a:gsLst>
                  <a:lin ang="0"/>
                </a:gradFill>
                <a:latin typeface="Proxima Nova Bold"/>
                <a:ea typeface="Proxima Nova Bold"/>
                <a:cs typeface="Proxima Nova Bold"/>
                <a:sym typeface="Proxima Nova Bold"/>
              </a:rPr>
              <a:t>Trần Tiến Phát (Content)</a:t>
            </a:r>
          </a:p>
        </p:txBody>
      </p:sp>
      <p:sp>
        <p:nvSpPr>
          <p:cNvPr id="10" name="TextBox 10"/>
          <p:cNvSpPr txBox="1"/>
          <p:nvPr/>
        </p:nvSpPr>
        <p:spPr>
          <a:xfrm>
            <a:off x="11430000" y="5191125"/>
            <a:ext cx="3714750" cy="666750"/>
          </a:xfrm>
          <a:prstGeom prst="rect">
            <a:avLst/>
          </a:prstGeom>
        </p:spPr>
        <p:txBody>
          <a:bodyPr lIns="0" tIns="0" rIns="0" bIns="0" rtlCol="0" anchor="t">
            <a:spAutoFit/>
          </a:bodyPr>
          <a:lstStyle/>
          <a:p>
            <a:pPr algn="l">
              <a:lnSpc>
                <a:spcPts val="5848"/>
              </a:lnSpc>
            </a:pPr>
            <a:r>
              <a:rPr lang="en-US" sz="4000" b="1" i="1">
                <a:gradFill>
                  <a:gsLst>
                    <a:gs pos="0">
                      <a:srgbClr val="FF5757">
                        <a:alpha val="100000"/>
                      </a:srgbClr>
                    </a:gs>
                    <a:gs pos="100000">
                      <a:srgbClr val="8C52FF">
                        <a:alpha val="100000"/>
                      </a:srgbClr>
                    </a:gs>
                  </a:gsLst>
                  <a:lin ang="0"/>
                </a:gradFill>
                <a:latin typeface="Proxima Nova Bold Italics"/>
                <a:ea typeface="Proxima Nova Bold Italics"/>
                <a:cs typeface="Proxima Nova Bold Italics"/>
                <a:sym typeface="Proxima Nova Bold Italics"/>
              </a:rPr>
              <a:t>TEAM</a:t>
            </a:r>
          </a:p>
        </p:txBody>
      </p:sp>
      <p:sp>
        <p:nvSpPr>
          <p:cNvPr id="11" name="TextBox 11"/>
          <p:cNvSpPr txBox="1"/>
          <p:nvPr/>
        </p:nvSpPr>
        <p:spPr>
          <a:xfrm>
            <a:off x="10477500" y="8572500"/>
            <a:ext cx="7239000" cy="619125"/>
          </a:xfrm>
          <a:prstGeom prst="rect">
            <a:avLst/>
          </a:prstGeom>
        </p:spPr>
        <p:txBody>
          <a:bodyPr lIns="0" tIns="0" rIns="0" bIns="0" rtlCol="0" anchor="t">
            <a:spAutoFit/>
          </a:bodyPr>
          <a:lstStyle/>
          <a:p>
            <a:pPr algn="l">
              <a:lnSpc>
                <a:spcPts val="3790"/>
              </a:lnSpc>
            </a:pPr>
            <a:r>
              <a:rPr lang="en-US" sz="2500" b="1">
                <a:gradFill>
                  <a:gsLst>
                    <a:gs pos="0">
                      <a:srgbClr val="8C52FF">
                        <a:alpha val="100000"/>
                      </a:srgbClr>
                    </a:gs>
                    <a:gs pos="100000">
                      <a:srgbClr val="00BF63">
                        <a:alpha val="100000"/>
                      </a:srgbClr>
                    </a:gs>
                  </a:gsLst>
                  <a:lin ang="0"/>
                </a:gradFill>
                <a:latin typeface="Proxima Nova Bold"/>
                <a:ea typeface="Proxima Nova Bold"/>
                <a:cs typeface="Proxima Nova Bold"/>
                <a:sym typeface="Proxima Nova Bold"/>
              </a:rPr>
              <a:t>Nguyễn Khải Hoàn Ca (Content)</a:t>
            </a:r>
          </a:p>
        </p:txBody>
      </p:sp>
      <p:sp>
        <p:nvSpPr>
          <p:cNvPr id="12" name="TextBox 12"/>
          <p:cNvSpPr txBox="1"/>
          <p:nvPr/>
        </p:nvSpPr>
        <p:spPr>
          <a:xfrm>
            <a:off x="10477500" y="6286500"/>
            <a:ext cx="7239000" cy="619125"/>
          </a:xfrm>
          <a:prstGeom prst="rect">
            <a:avLst/>
          </a:prstGeom>
        </p:spPr>
        <p:txBody>
          <a:bodyPr lIns="0" tIns="0" rIns="0" bIns="0" rtlCol="0" anchor="t">
            <a:spAutoFit/>
          </a:bodyPr>
          <a:lstStyle/>
          <a:p>
            <a:pPr algn="l">
              <a:lnSpc>
                <a:spcPts val="3790"/>
              </a:lnSpc>
            </a:pPr>
            <a:r>
              <a:rPr lang="en-US" sz="2500" b="1">
                <a:gradFill>
                  <a:gsLst>
                    <a:gs pos="0">
                      <a:srgbClr val="8C52FF">
                        <a:alpha val="100000"/>
                      </a:srgbClr>
                    </a:gs>
                    <a:gs pos="100000">
                      <a:srgbClr val="00BF63">
                        <a:alpha val="100000"/>
                      </a:srgbClr>
                    </a:gs>
                  </a:gsLst>
                  <a:lin ang="0"/>
                </a:gradFill>
                <a:latin typeface="Proxima Nova Bold"/>
                <a:ea typeface="Proxima Nova Bold"/>
                <a:cs typeface="Proxima Nova Bold"/>
                <a:sym typeface="Proxima Nova Bold"/>
              </a:rPr>
              <a:t>Nguyễn Tấn Đại (Team leader)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p:cNvGrpSpPr/>
        <p:nvPr/>
      </p:nvGrpSpPr>
      <p:grpSpPr>
        <a:xfrm>
          <a:off x="0" y="0"/>
          <a:ext cx="0" cy="0"/>
          <a:chOff x="0" y="0"/>
          <a:chExt cx="0" cy="0"/>
        </a:xfrm>
      </p:grpSpPr>
      <p:sp>
        <p:nvSpPr>
          <p:cNvPr id="2" name="TextBox 2"/>
          <p:cNvSpPr txBox="1"/>
          <p:nvPr/>
        </p:nvSpPr>
        <p:spPr>
          <a:xfrm>
            <a:off x="1544980" y="441960"/>
            <a:ext cx="15165735" cy="1192530"/>
          </a:xfrm>
          <a:prstGeom prst="rect">
            <a:avLst/>
          </a:prstGeom>
        </p:spPr>
        <p:txBody>
          <a:bodyPr lIns="0" tIns="0" rIns="0" bIns="0" rtlCol="0" anchor="t">
            <a:spAutoFit/>
          </a:bodyPr>
          <a:lstStyle/>
          <a:p>
            <a:pPr algn="ctr">
              <a:lnSpc>
                <a:spcPts val="9360"/>
              </a:lnSpc>
            </a:pPr>
            <a:r>
              <a:rPr lang="en-US" sz="8000" b="1">
                <a:gradFill>
                  <a:gsLst>
                    <a:gs pos="0">
                      <a:srgbClr val="FF3131">
                        <a:alpha val="100000"/>
                      </a:srgbClr>
                    </a:gs>
                    <a:gs pos="100000">
                      <a:srgbClr val="FF914D">
                        <a:alpha val="100000"/>
                      </a:srgbClr>
                    </a:gs>
                  </a:gsLst>
                  <a:lin ang="0"/>
                </a:gradFill>
                <a:latin typeface="Proxima Nova Heavy"/>
                <a:ea typeface="Proxima Nova Heavy"/>
                <a:cs typeface="Proxima Nova Heavy"/>
                <a:sym typeface="Proxima Nova Heavy"/>
              </a:rPr>
              <a:t>AGENDA</a:t>
            </a:r>
          </a:p>
        </p:txBody>
      </p:sp>
      <p:sp>
        <p:nvSpPr>
          <p:cNvPr id="3" name="TextBox 3"/>
          <p:cNvSpPr txBox="1"/>
          <p:nvPr/>
        </p:nvSpPr>
        <p:spPr>
          <a:xfrm>
            <a:off x="1028700" y="3226965"/>
            <a:ext cx="5783013" cy="860362"/>
          </a:xfrm>
          <a:prstGeom prst="rect">
            <a:avLst/>
          </a:prstGeom>
        </p:spPr>
        <p:txBody>
          <a:bodyPr lIns="0" tIns="0" rIns="0" bIns="0" rtlCol="0" anchor="t">
            <a:spAutoFit/>
          </a:bodyPr>
          <a:lstStyle/>
          <a:p>
            <a:pPr algn="l">
              <a:lnSpc>
                <a:spcPts val="6805"/>
              </a:lnSpc>
              <a:spcBef>
                <a:spcPct val="0"/>
              </a:spcBef>
            </a:pPr>
            <a:r>
              <a:rPr lang="en-US" sz="5816">
                <a:gradFill>
                  <a:gsLst>
                    <a:gs pos="0">
                      <a:srgbClr val="FF5757">
                        <a:alpha val="100000"/>
                      </a:srgbClr>
                    </a:gs>
                    <a:gs pos="100000">
                      <a:srgbClr val="8C52FF">
                        <a:alpha val="100000"/>
                      </a:srgbClr>
                    </a:gs>
                  </a:gsLst>
                  <a:lin ang="0"/>
                </a:gradFill>
                <a:latin typeface="Calistoga"/>
                <a:ea typeface="Calistoga"/>
                <a:cs typeface="Calistoga"/>
                <a:sym typeface="Calistoga"/>
              </a:rPr>
              <a:t>1. Introduction</a:t>
            </a:r>
          </a:p>
        </p:txBody>
      </p:sp>
      <p:sp>
        <p:nvSpPr>
          <p:cNvPr id="4" name="TextBox 4"/>
          <p:cNvSpPr txBox="1"/>
          <p:nvPr/>
        </p:nvSpPr>
        <p:spPr>
          <a:xfrm>
            <a:off x="1028700" y="5478764"/>
            <a:ext cx="4686299" cy="872034"/>
          </a:xfrm>
          <a:prstGeom prst="rect">
            <a:avLst/>
          </a:prstGeom>
        </p:spPr>
        <p:txBody>
          <a:bodyPr wrap="square" lIns="0" tIns="0" rIns="0" bIns="0" rtlCol="0" anchor="t">
            <a:spAutoFit/>
          </a:bodyPr>
          <a:lstStyle/>
          <a:p>
            <a:pPr algn="l">
              <a:lnSpc>
                <a:spcPts val="6805"/>
              </a:lnSpc>
              <a:spcBef>
                <a:spcPct val="0"/>
              </a:spcBef>
            </a:pPr>
            <a:r>
              <a:rPr lang="en-US" sz="5816" dirty="0">
                <a:gradFill>
                  <a:gsLst>
                    <a:gs pos="0">
                      <a:srgbClr val="FF5757">
                        <a:alpha val="100000"/>
                      </a:srgbClr>
                    </a:gs>
                    <a:gs pos="100000">
                      <a:srgbClr val="8C52FF">
                        <a:alpha val="100000"/>
                      </a:srgbClr>
                    </a:gs>
                  </a:gsLst>
                  <a:lin ang="0"/>
                </a:gradFill>
                <a:latin typeface="Calistoga"/>
                <a:ea typeface="Calistoga"/>
                <a:cs typeface="Calistoga"/>
                <a:sym typeface="Calistoga"/>
              </a:rPr>
              <a:t>2. Data</a:t>
            </a:r>
          </a:p>
        </p:txBody>
      </p:sp>
      <p:sp>
        <p:nvSpPr>
          <p:cNvPr id="5" name="TextBox 5"/>
          <p:cNvSpPr txBox="1"/>
          <p:nvPr/>
        </p:nvSpPr>
        <p:spPr>
          <a:xfrm>
            <a:off x="1028700" y="7945413"/>
            <a:ext cx="8877300" cy="872034"/>
          </a:xfrm>
          <a:prstGeom prst="rect">
            <a:avLst/>
          </a:prstGeom>
        </p:spPr>
        <p:txBody>
          <a:bodyPr wrap="square" lIns="0" tIns="0" rIns="0" bIns="0" rtlCol="0" anchor="t">
            <a:spAutoFit/>
          </a:bodyPr>
          <a:lstStyle/>
          <a:p>
            <a:pPr algn="l">
              <a:lnSpc>
                <a:spcPts val="6805"/>
              </a:lnSpc>
              <a:spcBef>
                <a:spcPct val="0"/>
              </a:spcBef>
            </a:pPr>
            <a:r>
              <a:rPr lang="en-US" sz="5816" dirty="0">
                <a:gradFill>
                  <a:gsLst>
                    <a:gs pos="0">
                      <a:srgbClr val="FF5757">
                        <a:alpha val="100000"/>
                      </a:srgbClr>
                    </a:gs>
                    <a:gs pos="100000">
                      <a:srgbClr val="8C52FF">
                        <a:alpha val="100000"/>
                      </a:srgbClr>
                    </a:gs>
                  </a:gsLst>
                  <a:lin ang="0"/>
                </a:gradFill>
                <a:latin typeface="Calistoga"/>
                <a:ea typeface="Calistoga"/>
                <a:cs typeface="Calistoga"/>
                <a:sym typeface="Calistoga"/>
              </a:rPr>
              <a:t>3. Data Preprocessing</a:t>
            </a:r>
          </a:p>
        </p:txBody>
      </p:sp>
      <p:sp>
        <p:nvSpPr>
          <p:cNvPr id="6" name="TextBox 6"/>
          <p:cNvSpPr txBox="1"/>
          <p:nvPr/>
        </p:nvSpPr>
        <p:spPr>
          <a:xfrm>
            <a:off x="9763125" y="5381625"/>
            <a:ext cx="7715250" cy="952500"/>
          </a:xfrm>
          <a:prstGeom prst="rect">
            <a:avLst/>
          </a:prstGeom>
        </p:spPr>
        <p:txBody>
          <a:bodyPr wrap="square" lIns="0" tIns="0" rIns="0" bIns="0" rtlCol="0" anchor="t">
            <a:spAutoFit/>
          </a:bodyPr>
          <a:lstStyle/>
          <a:p>
            <a:pPr algn="l">
              <a:lnSpc>
                <a:spcPts val="6805"/>
              </a:lnSpc>
              <a:spcBef>
                <a:spcPct val="0"/>
              </a:spcBef>
            </a:pPr>
            <a:r>
              <a:rPr lang="en-US" sz="4600" dirty="0">
                <a:gradFill>
                  <a:gsLst>
                    <a:gs pos="0">
                      <a:srgbClr val="FF5757">
                        <a:alpha val="100000"/>
                      </a:srgbClr>
                    </a:gs>
                    <a:gs pos="100000">
                      <a:srgbClr val="8C52FF">
                        <a:alpha val="100000"/>
                      </a:srgbClr>
                    </a:gs>
                  </a:gsLst>
                  <a:lin ang="0"/>
                </a:gradFill>
                <a:latin typeface="Calistoga"/>
                <a:ea typeface="Calistoga"/>
                <a:cs typeface="Calistoga"/>
                <a:sym typeface="Calistoga"/>
              </a:rPr>
              <a:t>5. Proposed Methods</a:t>
            </a:r>
          </a:p>
        </p:txBody>
      </p:sp>
      <p:sp>
        <p:nvSpPr>
          <p:cNvPr id="7" name="TextBox 7"/>
          <p:cNvSpPr txBox="1"/>
          <p:nvPr/>
        </p:nvSpPr>
        <p:spPr>
          <a:xfrm>
            <a:off x="9763125" y="7810500"/>
            <a:ext cx="7715250" cy="952500"/>
          </a:xfrm>
          <a:prstGeom prst="rect">
            <a:avLst/>
          </a:prstGeom>
        </p:spPr>
        <p:txBody>
          <a:bodyPr wrap="square" lIns="0" tIns="0" rIns="0" bIns="0" rtlCol="0" anchor="t">
            <a:spAutoFit/>
          </a:bodyPr>
          <a:lstStyle/>
          <a:p>
            <a:pPr algn="l">
              <a:lnSpc>
                <a:spcPts val="6805"/>
              </a:lnSpc>
              <a:spcBef>
                <a:spcPct val="0"/>
              </a:spcBef>
            </a:pPr>
            <a:r>
              <a:rPr lang="en-US" sz="4600" dirty="0">
                <a:gradFill>
                  <a:gsLst>
                    <a:gs pos="0">
                      <a:srgbClr val="FF5757">
                        <a:alpha val="100000"/>
                      </a:srgbClr>
                    </a:gs>
                    <a:gs pos="100000">
                      <a:srgbClr val="8C52FF">
                        <a:alpha val="100000"/>
                      </a:srgbClr>
                    </a:gs>
                  </a:gsLst>
                  <a:lin ang="0"/>
                </a:gradFill>
                <a:latin typeface="Calistoga"/>
                <a:ea typeface="Calistoga"/>
                <a:cs typeface="Calistoga"/>
                <a:sym typeface="Calistoga"/>
              </a:rPr>
              <a:t>6. Conclusion</a:t>
            </a:r>
          </a:p>
        </p:txBody>
      </p:sp>
      <p:sp>
        <p:nvSpPr>
          <p:cNvPr id="8" name="AutoShape 8"/>
          <p:cNvSpPr/>
          <p:nvPr/>
        </p:nvSpPr>
        <p:spPr>
          <a:xfrm flipV="1">
            <a:off x="1028700" y="4736838"/>
            <a:ext cx="15337155" cy="0"/>
          </a:xfrm>
          <a:prstGeom prst="line">
            <a:avLst/>
          </a:prstGeom>
          <a:ln w="38100" cap="flat">
            <a:gradFill>
              <a:gsLst>
                <a:gs pos="0">
                  <a:srgbClr val="8C52FF">
                    <a:alpha val="100000"/>
                  </a:srgbClr>
                </a:gs>
                <a:gs pos="100000">
                  <a:srgbClr val="5CE1E6">
                    <a:alpha val="100000"/>
                  </a:srgbClr>
                </a:gs>
              </a:gsLst>
              <a:lin ang="0"/>
            </a:gradFill>
            <a:prstDash val="lgDash"/>
            <a:headEnd type="none" w="sm" len="sm"/>
            <a:tailEnd type="none" w="sm" len="sm"/>
          </a:ln>
        </p:spPr>
      </p:sp>
      <p:sp>
        <p:nvSpPr>
          <p:cNvPr id="9" name="AutoShape 9"/>
          <p:cNvSpPr/>
          <p:nvPr/>
        </p:nvSpPr>
        <p:spPr>
          <a:xfrm flipV="1">
            <a:off x="1028700" y="7062002"/>
            <a:ext cx="15304851" cy="0"/>
          </a:xfrm>
          <a:prstGeom prst="line">
            <a:avLst/>
          </a:prstGeom>
          <a:ln w="38100" cap="flat">
            <a:gradFill>
              <a:gsLst>
                <a:gs pos="0">
                  <a:srgbClr val="8C52FF">
                    <a:alpha val="100000"/>
                  </a:srgbClr>
                </a:gs>
                <a:gs pos="100000">
                  <a:srgbClr val="5CE1E6">
                    <a:alpha val="100000"/>
                  </a:srgbClr>
                </a:gs>
              </a:gsLst>
              <a:lin ang="0"/>
            </a:gradFill>
            <a:prstDash val="lgDash"/>
            <a:headEnd type="none" w="sm" len="sm"/>
            <a:tailEnd type="none" w="sm" len="sm"/>
          </a:ln>
        </p:spPr>
      </p:sp>
      <p:sp>
        <p:nvSpPr>
          <p:cNvPr id="10" name="AutoShape 10"/>
          <p:cNvSpPr/>
          <p:nvPr/>
        </p:nvSpPr>
        <p:spPr>
          <a:xfrm>
            <a:off x="8595285" y="2889622"/>
            <a:ext cx="0" cy="6497545"/>
          </a:xfrm>
          <a:prstGeom prst="line">
            <a:avLst/>
          </a:prstGeom>
          <a:ln w="38100" cap="flat">
            <a:gradFill>
              <a:gsLst>
                <a:gs pos="0">
                  <a:srgbClr val="8C52FF">
                    <a:alpha val="100000"/>
                  </a:srgbClr>
                </a:gs>
                <a:gs pos="100000">
                  <a:srgbClr val="5CE1E6">
                    <a:alpha val="100000"/>
                  </a:srgbClr>
                </a:gs>
              </a:gsLst>
              <a:lin ang="0"/>
            </a:gradFill>
            <a:prstDash val="lgDash"/>
            <a:headEnd type="none" w="sm" len="sm"/>
            <a:tailEnd type="none" w="sm" len="sm"/>
          </a:ln>
        </p:spPr>
      </p:sp>
      <p:sp>
        <p:nvSpPr>
          <p:cNvPr id="90" name="EDA agenda"/>
          <p:cNvSpPr txBox="1"/>
          <p:nvPr/>
        </p:nvSpPr>
        <p:spPr>
          <a:xfrm>
            <a:off x="9763125" y="3000375"/>
            <a:ext cx="7715250" cy="1333500"/>
          </a:xfrm>
          <a:prstGeom prst="rect">
            <a:avLst/>
          </a:prstGeom>
        </p:spPr>
        <p:txBody>
          <a:bodyPr wrap="square" lIns="0" tIns="0" rIns="0" bIns="0" rtlCol="0" anchor="t">
            <a:spAutoFit/>
          </a:bodyPr>
          <a:lstStyle/>
          <a:p>
            <a:pPr algn="l">
              <a:lnSpc>
                <a:spcPts val="6805"/>
              </a:lnSpc>
              <a:spcBef>
                <a:spcPct val="0"/>
              </a:spcBef>
            </a:pPr>
            <a:r>
              <a:rPr lang="en-US" sz="4000" dirty="0">
                <a:gradFill>
                  <a:gsLst>
                    <a:gs pos="0">
                      <a:srgbClr val="FF5757">
                        <a:alpha val="100000"/>
                      </a:srgbClr>
                    </a:gs>
                    <a:gs pos="100000">
                      <a:srgbClr val="8C52FF">
                        <a:alpha val="100000"/>
                      </a:srgbClr>
                    </a:gs>
                  </a:gsLst>
                  <a:lin ang="0"/>
                </a:gradFill>
                <a:latin typeface="Calistoga"/>
                <a:ea typeface="Calistoga"/>
                <a:cs typeface="Calistoga"/>
                <a:sym typeface="Calistoga"/>
              </a:rPr>
              <a:t>4. Exploratory Data Analysis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p:cNvGrpSpPr/>
        <p:nvPr/>
      </p:nvGrpSpPr>
      <p:grpSpPr>
        <a:xfrm>
          <a:off x="0" y="0"/>
          <a:ext cx="0" cy="0"/>
          <a:chOff x="0" y="0"/>
          <a:chExt cx="0" cy="0"/>
        </a:xfrm>
      </p:grpSpPr>
      <p:sp>
        <p:nvSpPr>
          <p:cNvPr id="2" name="Freeform 2"/>
          <p:cNvSpPr/>
          <p:nvPr/>
        </p:nvSpPr>
        <p:spPr>
          <a:xfrm>
            <a:off x="891563" y="7368258"/>
            <a:ext cx="16504874" cy="2918742"/>
          </a:xfrm>
          <a:custGeom>
            <a:avLst/>
            <a:gdLst/>
            <a:ahLst/>
            <a:cxnLst/>
            <a:rect l="l" t="t" r="r" b="b"/>
            <a:pathLst>
              <a:path w="16504874" h="2918742">
                <a:moveTo>
                  <a:pt x="0" y="0"/>
                </a:moveTo>
                <a:lnTo>
                  <a:pt x="16504874" y="0"/>
                </a:lnTo>
                <a:lnTo>
                  <a:pt x="16504874" y="2918742"/>
                </a:lnTo>
                <a:lnTo>
                  <a:pt x="0" y="2918742"/>
                </a:lnTo>
                <a:lnTo>
                  <a:pt x="0" y="0"/>
                </a:lnTo>
                <a:close/>
              </a:path>
            </a:pathLst>
          </a:custGeom>
          <a:blipFill>
            <a:blip r:embed="rId2"/>
            <a:stretch>
              <a:fillRect t="-44" b="-44"/>
            </a:stretch>
          </a:blipFill>
        </p:spPr>
      </p:sp>
      <p:grpSp>
        <p:nvGrpSpPr>
          <p:cNvPr id="3" name="Group 3"/>
          <p:cNvGrpSpPr/>
          <p:nvPr/>
        </p:nvGrpSpPr>
        <p:grpSpPr>
          <a:xfrm>
            <a:off x="3591081" y="2379064"/>
            <a:ext cx="1728550" cy="1225775"/>
            <a:chOff x="0" y="0"/>
            <a:chExt cx="812800" cy="576385"/>
          </a:xfrm>
        </p:grpSpPr>
        <p:sp>
          <p:nvSpPr>
            <p:cNvPr id="4" name="Freeform 4"/>
            <p:cNvSpPr/>
            <p:nvPr/>
          </p:nvSpPr>
          <p:spPr>
            <a:xfrm>
              <a:off x="0" y="0"/>
              <a:ext cx="812800" cy="576385"/>
            </a:xfrm>
            <a:custGeom>
              <a:avLst/>
              <a:gdLst/>
              <a:ahLst/>
              <a:cxnLst/>
              <a:rect l="l" t="t" r="r" b="b"/>
              <a:pathLst>
                <a:path w="812800" h="576385">
                  <a:moveTo>
                    <a:pt x="530371" y="0"/>
                  </a:moveTo>
                  <a:lnTo>
                    <a:pt x="282407" y="0"/>
                  </a:lnTo>
                  <a:cubicBezTo>
                    <a:pt x="126426" y="0"/>
                    <a:pt x="0" y="100099"/>
                    <a:pt x="0" y="223577"/>
                  </a:cubicBezTo>
                  <a:cubicBezTo>
                    <a:pt x="0" y="312967"/>
                    <a:pt x="66279" y="390073"/>
                    <a:pt x="162037" y="425847"/>
                  </a:cubicBezTo>
                  <a:lnTo>
                    <a:pt x="162037" y="576385"/>
                  </a:lnTo>
                  <a:lnTo>
                    <a:pt x="353844" y="447146"/>
                  </a:lnTo>
                  <a:lnTo>
                    <a:pt x="530371" y="447146"/>
                  </a:lnTo>
                  <a:cubicBezTo>
                    <a:pt x="686363" y="447146"/>
                    <a:pt x="812800" y="347047"/>
                    <a:pt x="812800" y="223568"/>
                  </a:cubicBezTo>
                  <a:cubicBezTo>
                    <a:pt x="812811" y="100099"/>
                    <a:pt x="686363" y="0"/>
                    <a:pt x="530371" y="0"/>
                  </a:cubicBezTo>
                  <a:close/>
                </a:path>
              </a:pathLst>
            </a:custGeom>
            <a:solidFill>
              <a:srgbClr val="9EF1FF"/>
            </a:solidFill>
          </p:spPr>
        </p:sp>
        <p:sp>
          <p:nvSpPr>
            <p:cNvPr id="5" name="TextBox 5"/>
            <p:cNvSpPr txBox="1"/>
            <p:nvPr/>
          </p:nvSpPr>
          <p:spPr>
            <a:xfrm>
              <a:off x="0" y="30878"/>
              <a:ext cx="812800" cy="391118"/>
            </a:xfrm>
            <a:prstGeom prst="rect">
              <a:avLst/>
            </a:prstGeom>
          </p:spPr>
          <p:txBody>
            <a:bodyPr lIns="50800" tIns="50800" rIns="50800" bIns="50800" rtlCol="0" anchor="ctr"/>
            <a:lstStyle/>
            <a:p>
              <a:pPr algn="ctr">
                <a:lnSpc>
                  <a:spcPts val="2219"/>
                </a:lnSpc>
              </a:pPr>
              <a:r>
                <a:rPr lang="en-US" sz="1896" b="1" i="1">
                  <a:gradFill>
                    <a:gsLst>
                      <a:gs pos="0">
                        <a:srgbClr val="FF3131">
                          <a:alpha val="100000"/>
                        </a:srgbClr>
                      </a:gs>
                      <a:gs pos="100000">
                        <a:srgbClr val="FF914D">
                          <a:alpha val="100000"/>
                        </a:srgbClr>
                      </a:gs>
                    </a:gsLst>
                    <a:lin ang="0"/>
                  </a:gradFill>
                  <a:latin typeface="Proxima Nova Bold Italics"/>
                  <a:ea typeface="Proxima Nova Bold Italics"/>
                  <a:cs typeface="Proxima Nova Bold Italics"/>
                  <a:sym typeface="Proxima Nova Bold Italics"/>
                </a:rPr>
                <a:t>Describing a dream home</a:t>
              </a:r>
            </a:p>
          </p:txBody>
        </p:sp>
      </p:grpSp>
      <p:sp>
        <p:nvSpPr>
          <p:cNvPr id="6" name="Freeform 6"/>
          <p:cNvSpPr/>
          <p:nvPr/>
        </p:nvSpPr>
        <p:spPr>
          <a:xfrm>
            <a:off x="5319630" y="2606759"/>
            <a:ext cx="699196" cy="385193"/>
          </a:xfrm>
          <a:custGeom>
            <a:avLst/>
            <a:gdLst/>
            <a:ahLst/>
            <a:cxnLst/>
            <a:rect l="l" t="t" r="r" b="b"/>
            <a:pathLst>
              <a:path w="699196" h="385193">
                <a:moveTo>
                  <a:pt x="0" y="0"/>
                </a:moveTo>
                <a:lnTo>
                  <a:pt x="699196" y="0"/>
                </a:lnTo>
                <a:lnTo>
                  <a:pt x="699196" y="385193"/>
                </a:lnTo>
                <a:lnTo>
                  <a:pt x="0" y="385193"/>
                </a:lnTo>
                <a:lnTo>
                  <a:pt x="0" y="0"/>
                </a:lnTo>
                <a:close/>
              </a:path>
            </a:pathLst>
          </a:custGeom>
          <a:blipFill>
            <a:blip r:embed="rId3"/>
            <a:stretch>
              <a:fillRect/>
            </a:stretch>
          </a:blipFill>
        </p:spPr>
      </p:sp>
      <p:grpSp>
        <p:nvGrpSpPr>
          <p:cNvPr id="7" name="Group 7"/>
          <p:cNvGrpSpPr/>
          <p:nvPr/>
        </p:nvGrpSpPr>
        <p:grpSpPr>
          <a:xfrm>
            <a:off x="6018826" y="2379064"/>
            <a:ext cx="2970431" cy="890850"/>
            <a:chOff x="0" y="0"/>
            <a:chExt cx="782336" cy="234627"/>
          </a:xfrm>
        </p:grpSpPr>
        <p:sp>
          <p:nvSpPr>
            <p:cNvPr id="8" name="Freeform 8"/>
            <p:cNvSpPr/>
            <p:nvPr/>
          </p:nvSpPr>
          <p:spPr>
            <a:xfrm>
              <a:off x="0" y="0"/>
              <a:ext cx="782336" cy="234627"/>
            </a:xfrm>
            <a:custGeom>
              <a:avLst/>
              <a:gdLst/>
              <a:ahLst/>
              <a:cxnLst/>
              <a:rect l="l" t="t" r="r" b="b"/>
              <a:pathLst>
                <a:path w="782336" h="234627">
                  <a:moveTo>
                    <a:pt x="44308" y="0"/>
                  </a:moveTo>
                  <a:lnTo>
                    <a:pt x="738028" y="0"/>
                  </a:lnTo>
                  <a:cubicBezTo>
                    <a:pt x="749779" y="0"/>
                    <a:pt x="761049" y="4668"/>
                    <a:pt x="769358" y="12977"/>
                  </a:cubicBezTo>
                  <a:cubicBezTo>
                    <a:pt x="777668" y="21287"/>
                    <a:pt x="782336" y="32556"/>
                    <a:pt x="782336" y="44308"/>
                  </a:cubicBezTo>
                  <a:lnTo>
                    <a:pt x="782336" y="190320"/>
                  </a:lnTo>
                  <a:cubicBezTo>
                    <a:pt x="782336" y="202071"/>
                    <a:pt x="777668" y="213341"/>
                    <a:pt x="769358" y="221650"/>
                  </a:cubicBezTo>
                  <a:cubicBezTo>
                    <a:pt x="761049" y="229959"/>
                    <a:pt x="749779" y="234627"/>
                    <a:pt x="738028" y="234627"/>
                  </a:cubicBezTo>
                  <a:lnTo>
                    <a:pt x="44308" y="234627"/>
                  </a:lnTo>
                  <a:cubicBezTo>
                    <a:pt x="32556" y="234627"/>
                    <a:pt x="21287" y="229959"/>
                    <a:pt x="12977" y="221650"/>
                  </a:cubicBezTo>
                  <a:cubicBezTo>
                    <a:pt x="4668" y="213341"/>
                    <a:pt x="0" y="202071"/>
                    <a:pt x="0" y="190320"/>
                  </a:cubicBezTo>
                  <a:lnTo>
                    <a:pt x="0" y="44308"/>
                  </a:lnTo>
                  <a:cubicBezTo>
                    <a:pt x="0" y="32556"/>
                    <a:pt x="4668" y="21287"/>
                    <a:pt x="12977" y="12977"/>
                  </a:cubicBezTo>
                  <a:cubicBezTo>
                    <a:pt x="21287" y="4668"/>
                    <a:pt x="32556" y="0"/>
                    <a:pt x="44308" y="0"/>
                  </a:cubicBezTo>
                  <a:close/>
                </a:path>
              </a:pathLst>
            </a:custGeom>
            <a:solidFill>
              <a:srgbClr val="EDCCF6"/>
            </a:solidFill>
          </p:spPr>
        </p:sp>
        <p:sp>
          <p:nvSpPr>
            <p:cNvPr id="9" name="TextBox 9"/>
            <p:cNvSpPr txBox="1"/>
            <p:nvPr/>
          </p:nvSpPr>
          <p:spPr>
            <a:xfrm>
              <a:off x="0" y="9525"/>
              <a:ext cx="782336" cy="225102"/>
            </a:xfrm>
            <a:prstGeom prst="rect">
              <a:avLst/>
            </a:prstGeom>
          </p:spPr>
          <p:txBody>
            <a:bodyPr lIns="50800" tIns="50800" rIns="50800" bIns="50800" rtlCol="0" anchor="ctr"/>
            <a:lstStyle/>
            <a:p>
              <a:pPr algn="ctr">
                <a:lnSpc>
                  <a:spcPts val="1985"/>
                </a:lnSpc>
              </a:pPr>
              <a:r>
                <a:rPr lang="en-US" sz="1696" b="1" i="1">
                  <a:solidFill>
                    <a:srgbClr val="000000"/>
                  </a:solidFill>
                  <a:latin typeface="Proxima Nova Bold Italics"/>
                  <a:ea typeface="Proxima Nova Bold Italics"/>
                  <a:cs typeface="Proxima Nova Bold Italics"/>
                  <a:sym typeface="Proxima Nova Bold Italics"/>
                </a:rPr>
                <a:t>79 explanatory variables</a:t>
              </a:r>
            </a:p>
          </p:txBody>
        </p:sp>
      </p:grpSp>
      <p:sp>
        <p:nvSpPr>
          <p:cNvPr id="10" name="Freeform 10"/>
          <p:cNvSpPr/>
          <p:nvPr/>
        </p:nvSpPr>
        <p:spPr>
          <a:xfrm>
            <a:off x="9176267" y="2631893"/>
            <a:ext cx="699196" cy="385193"/>
          </a:xfrm>
          <a:custGeom>
            <a:avLst/>
            <a:gdLst/>
            <a:ahLst/>
            <a:cxnLst/>
            <a:rect l="l" t="t" r="r" b="b"/>
            <a:pathLst>
              <a:path w="699196" h="385193">
                <a:moveTo>
                  <a:pt x="0" y="0"/>
                </a:moveTo>
                <a:lnTo>
                  <a:pt x="699196" y="0"/>
                </a:lnTo>
                <a:lnTo>
                  <a:pt x="699196" y="385193"/>
                </a:lnTo>
                <a:lnTo>
                  <a:pt x="0" y="385193"/>
                </a:lnTo>
                <a:lnTo>
                  <a:pt x="0" y="0"/>
                </a:lnTo>
                <a:close/>
              </a:path>
            </a:pathLst>
          </a:custGeom>
          <a:blipFill>
            <a:blip r:embed="rId3"/>
            <a:stretch>
              <a:fillRect/>
            </a:stretch>
          </a:blipFill>
        </p:spPr>
      </p:sp>
      <p:pic>
        <p:nvPicPr>
          <p:cNvPr id="11" name="Picture 11"/>
          <p:cNvPicPr>
            <a:picLocks noChangeAspect="1"/>
          </p:cNvPicPr>
          <p:nvPr/>
        </p:nvPicPr>
        <p:blipFill>
          <a:blip r:embed="rId4"/>
          <a:stretch>
            <a:fillRect/>
          </a:stretch>
        </p:blipFill>
        <p:spPr>
          <a:xfrm rot="5400000">
            <a:off x="9902632" y="1860421"/>
            <a:ext cx="1677840" cy="1542943"/>
          </a:xfrm>
          <a:prstGeom prst="rect">
            <a:avLst/>
          </a:prstGeom>
        </p:spPr>
      </p:pic>
      <p:sp>
        <p:nvSpPr>
          <p:cNvPr id="12" name="Freeform 12"/>
          <p:cNvSpPr/>
          <p:nvPr/>
        </p:nvSpPr>
        <p:spPr>
          <a:xfrm>
            <a:off x="11744871" y="2631893"/>
            <a:ext cx="699196" cy="385193"/>
          </a:xfrm>
          <a:custGeom>
            <a:avLst/>
            <a:gdLst/>
            <a:ahLst/>
            <a:cxnLst/>
            <a:rect l="l" t="t" r="r" b="b"/>
            <a:pathLst>
              <a:path w="699196" h="385193">
                <a:moveTo>
                  <a:pt x="0" y="0"/>
                </a:moveTo>
                <a:lnTo>
                  <a:pt x="699195" y="0"/>
                </a:lnTo>
                <a:lnTo>
                  <a:pt x="699195" y="385193"/>
                </a:lnTo>
                <a:lnTo>
                  <a:pt x="0" y="385193"/>
                </a:lnTo>
                <a:lnTo>
                  <a:pt x="0" y="0"/>
                </a:lnTo>
                <a:close/>
              </a:path>
            </a:pathLst>
          </a:custGeom>
          <a:blipFill>
            <a:blip r:embed="rId3"/>
            <a:stretch>
              <a:fillRect/>
            </a:stretch>
          </a:blipFill>
        </p:spPr>
      </p:sp>
      <p:grpSp>
        <p:nvGrpSpPr>
          <p:cNvPr id="13" name="Group 13"/>
          <p:cNvGrpSpPr/>
          <p:nvPr/>
        </p:nvGrpSpPr>
        <p:grpSpPr>
          <a:xfrm>
            <a:off x="12634566" y="2432940"/>
            <a:ext cx="2919022" cy="898053"/>
            <a:chOff x="0" y="0"/>
            <a:chExt cx="768796" cy="236524"/>
          </a:xfrm>
        </p:grpSpPr>
        <p:sp>
          <p:nvSpPr>
            <p:cNvPr id="14" name="Freeform 14"/>
            <p:cNvSpPr/>
            <p:nvPr/>
          </p:nvSpPr>
          <p:spPr>
            <a:xfrm>
              <a:off x="0" y="0"/>
              <a:ext cx="768796" cy="236524"/>
            </a:xfrm>
            <a:custGeom>
              <a:avLst/>
              <a:gdLst/>
              <a:ahLst/>
              <a:cxnLst/>
              <a:rect l="l" t="t" r="r" b="b"/>
              <a:pathLst>
                <a:path w="768796" h="236524">
                  <a:moveTo>
                    <a:pt x="45088" y="0"/>
                  </a:moveTo>
                  <a:lnTo>
                    <a:pt x="723708" y="0"/>
                  </a:lnTo>
                  <a:cubicBezTo>
                    <a:pt x="735666" y="0"/>
                    <a:pt x="747134" y="4750"/>
                    <a:pt x="755590" y="13206"/>
                  </a:cubicBezTo>
                  <a:cubicBezTo>
                    <a:pt x="764046" y="21662"/>
                    <a:pt x="768796" y="33130"/>
                    <a:pt x="768796" y="45088"/>
                  </a:cubicBezTo>
                  <a:lnTo>
                    <a:pt x="768796" y="191436"/>
                  </a:lnTo>
                  <a:cubicBezTo>
                    <a:pt x="768796" y="203394"/>
                    <a:pt x="764046" y="214863"/>
                    <a:pt x="755590" y="223318"/>
                  </a:cubicBezTo>
                  <a:cubicBezTo>
                    <a:pt x="747134" y="231774"/>
                    <a:pt x="735666" y="236524"/>
                    <a:pt x="723708" y="236524"/>
                  </a:cubicBezTo>
                  <a:lnTo>
                    <a:pt x="45088" y="236524"/>
                  </a:lnTo>
                  <a:cubicBezTo>
                    <a:pt x="20187" y="236524"/>
                    <a:pt x="0" y="216338"/>
                    <a:pt x="0" y="191436"/>
                  </a:cubicBezTo>
                  <a:lnTo>
                    <a:pt x="0" y="45088"/>
                  </a:lnTo>
                  <a:cubicBezTo>
                    <a:pt x="0" y="33130"/>
                    <a:pt x="4750" y="21662"/>
                    <a:pt x="13206" y="13206"/>
                  </a:cubicBezTo>
                  <a:cubicBezTo>
                    <a:pt x="21662" y="4750"/>
                    <a:pt x="33130" y="0"/>
                    <a:pt x="45088" y="0"/>
                  </a:cubicBezTo>
                  <a:close/>
                </a:path>
              </a:pathLst>
            </a:custGeom>
            <a:solidFill>
              <a:srgbClr val="F8E7AE"/>
            </a:solidFill>
          </p:spPr>
        </p:sp>
        <p:sp>
          <p:nvSpPr>
            <p:cNvPr id="15" name="TextBox 15"/>
            <p:cNvSpPr txBox="1"/>
            <p:nvPr/>
          </p:nvSpPr>
          <p:spPr>
            <a:xfrm>
              <a:off x="0" y="9525"/>
              <a:ext cx="768796" cy="226999"/>
            </a:xfrm>
            <a:prstGeom prst="rect">
              <a:avLst/>
            </a:prstGeom>
          </p:spPr>
          <p:txBody>
            <a:bodyPr lIns="50800" tIns="50800" rIns="50800" bIns="50800" rtlCol="0" anchor="ctr"/>
            <a:lstStyle/>
            <a:p>
              <a:pPr algn="ctr">
                <a:lnSpc>
                  <a:spcPts val="2687"/>
                </a:lnSpc>
              </a:pPr>
              <a:r>
                <a:rPr lang="en-US" sz="2296" b="1" i="1">
                  <a:solidFill>
                    <a:srgbClr val="000000"/>
                  </a:solidFill>
                  <a:latin typeface="Proxima Nova Bold Italics"/>
                  <a:ea typeface="Proxima Nova Bold Italics"/>
                  <a:cs typeface="Proxima Nova Bold Italics"/>
                  <a:sym typeface="Proxima Nova Bold Italics"/>
                </a:rPr>
                <a:t>Predicted SalePrice</a:t>
              </a:r>
            </a:p>
          </p:txBody>
        </p:sp>
      </p:grpSp>
      <p:sp>
        <p:nvSpPr>
          <p:cNvPr id="16" name="Freeform 16"/>
          <p:cNvSpPr/>
          <p:nvPr/>
        </p:nvSpPr>
        <p:spPr>
          <a:xfrm>
            <a:off x="15223214" y="3054113"/>
            <a:ext cx="761184" cy="692678"/>
          </a:xfrm>
          <a:custGeom>
            <a:avLst/>
            <a:gdLst/>
            <a:ahLst/>
            <a:cxnLst/>
            <a:rect l="l" t="t" r="r" b="b"/>
            <a:pathLst>
              <a:path w="761184" h="692678">
                <a:moveTo>
                  <a:pt x="0" y="0"/>
                </a:moveTo>
                <a:lnTo>
                  <a:pt x="761184" y="0"/>
                </a:lnTo>
                <a:lnTo>
                  <a:pt x="761184" y="692677"/>
                </a:lnTo>
                <a:lnTo>
                  <a:pt x="0" y="69267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aphicFrame>
        <p:nvGraphicFramePr>
          <p:cNvPr id="17" name="Table 17"/>
          <p:cNvGraphicFramePr>
            <a:graphicFrameLocks noGrp="1"/>
          </p:cNvGraphicFramePr>
          <p:nvPr/>
        </p:nvGraphicFramePr>
        <p:xfrm>
          <a:off x="6243591" y="4042022"/>
          <a:ext cx="2174598" cy="2890759"/>
        </p:xfrm>
        <a:graphic>
          <a:graphicData uri="http://schemas.openxmlformats.org/drawingml/2006/table">
            <a:tbl>
              <a:tblPr/>
              <a:tblGrid>
                <a:gridCol w="2174598">
                  <a:extLst>
                    <a:ext uri="{9D8B030D-6E8A-4147-A177-3AD203B41FA5}">
                      <a16:colId xmlns:a16="http://schemas.microsoft.com/office/drawing/2014/main" val="20000"/>
                    </a:ext>
                  </a:extLst>
                </a:gridCol>
              </a:tblGrid>
              <a:tr h="770029">
                <a:tc>
                  <a:txBody>
                    <a:bodyPr/>
                    <a:lstStyle/>
                    <a:p>
                      <a:pPr algn="ctr">
                        <a:lnSpc>
                          <a:spcPts val="2164"/>
                        </a:lnSpc>
                        <a:defRPr/>
                      </a:pPr>
                      <a:r>
                        <a:rPr lang="en-US" sz="1545" b="1" i="1">
                          <a:solidFill>
                            <a:srgbClr val="000000"/>
                          </a:solidFill>
                          <a:latin typeface="Proxima Nova Bold Italics"/>
                          <a:ea typeface="Proxima Nova Bold Italics"/>
                          <a:cs typeface="Proxima Nova Bold Italics"/>
                          <a:sym typeface="Proxima Nova Bold Italics"/>
                        </a:rPr>
                        <a:t>79 variables </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120730">
                <a:tc>
                  <a:txBody>
                    <a:bodyPr/>
                    <a:lstStyle/>
                    <a:p>
                      <a:pPr algn="ctr">
                        <a:lnSpc>
                          <a:spcPts val="2164"/>
                        </a:lnSpc>
                        <a:defRPr/>
                      </a:pPr>
                      <a:r>
                        <a:rPr lang="en-US" sz="1545">
                          <a:solidFill>
                            <a:srgbClr val="000000"/>
                          </a:solidFill>
                          <a:latin typeface="Proxima Nova"/>
                          <a:ea typeface="Proxima Nova"/>
                          <a:cs typeface="Proxima Nova"/>
                          <a:sym typeface="Proxima Nova"/>
                        </a:rPr>
                        <a:t>OverallQual</a:t>
                      </a:r>
                      <a:endParaRPr lang="en-US" sz="1100"/>
                    </a:p>
                    <a:p>
                      <a:pPr algn="ctr">
                        <a:lnSpc>
                          <a:spcPts val="2164"/>
                        </a:lnSpc>
                      </a:pPr>
                      <a:r>
                        <a:rPr lang="en-US" sz="1545">
                          <a:solidFill>
                            <a:srgbClr val="000000"/>
                          </a:solidFill>
                          <a:latin typeface="Proxima Nova"/>
                          <a:ea typeface="Proxima Nova"/>
                          <a:cs typeface="Proxima Nova"/>
                          <a:sym typeface="Proxima Nova"/>
                        </a:rPr>
                        <a:t>GrLivArea</a:t>
                      </a:r>
                    </a:p>
                    <a:p>
                      <a:pPr algn="ctr">
                        <a:lnSpc>
                          <a:spcPts val="2164"/>
                        </a:lnSpc>
                      </a:pPr>
                      <a:r>
                        <a:rPr lang="en-US" sz="1545">
                          <a:solidFill>
                            <a:srgbClr val="000000"/>
                          </a:solidFill>
                          <a:latin typeface="Proxima Nova"/>
                          <a:ea typeface="Proxima Nova"/>
                          <a:cs typeface="Proxima Nova"/>
                          <a:sym typeface="Proxima Nova"/>
                        </a:rPr>
                        <a:t>YearBuilt</a:t>
                      </a:r>
                    </a:p>
                    <a:p>
                      <a:pPr algn="ctr">
                        <a:lnSpc>
                          <a:spcPts val="2164"/>
                        </a:lnSpc>
                      </a:pPr>
                      <a:r>
                        <a:rPr lang="en-US" sz="1545">
                          <a:solidFill>
                            <a:srgbClr val="000000"/>
                          </a:solidFill>
                          <a:latin typeface="Proxima Nova"/>
                          <a:ea typeface="Proxima Nova"/>
                          <a:cs typeface="Proxima Nova"/>
                          <a:sym typeface="Proxima Nova"/>
                        </a:rPr>
                        <a:t>GarageCars</a:t>
                      </a:r>
                    </a:p>
                    <a:p>
                      <a:pPr algn="ctr">
                        <a:lnSpc>
                          <a:spcPts val="2164"/>
                        </a:lnSpc>
                      </a:pPr>
                      <a:r>
                        <a:rPr lang="en-US" sz="1545">
                          <a:solidFill>
                            <a:srgbClr val="000000"/>
                          </a:solidFill>
                          <a:latin typeface="Proxima Nova"/>
                          <a:ea typeface="Proxima Nova"/>
                          <a:cs typeface="Proxima Nova"/>
                          <a:sym typeface="Proxima Nova"/>
                        </a:rPr>
                        <a:t>Neighborhood</a:t>
                      </a:r>
                    </a:p>
                    <a:p>
                      <a:pPr algn="ctr">
                        <a:lnSpc>
                          <a:spcPts val="2164"/>
                        </a:lnSpc>
                      </a:pPr>
                      <a:r>
                        <a:rPr lang="en-US" sz="1545">
                          <a:solidFill>
                            <a:srgbClr val="000000"/>
                          </a:solidFill>
                          <a:latin typeface="Proxima Nova"/>
                          <a:ea typeface="Proxima Nova"/>
                          <a:cs typeface="Proxima Nova"/>
                          <a:sym typeface="Proxima Nova"/>
                        </a:rPr>
                        <a:t>...  </a:t>
                      </a:r>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18" name="Table 18"/>
          <p:cNvGraphicFramePr>
            <a:graphicFrameLocks noGrp="1"/>
          </p:cNvGraphicFramePr>
          <p:nvPr/>
        </p:nvGraphicFramePr>
        <p:xfrm>
          <a:off x="12422134" y="4149281"/>
          <a:ext cx="3343887" cy="2646315"/>
        </p:xfrm>
        <a:graphic>
          <a:graphicData uri="http://schemas.openxmlformats.org/drawingml/2006/table">
            <a:tbl>
              <a:tblPr/>
              <a:tblGrid>
                <a:gridCol w="1359937">
                  <a:extLst>
                    <a:ext uri="{9D8B030D-6E8A-4147-A177-3AD203B41FA5}">
                      <a16:colId xmlns:a16="http://schemas.microsoft.com/office/drawing/2014/main" val="20000"/>
                    </a:ext>
                  </a:extLst>
                </a:gridCol>
                <a:gridCol w="1983950">
                  <a:extLst>
                    <a:ext uri="{9D8B030D-6E8A-4147-A177-3AD203B41FA5}">
                      <a16:colId xmlns:a16="http://schemas.microsoft.com/office/drawing/2014/main" val="20001"/>
                    </a:ext>
                  </a:extLst>
                </a:gridCol>
              </a:tblGrid>
              <a:tr h="439680">
                <a:tc>
                  <a:txBody>
                    <a:bodyPr/>
                    <a:lstStyle/>
                    <a:p>
                      <a:pPr algn="ctr">
                        <a:lnSpc>
                          <a:spcPts val="2164"/>
                        </a:lnSpc>
                        <a:defRPr/>
                      </a:pPr>
                      <a:r>
                        <a:rPr lang="en-US" sz="1545" b="1">
                          <a:solidFill>
                            <a:srgbClr val="000000"/>
                          </a:solidFill>
                          <a:latin typeface="Proxima Nova Bold"/>
                          <a:ea typeface="Proxima Nova Bold"/>
                          <a:cs typeface="Proxima Nova Bold"/>
                          <a:sym typeface="Proxima Nova Bold"/>
                        </a:rPr>
                        <a:t>Id</a:t>
                      </a:r>
                      <a:endParaRPr lang="en-US" sz="1100"/>
                    </a:p>
                  </a:txBody>
                  <a:tcPr marL="38100" marR="38100" marT="38100" marB="381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64"/>
                        </a:lnSpc>
                        <a:defRPr/>
                      </a:pPr>
                      <a:r>
                        <a:rPr lang="en-US" sz="1545" b="1">
                          <a:solidFill>
                            <a:srgbClr val="000000"/>
                          </a:solidFill>
                          <a:latin typeface="Proxima Nova Bold"/>
                          <a:ea typeface="Proxima Nova Bold"/>
                          <a:cs typeface="Proxima Nova Bold"/>
                          <a:sym typeface="Proxima Nova Bold"/>
                        </a:rPr>
                        <a:t>SalePrice</a:t>
                      </a:r>
                      <a:endParaRPr lang="en-US" sz="1100"/>
                    </a:p>
                  </a:txBody>
                  <a:tcPr marL="38100" marR="38100" marT="38100" marB="381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41327">
                <a:tc>
                  <a:txBody>
                    <a:bodyPr/>
                    <a:lstStyle/>
                    <a:p>
                      <a:pPr algn="ctr">
                        <a:lnSpc>
                          <a:spcPts val="2164"/>
                        </a:lnSpc>
                        <a:defRPr/>
                      </a:pPr>
                      <a:r>
                        <a:rPr lang="en-US" sz="1545">
                          <a:solidFill>
                            <a:srgbClr val="000000"/>
                          </a:solidFill>
                          <a:latin typeface="Proxima Nova"/>
                          <a:ea typeface="Proxima Nova"/>
                          <a:cs typeface="Proxima Nova"/>
                          <a:sym typeface="Proxima Nova"/>
                        </a:rPr>
                        <a:t>1461</a:t>
                      </a:r>
                      <a:endParaRPr lang="en-US" sz="1100"/>
                    </a:p>
                  </a:txBody>
                  <a:tcPr marL="38100" marR="38100" marT="38100" marB="381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64"/>
                        </a:lnSpc>
                        <a:defRPr/>
                      </a:pPr>
                      <a:r>
                        <a:rPr lang="en-US" sz="1545">
                          <a:solidFill>
                            <a:srgbClr val="000000"/>
                          </a:solidFill>
                          <a:latin typeface="Proxima Nova"/>
                          <a:ea typeface="Proxima Nova"/>
                          <a:cs typeface="Proxima Nova"/>
                          <a:sym typeface="Proxima Nova"/>
                        </a:rPr>
                        <a:t>169277.0524984</a:t>
                      </a:r>
                      <a:endParaRPr lang="en-US" sz="1100"/>
                    </a:p>
                  </a:txBody>
                  <a:tcPr marL="38100" marR="38100" marT="38100" marB="381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41327">
                <a:tc>
                  <a:txBody>
                    <a:bodyPr/>
                    <a:lstStyle/>
                    <a:p>
                      <a:pPr algn="ctr">
                        <a:lnSpc>
                          <a:spcPts val="2164"/>
                        </a:lnSpc>
                        <a:defRPr/>
                      </a:pPr>
                      <a:r>
                        <a:rPr lang="en-US" sz="1545">
                          <a:solidFill>
                            <a:srgbClr val="000000"/>
                          </a:solidFill>
                          <a:latin typeface="Proxima Nova"/>
                          <a:ea typeface="Proxima Nova"/>
                          <a:cs typeface="Proxima Nova"/>
                          <a:sym typeface="Proxima Nova"/>
                        </a:rPr>
                        <a:t>1462</a:t>
                      </a:r>
                      <a:endParaRPr lang="en-US" sz="1100"/>
                    </a:p>
                  </a:txBody>
                  <a:tcPr marL="38100" marR="38100" marT="38100" marB="381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64"/>
                        </a:lnSpc>
                        <a:defRPr/>
                      </a:pPr>
                      <a:r>
                        <a:rPr lang="en-US" sz="1545">
                          <a:solidFill>
                            <a:srgbClr val="000000"/>
                          </a:solidFill>
                          <a:latin typeface="Proxima Nova"/>
                          <a:ea typeface="Proxima Nova"/>
                          <a:cs typeface="Proxima Nova"/>
                          <a:sym typeface="Proxima Nova"/>
                        </a:rPr>
                        <a:t>187758.393988768</a:t>
                      </a:r>
                      <a:endParaRPr lang="en-US" sz="1100"/>
                    </a:p>
                  </a:txBody>
                  <a:tcPr marL="38100" marR="38100" marT="38100" marB="381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41327">
                <a:tc>
                  <a:txBody>
                    <a:bodyPr/>
                    <a:lstStyle/>
                    <a:p>
                      <a:pPr algn="ctr">
                        <a:lnSpc>
                          <a:spcPts val="2164"/>
                        </a:lnSpc>
                        <a:defRPr/>
                      </a:pPr>
                      <a:r>
                        <a:rPr lang="en-US" sz="1545">
                          <a:solidFill>
                            <a:srgbClr val="000000"/>
                          </a:solidFill>
                          <a:latin typeface="Proxima Nova"/>
                          <a:ea typeface="Proxima Nova"/>
                          <a:cs typeface="Proxima Nova"/>
                          <a:sym typeface="Proxima Nova"/>
                        </a:rPr>
                        <a:t>1463</a:t>
                      </a:r>
                      <a:endParaRPr lang="en-US" sz="1100"/>
                    </a:p>
                  </a:txBody>
                  <a:tcPr marL="38100" marR="38100" marT="38100" marB="381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64"/>
                        </a:lnSpc>
                        <a:defRPr/>
                      </a:pPr>
                      <a:r>
                        <a:rPr lang="en-US" sz="1545">
                          <a:solidFill>
                            <a:srgbClr val="000000"/>
                          </a:solidFill>
                          <a:latin typeface="Proxima Nova"/>
                          <a:ea typeface="Proxima Nova"/>
                          <a:cs typeface="Proxima Nova"/>
                          <a:sym typeface="Proxima Nova"/>
                        </a:rPr>
                        <a:t>183583.683569555</a:t>
                      </a:r>
                      <a:endParaRPr lang="en-US" sz="1100"/>
                    </a:p>
                  </a:txBody>
                  <a:tcPr marL="38100" marR="38100" marT="38100" marB="381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41327">
                <a:tc>
                  <a:txBody>
                    <a:bodyPr/>
                    <a:lstStyle/>
                    <a:p>
                      <a:pPr algn="ctr">
                        <a:lnSpc>
                          <a:spcPts val="2164"/>
                        </a:lnSpc>
                        <a:defRPr/>
                      </a:pPr>
                      <a:r>
                        <a:rPr lang="en-US" sz="1545">
                          <a:solidFill>
                            <a:srgbClr val="000000"/>
                          </a:solidFill>
                          <a:latin typeface="Proxima Nova"/>
                          <a:ea typeface="Proxima Nova"/>
                          <a:cs typeface="Proxima Nova"/>
                          <a:sym typeface="Proxima Nova"/>
                        </a:rPr>
                        <a:t>1464</a:t>
                      </a:r>
                      <a:endParaRPr lang="en-US" sz="1100"/>
                    </a:p>
                  </a:txBody>
                  <a:tcPr marL="38100" marR="38100" marT="38100" marB="381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64"/>
                        </a:lnSpc>
                        <a:defRPr/>
                      </a:pPr>
                      <a:r>
                        <a:rPr lang="en-US" sz="1545">
                          <a:solidFill>
                            <a:srgbClr val="000000"/>
                          </a:solidFill>
                          <a:latin typeface="Proxima Nova"/>
                          <a:ea typeface="Proxima Nova"/>
                          <a:cs typeface="Proxima Nova"/>
                          <a:sym typeface="Proxima Nova"/>
                        </a:rPr>
                        <a:t>179317.47751083</a:t>
                      </a:r>
                      <a:endParaRPr lang="en-US" sz="1100"/>
                    </a:p>
                  </a:txBody>
                  <a:tcPr marL="38100" marR="38100" marT="38100" marB="381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41327">
                <a:tc>
                  <a:txBody>
                    <a:bodyPr/>
                    <a:lstStyle/>
                    <a:p>
                      <a:pPr algn="ctr">
                        <a:lnSpc>
                          <a:spcPts val="2164"/>
                        </a:lnSpc>
                        <a:defRPr/>
                      </a:pPr>
                      <a:r>
                        <a:rPr lang="en-US" sz="1545">
                          <a:solidFill>
                            <a:srgbClr val="000000"/>
                          </a:solidFill>
                          <a:latin typeface="Proxima Nova"/>
                          <a:ea typeface="Proxima Nova"/>
                          <a:cs typeface="Proxima Nova"/>
                          <a:sym typeface="Proxima Nova"/>
                        </a:rPr>
                        <a:t>...</a:t>
                      </a:r>
                      <a:endParaRPr lang="en-US" sz="1100"/>
                    </a:p>
                  </a:txBody>
                  <a:tcPr marL="38100" marR="38100" marT="38100" marB="381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64"/>
                        </a:lnSpc>
                        <a:defRPr/>
                      </a:pPr>
                      <a:r>
                        <a:rPr lang="en-US" sz="1545">
                          <a:solidFill>
                            <a:srgbClr val="000000"/>
                          </a:solidFill>
                          <a:latin typeface="Proxima Nova"/>
                          <a:ea typeface="Proxima Nova"/>
                          <a:cs typeface="Proxima Nova"/>
                          <a:sym typeface="Proxima Nova"/>
                        </a:rPr>
                        <a:t>...</a:t>
                      </a:r>
                      <a:endParaRPr lang="en-US" sz="1100"/>
                    </a:p>
                  </a:txBody>
                  <a:tcPr marL="38100" marR="38100" marT="38100" marB="381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9" name="AutoShape 19"/>
          <p:cNvSpPr/>
          <p:nvPr/>
        </p:nvSpPr>
        <p:spPr>
          <a:xfrm flipH="1" flipV="1">
            <a:off x="9524401" y="4381755"/>
            <a:ext cx="1464" cy="2184402"/>
          </a:xfrm>
          <a:prstGeom prst="line">
            <a:avLst/>
          </a:prstGeom>
          <a:ln w="19050" cap="flat">
            <a:solidFill>
              <a:srgbClr val="000000"/>
            </a:solidFill>
            <a:prstDash val="solid"/>
            <a:headEnd type="none" w="sm" len="sm"/>
            <a:tailEnd type="none" w="sm" len="sm"/>
          </a:ln>
        </p:spPr>
      </p:sp>
      <p:sp>
        <p:nvSpPr>
          <p:cNvPr id="20" name="AutoShape 20"/>
          <p:cNvSpPr/>
          <p:nvPr/>
        </p:nvSpPr>
        <p:spPr>
          <a:xfrm flipH="1">
            <a:off x="9524401" y="4391285"/>
            <a:ext cx="479345" cy="0"/>
          </a:xfrm>
          <a:prstGeom prst="line">
            <a:avLst/>
          </a:prstGeom>
          <a:ln w="19050" cap="flat">
            <a:solidFill>
              <a:srgbClr val="000000"/>
            </a:solidFill>
            <a:prstDash val="solid"/>
            <a:headEnd type="none" w="sm" len="sm"/>
            <a:tailEnd type="none" w="sm" len="sm"/>
          </a:ln>
        </p:spPr>
      </p:sp>
      <p:sp>
        <p:nvSpPr>
          <p:cNvPr id="21" name="AutoShape 21"/>
          <p:cNvSpPr/>
          <p:nvPr/>
        </p:nvSpPr>
        <p:spPr>
          <a:xfrm flipH="1">
            <a:off x="9512362" y="5472438"/>
            <a:ext cx="479345" cy="0"/>
          </a:xfrm>
          <a:prstGeom prst="line">
            <a:avLst/>
          </a:prstGeom>
          <a:ln w="19050" cap="flat">
            <a:solidFill>
              <a:srgbClr val="000000"/>
            </a:solidFill>
            <a:prstDash val="solid"/>
            <a:headEnd type="none" w="sm" len="sm"/>
            <a:tailEnd type="none" w="sm" len="sm"/>
          </a:ln>
        </p:spPr>
      </p:sp>
      <p:sp>
        <p:nvSpPr>
          <p:cNvPr id="22" name="AutoShape 22"/>
          <p:cNvSpPr/>
          <p:nvPr/>
        </p:nvSpPr>
        <p:spPr>
          <a:xfrm flipH="1">
            <a:off x="9525865" y="6575681"/>
            <a:ext cx="479345" cy="0"/>
          </a:xfrm>
          <a:prstGeom prst="line">
            <a:avLst/>
          </a:prstGeom>
          <a:ln w="19050" cap="flat">
            <a:solidFill>
              <a:srgbClr val="000000"/>
            </a:solidFill>
            <a:prstDash val="solid"/>
            <a:headEnd type="none" w="sm" len="sm"/>
            <a:tailEnd type="none" w="sm" len="sm"/>
          </a:ln>
        </p:spPr>
      </p:sp>
      <p:grpSp>
        <p:nvGrpSpPr>
          <p:cNvPr id="23" name="Group 23"/>
          <p:cNvGrpSpPr/>
          <p:nvPr/>
        </p:nvGrpSpPr>
        <p:grpSpPr>
          <a:xfrm>
            <a:off x="9991707" y="4161846"/>
            <a:ext cx="1994848" cy="458878"/>
            <a:chOff x="0" y="0"/>
            <a:chExt cx="525081" cy="120785"/>
          </a:xfrm>
        </p:grpSpPr>
        <p:sp>
          <p:nvSpPr>
            <p:cNvPr id="24" name="Freeform 24"/>
            <p:cNvSpPr/>
            <p:nvPr/>
          </p:nvSpPr>
          <p:spPr>
            <a:xfrm>
              <a:off x="0" y="0"/>
              <a:ext cx="525081" cy="120785"/>
            </a:xfrm>
            <a:custGeom>
              <a:avLst/>
              <a:gdLst/>
              <a:ahLst/>
              <a:cxnLst/>
              <a:rect l="l" t="t" r="r" b="b"/>
              <a:pathLst>
                <a:path w="525081" h="120785">
                  <a:moveTo>
                    <a:pt x="0" y="0"/>
                  </a:moveTo>
                  <a:lnTo>
                    <a:pt x="525081" y="0"/>
                  </a:lnTo>
                  <a:lnTo>
                    <a:pt x="525081" y="120785"/>
                  </a:lnTo>
                  <a:lnTo>
                    <a:pt x="0" y="120785"/>
                  </a:lnTo>
                  <a:close/>
                </a:path>
              </a:pathLst>
            </a:custGeom>
            <a:solidFill>
              <a:srgbClr val="B6F89A"/>
            </a:solidFill>
          </p:spPr>
        </p:sp>
        <p:sp>
          <p:nvSpPr>
            <p:cNvPr id="25" name="TextBox 25"/>
            <p:cNvSpPr txBox="1"/>
            <p:nvPr/>
          </p:nvSpPr>
          <p:spPr>
            <a:xfrm>
              <a:off x="0" y="0"/>
              <a:ext cx="525081" cy="120785"/>
            </a:xfrm>
            <a:prstGeom prst="rect">
              <a:avLst/>
            </a:prstGeom>
          </p:spPr>
          <p:txBody>
            <a:bodyPr lIns="50800" tIns="50800" rIns="50800" bIns="50800" rtlCol="0" anchor="ctr"/>
            <a:lstStyle/>
            <a:p>
              <a:pPr algn="ctr">
                <a:lnSpc>
                  <a:spcPts val="2102"/>
                </a:lnSpc>
              </a:pPr>
              <a:r>
                <a:rPr lang="en-US" sz="1796" b="1" i="1">
                  <a:solidFill>
                    <a:srgbClr val="000000"/>
                  </a:solidFill>
                  <a:latin typeface="Proxima Nova Bold Italics"/>
                  <a:ea typeface="Proxima Nova Bold Italics"/>
                  <a:cs typeface="Proxima Nova Bold Italics"/>
                  <a:sym typeface="Proxima Nova Bold Italics"/>
                </a:rPr>
                <a:t>Decision Tree</a:t>
              </a:r>
            </a:p>
          </p:txBody>
        </p:sp>
      </p:grpSp>
      <p:grpSp>
        <p:nvGrpSpPr>
          <p:cNvPr id="26" name="Group 26"/>
          <p:cNvGrpSpPr/>
          <p:nvPr/>
        </p:nvGrpSpPr>
        <p:grpSpPr>
          <a:xfrm>
            <a:off x="10003746" y="5242999"/>
            <a:ext cx="1994848" cy="458878"/>
            <a:chOff x="0" y="0"/>
            <a:chExt cx="525081" cy="120785"/>
          </a:xfrm>
        </p:grpSpPr>
        <p:sp>
          <p:nvSpPr>
            <p:cNvPr id="27" name="Freeform 27"/>
            <p:cNvSpPr/>
            <p:nvPr/>
          </p:nvSpPr>
          <p:spPr>
            <a:xfrm>
              <a:off x="0" y="0"/>
              <a:ext cx="525081" cy="120785"/>
            </a:xfrm>
            <a:custGeom>
              <a:avLst/>
              <a:gdLst/>
              <a:ahLst/>
              <a:cxnLst/>
              <a:rect l="l" t="t" r="r" b="b"/>
              <a:pathLst>
                <a:path w="525081" h="120785">
                  <a:moveTo>
                    <a:pt x="0" y="0"/>
                  </a:moveTo>
                  <a:lnTo>
                    <a:pt x="525081" y="0"/>
                  </a:lnTo>
                  <a:lnTo>
                    <a:pt x="525081" y="120785"/>
                  </a:lnTo>
                  <a:lnTo>
                    <a:pt x="0" y="120785"/>
                  </a:lnTo>
                  <a:close/>
                </a:path>
              </a:pathLst>
            </a:custGeom>
            <a:solidFill>
              <a:srgbClr val="FFC9A8"/>
            </a:solidFill>
          </p:spPr>
        </p:sp>
        <p:sp>
          <p:nvSpPr>
            <p:cNvPr id="28" name="TextBox 28"/>
            <p:cNvSpPr txBox="1"/>
            <p:nvPr/>
          </p:nvSpPr>
          <p:spPr>
            <a:xfrm>
              <a:off x="0" y="0"/>
              <a:ext cx="525081" cy="120785"/>
            </a:xfrm>
            <a:prstGeom prst="rect">
              <a:avLst/>
            </a:prstGeom>
          </p:spPr>
          <p:txBody>
            <a:bodyPr lIns="50800" tIns="50800" rIns="50800" bIns="50800" rtlCol="0" anchor="ctr"/>
            <a:lstStyle/>
            <a:p>
              <a:pPr algn="ctr">
                <a:lnSpc>
                  <a:spcPts val="2102"/>
                </a:lnSpc>
              </a:pPr>
              <a:r>
                <a:rPr lang="en-US" sz="1796" b="1" i="1">
                  <a:solidFill>
                    <a:srgbClr val="000000"/>
                  </a:solidFill>
                  <a:latin typeface="Proxima Nova Bold Italics"/>
                  <a:ea typeface="Proxima Nova Bold Italics"/>
                  <a:cs typeface="Proxima Nova Bold Italics"/>
                  <a:sym typeface="Proxima Nova Bold Italics"/>
                </a:rPr>
                <a:t>XgBoost</a:t>
              </a:r>
            </a:p>
          </p:txBody>
        </p:sp>
      </p:grpSp>
      <p:grpSp>
        <p:nvGrpSpPr>
          <p:cNvPr id="29" name="Group 29"/>
          <p:cNvGrpSpPr/>
          <p:nvPr/>
        </p:nvGrpSpPr>
        <p:grpSpPr>
          <a:xfrm>
            <a:off x="10005210" y="6321002"/>
            <a:ext cx="1994848" cy="458878"/>
            <a:chOff x="0" y="0"/>
            <a:chExt cx="525081" cy="120785"/>
          </a:xfrm>
        </p:grpSpPr>
        <p:sp>
          <p:nvSpPr>
            <p:cNvPr id="30" name="Freeform 30"/>
            <p:cNvSpPr/>
            <p:nvPr/>
          </p:nvSpPr>
          <p:spPr>
            <a:xfrm>
              <a:off x="0" y="0"/>
              <a:ext cx="525081" cy="120785"/>
            </a:xfrm>
            <a:custGeom>
              <a:avLst/>
              <a:gdLst/>
              <a:ahLst/>
              <a:cxnLst/>
              <a:rect l="l" t="t" r="r" b="b"/>
              <a:pathLst>
                <a:path w="525081" h="120785">
                  <a:moveTo>
                    <a:pt x="0" y="0"/>
                  </a:moveTo>
                  <a:lnTo>
                    <a:pt x="525081" y="0"/>
                  </a:lnTo>
                  <a:lnTo>
                    <a:pt x="525081" y="120785"/>
                  </a:lnTo>
                  <a:lnTo>
                    <a:pt x="0" y="120785"/>
                  </a:lnTo>
                  <a:close/>
                </a:path>
              </a:pathLst>
            </a:custGeom>
            <a:solidFill>
              <a:srgbClr val="B0D2FF"/>
            </a:solidFill>
          </p:spPr>
        </p:sp>
        <p:sp>
          <p:nvSpPr>
            <p:cNvPr id="31" name="TextBox 31"/>
            <p:cNvSpPr txBox="1"/>
            <p:nvPr/>
          </p:nvSpPr>
          <p:spPr>
            <a:xfrm>
              <a:off x="0" y="0"/>
              <a:ext cx="525081" cy="120785"/>
            </a:xfrm>
            <a:prstGeom prst="rect">
              <a:avLst/>
            </a:prstGeom>
          </p:spPr>
          <p:txBody>
            <a:bodyPr lIns="50800" tIns="50800" rIns="50800" bIns="50800" rtlCol="0" anchor="ctr"/>
            <a:lstStyle/>
            <a:p>
              <a:pPr algn="ctr">
                <a:lnSpc>
                  <a:spcPts val="2102"/>
                </a:lnSpc>
              </a:pPr>
              <a:r>
                <a:rPr lang="en-US" sz="1796" b="1" i="1">
                  <a:solidFill>
                    <a:srgbClr val="000000"/>
                  </a:solidFill>
                  <a:latin typeface="Proxima Nova Bold Italics"/>
                  <a:ea typeface="Proxima Nova Bold Italics"/>
                  <a:cs typeface="Proxima Nova Bold Italics"/>
                  <a:sym typeface="Proxima Nova Bold Italics"/>
                </a:rPr>
                <a:t>ANN</a:t>
              </a:r>
            </a:p>
          </p:txBody>
        </p:sp>
      </p:grpSp>
      <p:sp>
        <p:nvSpPr>
          <p:cNvPr id="32" name="Freeform 32"/>
          <p:cNvSpPr/>
          <p:nvPr/>
        </p:nvSpPr>
        <p:spPr>
          <a:xfrm>
            <a:off x="1599397" y="3723500"/>
            <a:ext cx="2986844" cy="2075857"/>
          </a:xfrm>
          <a:custGeom>
            <a:avLst/>
            <a:gdLst/>
            <a:ahLst/>
            <a:cxnLst/>
            <a:rect l="l" t="t" r="r" b="b"/>
            <a:pathLst>
              <a:path w="2986844" h="2075857">
                <a:moveTo>
                  <a:pt x="0" y="0"/>
                </a:moveTo>
                <a:lnTo>
                  <a:pt x="2986844" y="0"/>
                </a:lnTo>
                <a:lnTo>
                  <a:pt x="2986844" y="2075857"/>
                </a:lnTo>
                <a:lnTo>
                  <a:pt x="0" y="207585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3" name="TextBox 33"/>
          <p:cNvSpPr txBox="1"/>
          <p:nvPr/>
        </p:nvSpPr>
        <p:spPr>
          <a:xfrm>
            <a:off x="5982063" y="437069"/>
            <a:ext cx="5783013" cy="860362"/>
          </a:xfrm>
          <a:prstGeom prst="rect">
            <a:avLst/>
          </a:prstGeom>
        </p:spPr>
        <p:txBody>
          <a:bodyPr lIns="0" tIns="0" rIns="0" bIns="0" rtlCol="0" anchor="t">
            <a:spAutoFit/>
          </a:bodyPr>
          <a:lstStyle/>
          <a:p>
            <a:pPr algn="l">
              <a:lnSpc>
                <a:spcPts val="6805"/>
              </a:lnSpc>
              <a:spcBef>
                <a:spcPct val="0"/>
              </a:spcBef>
            </a:pPr>
            <a:r>
              <a:rPr lang="en-US" sz="5816">
                <a:gradFill>
                  <a:gsLst>
                    <a:gs pos="0">
                      <a:srgbClr val="FF3131">
                        <a:alpha val="100000"/>
                      </a:srgbClr>
                    </a:gs>
                    <a:gs pos="100000">
                      <a:srgbClr val="FF914D">
                        <a:alpha val="100000"/>
                      </a:srgbClr>
                    </a:gs>
                  </a:gsLst>
                  <a:lin ang="0"/>
                </a:gradFill>
                <a:latin typeface="Calistoga"/>
                <a:ea typeface="Calistoga"/>
                <a:cs typeface="Calistoga"/>
                <a:sym typeface="Calistoga"/>
              </a:rPr>
              <a:t>1. Introduction</a:t>
            </a:r>
          </a:p>
        </p:txBody>
      </p:sp>
      <p:sp>
        <p:nvSpPr>
          <p:cNvPr id="34" name="TextBox 34"/>
          <p:cNvSpPr txBox="1"/>
          <p:nvPr/>
        </p:nvSpPr>
        <p:spPr>
          <a:xfrm>
            <a:off x="6757633" y="3466130"/>
            <a:ext cx="1660556" cy="524266"/>
          </a:xfrm>
          <a:prstGeom prst="rect">
            <a:avLst/>
          </a:prstGeom>
        </p:spPr>
        <p:txBody>
          <a:bodyPr wrap="square" lIns="0" tIns="0" rIns="0" bIns="0" rtlCol="0" anchor="t">
            <a:spAutoFit/>
          </a:bodyPr>
          <a:lstStyle/>
          <a:p>
            <a:pPr algn="l">
              <a:lnSpc>
                <a:spcPts val="4131"/>
              </a:lnSpc>
              <a:spcBef>
                <a:spcPct val="0"/>
              </a:spcBef>
            </a:pPr>
            <a:r>
              <a:rPr lang="en-US" sz="3530" dirty="0">
                <a:solidFill>
                  <a:srgbClr val="FF3131"/>
                </a:solidFill>
                <a:latin typeface="Calistoga"/>
                <a:ea typeface="Calistoga"/>
                <a:cs typeface="Calistoga"/>
                <a:sym typeface="Calistoga"/>
              </a:rPr>
              <a:t>Input</a:t>
            </a:r>
          </a:p>
        </p:txBody>
      </p:sp>
      <p:sp>
        <p:nvSpPr>
          <p:cNvPr id="35" name="TextBox 35"/>
          <p:cNvSpPr txBox="1"/>
          <p:nvPr/>
        </p:nvSpPr>
        <p:spPr>
          <a:xfrm>
            <a:off x="10157326" y="3512710"/>
            <a:ext cx="1168450" cy="477686"/>
          </a:xfrm>
          <a:prstGeom prst="rect">
            <a:avLst/>
          </a:prstGeom>
        </p:spPr>
        <p:txBody>
          <a:bodyPr lIns="0" tIns="0" rIns="0" bIns="0" rtlCol="0" anchor="t">
            <a:spAutoFit/>
          </a:bodyPr>
          <a:lstStyle/>
          <a:p>
            <a:pPr algn="l">
              <a:lnSpc>
                <a:spcPts val="3770"/>
              </a:lnSpc>
              <a:spcBef>
                <a:spcPct val="0"/>
              </a:spcBef>
            </a:pPr>
            <a:r>
              <a:rPr lang="en-US" sz="3222">
                <a:solidFill>
                  <a:srgbClr val="FF3131"/>
                </a:solidFill>
                <a:latin typeface="Calistoga"/>
                <a:ea typeface="Calistoga"/>
                <a:cs typeface="Calistoga"/>
                <a:sym typeface="Calistoga"/>
              </a:rPr>
              <a:t>Model</a:t>
            </a:r>
          </a:p>
        </p:txBody>
      </p:sp>
      <p:sp>
        <p:nvSpPr>
          <p:cNvPr id="36" name="TextBox 36"/>
          <p:cNvSpPr txBox="1"/>
          <p:nvPr/>
        </p:nvSpPr>
        <p:spPr>
          <a:xfrm>
            <a:off x="13383201" y="3512710"/>
            <a:ext cx="1421752" cy="529312"/>
          </a:xfrm>
          <a:prstGeom prst="rect">
            <a:avLst/>
          </a:prstGeom>
        </p:spPr>
        <p:txBody>
          <a:bodyPr lIns="0" tIns="0" rIns="0" bIns="0" rtlCol="0" anchor="t">
            <a:spAutoFit/>
          </a:bodyPr>
          <a:lstStyle/>
          <a:p>
            <a:pPr algn="l">
              <a:lnSpc>
                <a:spcPts val="4170"/>
              </a:lnSpc>
              <a:spcBef>
                <a:spcPct val="0"/>
              </a:spcBef>
            </a:pPr>
            <a:r>
              <a:rPr lang="en-US" sz="3564">
                <a:solidFill>
                  <a:srgbClr val="FF3131"/>
                </a:solidFill>
                <a:latin typeface="Calistoga"/>
                <a:ea typeface="Calistoga"/>
                <a:cs typeface="Calistoga"/>
                <a:sym typeface="Calistoga"/>
              </a:rPr>
              <a:t>Output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386093" y="3599224"/>
          <a:ext cx="5053221" cy="2418498"/>
        </p:xfrm>
        <a:graphic>
          <a:graphicData uri="http://schemas.openxmlformats.org/drawingml/2006/table">
            <a:tbl>
              <a:tblPr/>
              <a:tblGrid>
                <a:gridCol w="1684407">
                  <a:extLst>
                    <a:ext uri="{9D8B030D-6E8A-4147-A177-3AD203B41FA5}">
                      <a16:colId xmlns:a16="http://schemas.microsoft.com/office/drawing/2014/main" val="20000"/>
                    </a:ext>
                  </a:extLst>
                </a:gridCol>
                <a:gridCol w="1684407">
                  <a:extLst>
                    <a:ext uri="{9D8B030D-6E8A-4147-A177-3AD203B41FA5}">
                      <a16:colId xmlns:a16="http://schemas.microsoft.com/office/drawing/2014/main" val="20001"/>
                    </a:ext>
                  </a:extLst>
                </a:gridCol>
                <a:gridCol w="1684407">
                  <a:extLst>
                    <a:ext uri="{9D8B030D-6E8A-4147-A177-3AD203B41FA5}">
                      <a16:colId xmlns:a16="http://schemas.microsoft.com/office/drawing/2014/main" val="20002"/>
                    </a:ext>
                  </a:extLst>
                </a:gridCol>
              </a:tblGrid>
              <a:tr h="806166">
                <a:tc>
                  <a:txBody>
                    <a:bodyPr/>
                    <a:lstStyle/>
                    <a:p>
                      <a:pPr algn="ctr">
                        <a:lnSpc>
                          <a:spcPts val="2515"/>
                        </a:lnSpc>
                        <a:defRPr/>
                      </a:pPr>
                      <a:r>
                        <a:rPr lang="en-US" sz="1796" b="1">
                          <a:solidFill>
                            <a:srgbClr val="000000"/>
                          </a:solidFill>
                          <a:latin typeface="Proxima Nova Bold"/>
                          <a:ea typeface="Proxima Nova Bold"/>
                          <a:cs typeface="Proxima Nova Bold"/>
                          <a:sym typeface="Proxima Nova Bold"/>
                        </a:rPr>
                        <a:t>Dataset</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5"/>
                        </a:lnSpc>
                        <a:defRPr/>
                      </a:pPr>
                      <a:r>
                        <a:rPr lang="en-US" sz="1796" b="1">
                          <a:solidFill>
                            <a:srgbClr val="000000"/>
                          </a:solidFill>
                          <a:latin typeface="Proxima Nova Bold"/>
                          <a:ea typeface="Proxima Nova Bold"/>
                          <a:cs typeface="Proxima Nova Bold"/>
                          <a:sym typeface="Proxima Nova Bold"/>
                        </a:rPr>
                        <a:t>Rows</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5"/>
                        </a:lnSpc>
                        <a:defRPr/>
                      </a:pPr>
                      <a:r>
                        <a:rPr lang="en-US" sz="1796" b="1">
                          <a:solidFill>
                            <a:srgbClr val="000000"/>
                          </a:solidFill>
                          <a:latin typeface="Proxima Nova Bold"/>
                          <a:ea typeface="Proxima Nova Bold"/>
                          <a:cs typeface="Proxima Nova Bold"/>
                          <a:sym typeface="Proxima Nova Bold"/>
                        </a:rPr>
                        <a:t>Columns</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06166">
                <a:tc>
                  <a:txBody>
                    <a:bodyPr/>
                    <a:lstStyle/>
                    <a:p>
                      <a:pPr algn="ctr">
                        <a:lnSpc>
                          <a:spcPts val="2515"/>
                        </a:lnSpc>
                        <a:defRPr/>
                      </a:pPr>
                      <a:r>
                        <a:rPr lang="en-US" sz="1796">
                          <a:solidFill>
                            <a:srgbClr val="000000"/>
                          </a:solidFill>
                          <a:latin typeface="Proxima Nova"/>
                          <a:ea typeface="Proxima Nova"/>
                          <a:cs typeface="Proxima Nova"/>
                          <a:sym typeface="Proxima Nova"/>
                        </a:rPr>
                        <a:t>Train.csv</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5"/>
                        </a:lnSpc>
                        <a:defRPr/>
                      </a:pPr>
                      <a:r>
                        <a:rPr lang="en-US" sz="1796">
                          <a:solidFill>
                            <a:srgbClr val="000000"/>
                          </a:solidFill>
                          <a:latin typeface="Proxima Nova"/>
                          <a:ea typeface="Proxima Nova"/>
                          <a:cs typeface="Proxima Nova"/>
                          <a:sym typeface="Proxima Nova"/>
                        </a:rPr>
                        <a:t>1460</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5"/>
                        </a:lnSpc>
                        <a:defRPr/>
                      </a:pPr>
                      <a:r>
                        <a:rPr lang="en-US" sz="1796">
                          <a:solidFill>
                            <a:srgbClr val="000000"/>
                          </a:solidFill>
                          <a:latin typeface="Proxima Nova"/>
                          <a:ea typeface="Proxima Nova"/>
                          <a:cs typeface="Proxima Nova"/>
                          <a:sym typeface="Proxima Nova"/>
                        </a:rPr>
                        <a:t>81</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06166">
                <a:tc>
                  <a:txBody>
                    <a:bodyPr/>
                    <a:lstStyle/>
                    <a:p>
                      <a:pPr algn="ctr">
                        <a:lnSpc>
                          <a:spcPts val="2515"/>
                        </a:lnSpc>
                        <a:defRPr/>
                      </a:pPr>
                      <a:r>
                        <a:rPr lang="en-US" sz="1796">
                          <a:solidFill>
                            <a:srgbClr val="000000"/>
                          </a:solidFill>
                          <a:latin typeface="Proxima Nova"/>
                          <a:ea typeface="Proxima Nova"/>
                          <a:cs typeface="Proxima Nova"/>
                          <a:sym typeface="Proxima Nova"/>
                        </a:rPr>
                        <a:t>Test.csv</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5"/>
                        </a:lnSpc>
                        <a:defRPr/>
                      </a:pPr>
                      <a:r>
                        <a:rPr lang="en-US" sz="1796">
                          <a:solidFill>
                            <a:srgbClr val="000000"/>
                          </a:solidFill>
                          <a:latin typeface="Proxima Nova"/>
                          <a:ea typeface="Proxima Nova"/>
                          <a:cs typeface="Proxima Nova"/>
                          <a:sym typeface="Proxima Nova"/>
                        </a:rPr>
                        <a:t>1459</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5"/>
                        </a:lnSpc>
                        <a:defRPr/>
                      </a:pPr>
                      <a:r>
                        <a:rPr lang="en-US" sz="1796">
                          <a:solidFill>
                            <a:srgbClr val="000000"/>
                          </a:solidFill>
                          <a:latin typeface="Proxima Nova"/>
                          <a:ea typeface="Proxima Nova"/>
                          <a:cs typeface="Proxima Nova"/>
                          <a:sym typeface="Proxima Nova"/>
                        </a:rPr>
                        <a:t>80</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3" name="Freeform 3"/>
          <p:cNvSpPr/>
          <p:nvPr/>
        </p:nvSpPr>
        <p:spPr>
          <a:xfrm>
            <a:off x="2737328" y="6255848"/>
            <a:ext cx="350751" cy="365366"/>
          </a:xfrm>
          <a:custGeom>
            <a:avLst/>
            <a:gdLst/>
            <a:ahLst/>
            <a:cxnLst/>
            <a:rect l="l" t="t" r="r" b="b"/>
            <a:pathLst>
              <a:path w="350751" h="365366">
                <a:moveTo>
                  <a:pt x="0" y="0"/>
                </a:moveTo>
                <a:lnTo>
                  <a:pt x="350752" y="0"/>
                </a:lnTo>
                <a:lnTo>
                  <a:pt x="350752" y="365366"/>
                </a:lnTo>
                <a:lnTo>
                  <a:pt x="0" y="365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491170" y="6621214"/>
            <a:ext cx="2843068" cy="1307811"/>
          </a:xfrm>
          <a:custGeom>
            <a:avLst/>
            <a:gdLst/>
            <a:ahLst/>
            <a:cxnLst/>
            <a:rect l="l" t="t" r="r" b="b"/>
            <a:pathLst>
              <a:path w="2843068" h="1307811">
                <a:moveTo>
                  <a:pt x="0" y="0"/>
                </a:moveTo>
                <a:lnTo>
                  <a:pt x="2843068" y="0"/>
                </a:lnTo>
                <a:lnTo>
                  <a:pt x="2843068" y="1307811"/>
                </a:lnTo>
                <a:lnTo>
                  <a:pt x="0" y="1307811"/>
                </a:lnTo>
                <a:lnTo>
                  <a:pt x="0" y="0"/>
                </a:lnTo>
                <a:close/>
              </a:path>
            </a:pathLst>
          </a:custGeom>
          <a:blipFill>
            <a:blip r:embed="rId4"/>
            <a:stretch>
              <a:fillRect/>
            </a:stretch>
          </a:blipFill>
        </p:spPr>
      </p:sp>
      <p:sp>
        <p:nvSpPr>
          <p:cNvPr id="5" name="Freeform 5"/>
          <p:cNvSpPr/>
          <p:nvPr/>
        </p:nvSpPr>
        <p:spPr>
          <a:xfrm>
            <a:off x="6306926" y="599809"/>
            <a:ext cx="4772435" cy="4543691"/>
          </a:xfrm>
          <a:custGeom>
            <a:avLst/>
            <a:gdLst/>
            <a:ahLst/>
            <a:cxnLst/>
            <a:rect l="l" t="t" r="r" b="b"/>
            <a:pathLst>
              <a:path w="4772435" h="4543691">
                <a:moveTo>
                  <a:pt x="0" y="0"/>
                </a:moveTo>
                <a:lnTo>
                  <a:pt x="4772435" y="0"/>
                </a:lnTo>
                <a:lnTo>
                  <a:pt x="4772435" y="4543691"/>
                </a:lnTo>
                <a:lnTo>
                  <a:pt x="0" y="4543691"/>
                </a:lnTo>
                <a:lnTo>
                  <a:pt x="0" y="0"/>
                </a:lnTo>
                <a:close/>
              </a:path>
            </a:pathLst>
          </a:custGeom>
          <a:blipFill>
            <a:blip r:embed="rId5"/>
            <a:stretch>
              <a:fillRect/>
            </a:stretch>
          </a:blipFill>
        </p:spPr>
      </p:sp>
      <p:sp>
        <p:nvSpPr>
          <p:cNvPr id="6" name="Freeform 6"/>
          <p:cNvSpPr/>
          <p:nvPr/>
        </p:nvSpPr>
        <p:spPr>
          <a:xfrm>
            <a:off x="12431911" y="599809"/>
            <a:ext cx="4746961" cy="4543691"/>
          </a:xfrm>
          <a:custGeom>
            <a:avLst/>
            <a:gdLst/>
            <a:ahLst/>
            <a:cxnLst/>
            <a:rect l="l" t="t" r="r" b="b"/>
            <a:pathLst>
              <a:path w="4746961" h="4543691">
                <a:moveTo>
                  <a:pt x="0" y="0"/>
                </a:moveTo>
                <a:lnTo>
                  <a:pt x="4746961" y="0"/>
                </a:lnTo>
                <a:lnTo>
                  <a:pt x="4746961" y="4543691"/>
                </a:lnTo>
                <a:lnTo>
                  <a:pt x="0" y="4543691"/>
                </a:lnTo>
                <a:lnTo>
                  <a:pt x="0" y="0"/>
                </a:lnTo>
                <a:close/>
              </a:path>
            </a:pathLst>
          </a:custGeom>
          <a:blipFill>
            <a:blip r:embed="rId6"/>
            <a:stretch>
              <a:fillRect/>
            </a:stretch>
          </a:blipFill>
        </p:spPr>
      </p:sp>
      <p:graphicFrame>
        <p:nvGraphicFramePr>
          <p:cNvPr id="7" name="Table 7"/>
          <p:cNvGraphicFramePr>
            <a:graphicFrameLocks noGrp="1"/>
          </p:cNvGraphicFramePr>
          <p:nvPr/>
        </p:nvGraphicFramePr>
        <p:xfrm>
          <a:off x="6745910" y="5795328"/>
          <a:ext cx="9538622" cy="3453447"/>
        </p:xfrm>
        <a:graphic>
          <a:graphicData uri="http://schemas.openxmlformats.org/drawingml/2006/table">
            <a:tbl>
              <a:tblPr/>
              <a:tblGrid>
                <a:gridCol w="1362660">
                  <a:extLst>
                    <a:ext uri="{9D8B030D-6E8A-4147-A177-3AD203B41FA5}">
                      <a16:colId xmlns:a16="http://schemas.microsoft.com/office/drawing/2014/main" val="20000"/>
                    </a:ext>
                  </a:extLst>
                </a:gridCol>
                <a:gridCol w="1362660">
                  <a:extLst>
                    <a:ext uri="{9D8B030D-6E8A-4147-A177-3AD203B41FA5}">
                      <a16:colId xmlns:a16="http://schemas.microsoft.com/office/drawing/2014/main" val="20001"/>
                    </a:ext>
                  </a:extLst>
                </a:gridCol>
                <a:gridCol w="1362660">
                  <a:extLst>
                    <a:ext uri="{9D8B030D-6E8A-4147-A177-3AD203B41FA5}">
                      <a16:colId xmlns:a16="http://schemas.microsoft.com/office/drawing/2014/main" val="20002"/>
                    </a:ext>
                  </a:extLst>
                </a:gridCol>
                <a:gridCol w="1601697">
                  <a:extLst>
                    <a:ext uri="{9D8B030D-6E8A-4147-A177-3AD203B41FA5}">
                      <a16:colId xmlns:a16="http://schemas.microsoft.com/office/drawing/2014/main" val="20003"/>
                    </a:ext>
                  </a:extLst>
                </a:gridCol>
                <a:gridCol w="1291372">
                  <a:extLst>
                    <a:ext uri="{9D8B030D-6E8A-4147-A177-3AD203B41FA5}">
                      <a16:colId xmlns:a16="http://schemas.microsoft.com/office/drawing/2014/main" val="20004"/>
                    </a:ext>
                  </a:extLst>
                </a:gridCol>
                <a:gridCol w="1336853">
                  <a:extLst>
                    <a:ext uri="{9D8B030D-6E8A-4147-A177-3AD203B41FA5}">
                      <a16:colId xmlns:a16="http://schemas.microsoft.com/office/drawing/2014/main" val="20005"/>
                    </a:ext>
                  </a:extLst>
                </a:gridCol>
                <a:gridCol w="1220720">
                  <a:extLst>
                    <a:ext uri="{9D8B030D-6E8A-4147-A177-3AD203B41FA5}">
                      <a16:colId xmlns:a16="http://schemas.microsoft.com/office/drawing/2014/main" val="20006"/>
                    </a:ext>
                  </a:extLst>
                </a:gridCol>
              </a:tblGrid>
              <a:tr h="481104">
                <a:tc>
                  <a:txBody>
                    <a:bodyPr/>
                    <a:lstStyle/>
                    <a:p>
                      <a:pPr algn="ctr">
                        <a:lnSpc>
                          <a:spcPts val="2519"/>
                        </a:lnSpc>
                        <a:defRPr/>
                      </a:pPr>
                      <a:r>
                        <a:rPr lang="en-US" sz="1799" b="1">
                          <a:solidFill>
                            <a:srgbClr val="000000"/>
                          </a:solidFill>
                          <a:latin typeface="Proxima Nova Bold"/>
                          <a:ea typeface="Proxima Nova Bold"/>
                          <a:cs typeface="Proxima Nova Bold"/>
                          <a:sym typeface="Proxima Nova Bold"/>
                        </a:rPr>
                        <a:t>Feature</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b="1">
                          <a:solidFill>
                            <a:srgbClr val="000000"/>
                          </a:solidFill>
                          <a:latin typeface="Proxima Nova Bold"/>
                          <a:ea typeface="Proxima Nova Bold"/>
                          <a:cs typeface="Proxima Nova Bold"/>
                          <a:sym typeface="Proxima Nova Bold"/>
                        </a:rPr>
                        <a:t>Mean</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b="1">
                          <a:solidFill>
                            <a:srgbClr val="000000"/>
                          </a:solidFill>
                          <a:latin typeface="Proxima Nova Bold"/>
                          <a:ea typeface="Proxima Nova Bold"/>
                          <a:cs typeface="Proxima Nova Bold"/>
                          <a:sym typeface="Proxima Nova Bold"/>
                        </a:rPr>
                        <a:t>Std</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b="1">
                          <a:solidFill>
                            <a:srgbClr val="000000"/>
                          </a:solidFill>
                          <a:latin typeface="Proxima Nova Bold"/>
                          <a:ea typeface="Proxima Nova Bold"/>
                          <a:cs typeface="Proxima Nova Bold"/>
                          <a:sym typeface="Proxima Nova Bold"/>
                        </a:rPr>
                        <a:t>Q2</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b="1">
                          <a:solidFill>
                            <a:srgbClr val="000000"/>
                          </a:solidFill>
                          <a:latin typeface="Proxima Nova Bold"/>
                          <a:ea typeface="Proxima Nova Bold"/>
                          <a:cs typeface="Proxima Nova Bold"/>
                          <a:sym typeface="Proxima Nova Bold"/>
                        </a:rPr>
                        <a:t>Q3</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b="1">
                          <a:solidFill>
                            <a:srgbClr val="000000"/>
                          </a:solidFill>
                          <a:latin typeface="Proxima Nova Bold"/>
                          <a:ea typeface="Proxima Nova Bold"/>
                          <a:cs typeface="Proxima Nova Bold"/>
                          <a:sym typeface="Proxima Nova Bold"/>
                        </a:rPr>
                        <a:t>Q1</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b="1">
                          <a:solidFill>
                            <a:srgbClr val="000000"/>
                          </a:solidFill>
                          <a:latin typeface="Proxima Nova Bold"/>
                          <a:ea typeface="Proxima Nova Bold"/>
                          <a:cs typeface="Proxima Nova Bold"/>
                          <a:sym typeface="Proxima Nova Bold"/>
                        </a:rPr>
                        <a:t>Min-Max </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93170">
                <a:tc>
                  <a:txBody>
                    <a:bodyPr/>
                    <a:lstStyle/>
                    <a:p>
                      <a:pPr algn="ctr">
                        <a:lnSpc>
                          <a:spcPts val="2519"/>
                        </a:lnSpc>
                        <a:defRPr/>
                      </a:pPr>
                      <a:r>
                        <a:rPr lang="en-US" sz="1799">
                          <a:solidFill>
                            <a:srgbClr val="000000"/>
                          </a:solidFill>
                          <a:latin typeface="Proxima Nova"/>
                          <a:ea typeface="Proxima Nova"/>
                          <a:cs typeface="Proxima Nova"/>
                          <a:sym typeface="Proxima Nova"/>
                        </a:rPr>
                        <a:t>MSSubClass</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Proxima Nova"/>
                          <a:ea typeface="Proxima Nova"/>
                          <a:cs typeface="Proxima Nova"/>
                          <a:sym typeface="Proxima Nova"/>
                        </a:rPr>
                        <a:t>56.90</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Proxima Nova"/>
                          <a:ea typeface="Proxima Nova"/>
                          <a:cs typeface="Proxima Nova"/>
                          <a:sym typeface="Proxima Nova"/>
                        </a:rPr>
                        <a:t>42.30</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Proxima Nova"/>
                          <a:ea typeface="Proxima Nova"/>
                          <a:cs typeface="Proxima Nova"/>
                          <a:sym typeface="Proxima Nova"/>
                        </a:rPr>
                        <a:t>50</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Proxima Nova"/>
                          <a:ea typeface="Proxima Nova"/>
                          <a:cs typeface="Proxima Nova"/>
                          <a:sym typeface="Proxima Nova"/>
                        </a:rPr>
                        <a:t>70</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Proxima Nova"/>
                          <a:ea typeface="Proxima Nova"/>
                          <a:cs typeface="Proxima Nova"/>
                          <a:sym typeface="Proxima Nova"/>
                        </a:rPr>
                        <a:t>20</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Proxima Nova"/>
                          <a:ea typeface="Proxima Nova"/>
                          <a:cs typeface="Proxima Nova"/>
                          <a:sym typeface="Proxima Nova"/>
                        </a:rPr>
                        <a:t>20 - 190</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98656">
                <a:tc>
                  <a:txBody>
                    <a:bodyPr/>
                    <a:lstStyle/>
                    <a:p>
                      <a:pPr algn="ctr">
                        <a:lnSpc>
                          <a:spcPts val="2519"/>
                        </a:lnSpc>
                        <a:defRPr/>
                      </a:pPr>
                      <a:r>
                        <a:rPr lang="en-US" sz="1799">
                          <a:solidFill>
                            <a:srgbClr val="000000"/>
                          </a:solidFill>
                          <a:latin typeface="Proxima Nova"/>
                          <a:ea typeface="Proxima Nova"/>
                          <a:cs typeface="Proxima Nova"/>
                          <a:sym typeface="Proxima Nova"/>
                        </a:rPr>
                        <a:t>LotFrontage</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Proxima Nova"/>
                          <a:ea typeface="Proxima Nova"/>
                          <a:cs typeface="Proxima Nova"/>
                          <a:sym typeface="Proxima Nova"/>
                        </a:rPr>
                        <a:t>70.05</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Proxima Nova"/>
                          <a:ea typeface="Proxima Nova"/>
                          <a:cs typeface="Proxima Nova"/>
                          <a:sym typeface="Proxima Nova"/>
                        </a:rPr>
                        <a:t>22.02</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Proxima Nova"/>
                          <a:ea typeface="Proxima Nova"/>
                          <a:cs typeface="Proxima Nova"/>
                          <a:sym typeface="Proxima Nova"/>
                        </a:rPr>
                        <a:t>70.05</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Proxima Nova"/>
                          <a:ea typeface="Proxima Nova"/>
                          <a:cs typeface="Proxima Nova"/>
                          <a:sym typeface="Proxima Nova"/>
                        </a:rPr>
                        <a:t>79</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Proxima Nova"/>
                          <a:ea typeface="Proxima Nova"/>
                          <a:cs typeface="Proxima Nova"/>
                          <a:sym typeface="Proxima Nova"/>
                        </a:rPr>
                        <a:t>60</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Proxima Nova"/>
                          <a:ea typeface="Proxima Nova"/>
                          <a:cs typeface="Proxima Nova"/>
                          <a:sym typeface="Proxima Nova"/>
                        </a:rPr>
                        <a:t>21 - 313</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59361">
                <a:tc>
                  <a:txBody>
                    <a:bodyPr/>
                    <a:lstStyle/>
                    <a:p>
                      <a:pPr algn="ctr">
                        <a:lnSpc>
                          <a:spcPts val="2519"/>
                        </a:lnSpc>
                        <a:defRPr/>
                      </a:pPr>
                      <a:r>
                        <a:rPr lang="en-US" sz="1799">
                          <a:solidFill>
                            <a:srgbClr val="000000"/>
                          </a:solidFill>
                          <a:latin typeface="Proxima Nova"/>
                          <a:ea typeface="Proxima Nova"/>
                          <a:cs typeface="Proxima Nova"/>
                          <a:sym typeface="Proxima Nova"/>
                        </a:rPr>
                        <a:t>LotArea</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Proxima Nova"/>
                          <a:ea typeface="Proxima Nova"/>
                          <a:cs typeface="Proxima Nova"/>
                          <a:sym typeface="Proxima Nova"/>
                        </a:rPr>
                        <a:t>10516.83</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Proxima Nova"/>
                          <a:ea typeface="Proxima Nova"/>
                          <a:cs typeface="Proxima Nova"/>
                          <a:sym typeface="Proxima Nova"/>
                        </a:rPr>
                        <a:t>9981.26</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Proxima Nova"/>
                          <a:ea typeface="Proxima Nova"/>
                          <a:cs typeface="Proxima Nova"/>
                          <a:sym typeface="Proxima Nova"/>
                        </a:rPr>
                        <a:t>9478.50</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Proxima Nova"/>
                          <a:ea typeface="Proxima Nova"/>
                          <a:cs typeface="Proxima Nova"/>
                          <a:sym typeface="Proxima Nova"/>
                        </a:rPr>
                        <a:t>11601.50</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Proxima Nova"/>
                          <a:ea typeface="Proxima Nova"/>
                          <a:cs typeface="Proxima Nova"/>
                          <a:sym typeface="Proxima Nova"/>
                        </a:rPr>
                        <a:t>7553</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Proxima Nova"/>
                          <a:ea typeface="Proxima Nova"/>
                          <a:cs typeface="Proxima Nova"/>
                          <a:sym typeface="Proxima Nova"/>
                        </a:rPr>
                        <a:t>1300 - 215245</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55865">
                <a:tc>
                  <a:txBody>
                    <a:bodyPr/>
                    <a:lstStyle/>
                    <a:p>
                      <a:pPr algn="ctr">
                        <a:lnSpc>
                          <a:spcPts val="2519"/>
                        </a:lnSpc>
                        <a:defRPr/>
                      </a:pPr>
                      <a:r>
                        <a:rPr lang="en-US" sz="1799">
                          <a:solidFill>
                            <a:srgbClr val="000000"/>
                          </a:solidFill>
                          <a:latin typeface="Proxima Nova"/>
                          <a:ea typeface="Proxima Nova"/>
                          <a:cs typeface="Proxima Nova"/>
                          <a:sym typeface="Proxima Nova"/>
                        </a:rPr>
                        <a:t>...</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Proxima Nova"/>
                          <a:ea typeface="Proxima Nova"/>
                          <a:cs typeface="Proxima Nova"/>
                          <a:sym typeface="Proxima Nova"/>
                        </a:rPr>
                        <a:t>...</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Arimo"/>
                          <a:ea typeface="Arimo"/>
                          <a:cs typeface="Arimo"/>
                          <a:sym typeface="Arimo"/>
                        </a:rPr>
                        <a:t>...</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Arimo"/>
                          <a:ea typeface="Arimo"/>
                          <a:cs typeface="Arimo"/>
                          <a:sym typeface="Arimo"/>
                        </a:rPr>
                        <a:t>...</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Arimo"/>
                          <a:ea typeface="Arimo"/>
                          <a:cs typeface="Arimo"/>
                          <a:sym typeface="Arimo"/>
                        </a:rPr>
                        <a:t>...</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Arimo"/>
                          <a:ea typeface="Arimo"/>
                          <a:cs typeface="Arimo"/>
                          <a:sym typeface="Arimo"/>
                        </a:rPr>
                        <a:t>...</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Arimo"/>
                          <a:ea typeface="Arimo"/>
                          <a:cs typeface="Arimo"/>
                          <a:sym typeface="Arimo"/>
                        </a:rPr>
                        <a:t>...</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65291">
                <a:tc>
                  <a:txBody>
                    <a:bodyPr/>
                    <a:lstStyle/>
                    <a:p>
                      <a:pPr algn="ctr">
                        <a:lnSpc>
                          <a:spcPts val="2519"/>
                        </a:lnSpc>
                        <a:defRPr/>
                      </a:pPr>
                      <a:r>
                        <a:rPr lang="en-US" sz="1799">
                          <a:solidFill>
                            <a:srgbClr val="000000"/>
                          </a:solidFill>
                          <a:latin typeface="Proxima Nova"/>
                          <a:ea typeface="Proxima Nova"/>
                          <a:cs typeface="Proxima Nova"/>
                          <a:sym typeface="Proxima Nova"/>
                        </a:rPr>
                        <a:t>YrSold</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Proxima Nova"/>
                          <a:ea typeface="Proxima Nova"/>
                          <a:cs typeface="Proxima Nova"/>
                          <a:sym typeface="Proxima Nova"/>
                        </a:rPr>
                        <a:t>2007.77</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Proxima Nova"/>
                          <a:ea typeface="Proxima Nova"/>
                          <a:cs typeface="Proxima Nova"/>
                          <a:sym typeface="Proxima Nova"/>
                        </a:rPr>
                        <a:t>1.30</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Proxima Nova"/>
                          <a:ea typeface="Proxima Nova"/>
                          <a:cs typeface="Proxima Nova"/>
                          <a:sym typeface="Proxima Nova"/>
                        </a:rPr>
                        <a:t>2008</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Proxima Nova"/>
                          <a:ea typeface="Proxima Nova"/>
                          <a:cs typeface="Proxima Nova"/>
                          <a:sym typeface="Proxima Nova"/>
                        </a:rPr>
                        <a:t>2009</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a:solidFill>
                            <a:srgbClr val="000000"/>
                          </a:solidFill>
                          <a:latin typeface="Proxima Nova"/>
                          <a:ea typeface="Proxima Nova"/>
                          <a:cs typeface="Proxima Nova"/>
                          <a:sym typeface="Proxima Nova"/>
                        </a:rPr>
                        <a:t>2007</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9"/>
                        </a:lnSpc>
                        <a:defRPr/>
                      </a:pPr>
                      <a:r>
                        <a:rPr lang="en-US" sz="1400">
                          <a:solidFill>
                            <a:srgbClr val="000000"/>
                          </a:solidFill>
                          <a:latin typeface="Proxima Nova"/>
                          <a:ea typeface="Proxima Nova"/>
                          <a:cs typeface="Proxima Nova"/>
                          <a:sym typeface="Proxima Nova"/>
                        </a:rPr>
                        <a:t>2006 - 2010</a:t>
                      </a:r>
                      <a:endParaRPr lang="en-US" sz="1100"/>
                    </a:p>
                  </a:txBody>
                  <a:tcPr marL="0" marR="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Box 8"/>
          <p:cNvSpPr txBox="1"/>
          <p:nvPr/>
        </p:nvSpPr>
        <p:spPr>
          <a:xfrm>
            <a:off x="1348460" y="794619"/>
            <a:ext cx="4090854" cy="1051570"/>
          </a:xfrm>
          <a:prstGeom prst="rect">
            <a:avLst/>
          </a:prstGeom>
        </p:spPr>
        <p:txBody>
          <a:bodyPr wrap="square" lIns="0" tIns="0" rIns="0" bIns="0" rtlCol="0" anchor="t">
            <a:spAutoFit/>
          </a:bodyPr>
          <a:lstStyle/>
          <a:p>
            <a:pPr algn="l">
              <a:lnSpc>
                <a:spcPts val="8173"/>
              </a:lnSpc>
              <a:spcBef>
                <a:spcPct val="0"/>
              </a:spcBef>
            </a:pPr>
            <a:r>
              <a:rPr lang="en-US" sz="6986" dirty="0">
                <a:gradFill>
                  <a:gsLst>
                    <a:gs pos="0">
                      <a:srgbClr val="FF3131">
                        <a:alpha val="100000"/>
                      </a:srgbClr>
                    </a:gs>
                    <a:gs pos="100000">
                      <a:srgbClr val="FF914D">
                        <a:alpha val="100000"/>
                      </a:srgbClr>
                    </a:gs>
                  </a:gsLst>
                  <a:lin ang="0"/>
                </a:gradFill>
                <a:latin typeface="Calistoga"/>
                <a:ea typeface="Calistoga"/>
                <a:cs typeface="Calistoga"/>
                <a:sym typeface="Calistoga"/>
              </a:rPr>
              <a:t>2. Data</a:t>
            </a:r>
          </a:p>
        </p:txBody>
      </p:sp>
      <p:sp>
        <p:nvSpPr>
          <p:cNvPr id="9" name="TextBox 9"/>
          <p:cNvSpPr txBox="1"/>
          <p:nvPr/>
        </p:nvSpPr>
        <p:spPr>
          <a:xfrm>
            <a:off x="1231154" y="2927148"/>
            <a:ext cx="4208160" cy="436017"/>
          </a:xfrm>
          <a:prstGeom prst="rect">
            <a:avLst/>
          </a:prstGeom>
        </p:spPr>
        <p:txBody>
          <a:bodyPr wrap="square" lIns="0" tIns="0" rIns="0" bIns="0" rtlCol="0" anchor="t">
            <a:spAutoFit/>
          </a:bodyPr>
          <a:lstStyle/>
          <a:p>
            <a:pPr algn="ctr">
              <a:lnSpc>
                <a:spcPts val="3402"/>
              </a:lnSpc>
              <a:spcBef>
                <a:spcPct val="0"/>
              </a:spcBef>
            </a:pPr>
            <a:r>
              <a:rPr lang="en-US" sz="2908" dirty="0">
                <a:gradFill>
                  <a:gsLst>
                    <a:gs pos="0">
                      <a:srgbClr val="FF5757">
                        <a:alpha val="100000"/>
                      </a:srgbClr>
                    </a:gs>
                    <a:gs pos="100000">
                      <a:srgbClr val="8C52FF">
                        <a:alpha val="100000"/>
                      </a:srgbClr>
                    </a:gs>
                  </a:gsLst>
                  <a:lin ang="0"/>
                </a:gradFill>
                <a:latin typeface="Calistoga"/>
                <a:ea typeface="Calistoga"/>
                <a:cs typeface="Calistoga"/>
                <a:sym typeface="Calistoga"/>
              </a:rPr>
              <a:t>Ames Housing dataset</a:t>
            </a:r>
          </a:p>
        </p:txBody>
      </p:sp>
      <p:sp>
        <p:nvSpPr>
          <p:cNvPr id="10" name="TextBox 10"/>
          <p:cNvSpPr txBox="1"/>
          <p:nvPr/>
        </p:nvSpPr>
        <p:spPr>
          <a:xfrm>
            <a:off x="1641699" y="7116758"/>
            <a:ext cx="2542010" cy="326249"/>
          </a:xfrm>
          <a:prstGeom prst="rect">
            <a:avLst/>
          </a:prstGeom>
        </p:spPr>
        <p:txBody>
          <a:bodyPr lIns="0" tIns="0" rIns="0" bIns="0" rtlCol="0" anchor="t">
            <a:spAutoFit/>
          </a:bodyPr>
          <a:lstStyle/>
          <a:p>
            <a:pPr algn="ctr">
              <a:lnSpc>
                <a:spcPts val="2598"/>
              </a:lnSpc>
              <a:spcBef>
                <a:spcPct val="0"/>
              </a:spcBef>
            </a:pPr>
            <a:r>
              <a:rPr lang="en-US" sz="2220">
                <a:solidFill>
                  <a:srgbClr val="000000"/>
                </a:solidFill>
                <a:latin typeface="Calistoga"/>
                <a:ea typeface="Calistoga"/>
                <a:cs typeface="Calistoga"/>
                <a:sym typeface="Calistoga"/>
              </a:rPr>
              <a:t>data_description.txt</a:t>
            </a:r>
          </a:p>
        </p:txBody>
      </p:sp>
      <p:sp>
        <p:nvSpPr>
          <p:cNvPr id="11" name="TextBox 11"/>
          <p:cNvSpPr txBox="1"/>
          <p:nvPr/>
        </p:nvSpPr>
        <p:spPr>
          <a:xfrm>
            <a:off x="6286500" y="76200"/>
            <a:ext cx="5095875" cy="523875"/>
          </a:xfrm>
          <a:prstGeom prst="rect">
            <a:avLst/>
          </a:prstGeom>
        </p:spPr>
        <p:txBody>
          <a:bodyPr lIns="0" tIns="0" rIns="0" bIns="0" rtlCol="0" anchor="t">
            <a:spAutoFit/>
          </a:bodyPr>
          <a:lstStyle/>
          <a:p>
            <a:pPr algn="ctr">
              <a:lnSpc>
                <a:spcPts val="2815"/>
              </a:lnSpc>
              <a:spcBef>
                <a:spcPct val="0"/>
              </a:spcBef>
            </a:pPr>
            <a:r>
              <a:rPr lang="en-US" sz="2200">
                <a:gradFill>
                  <a:gsLst>
                    <a:gs pos="0">
                      <a:srgbClr val="FF5757">
                        <a:alpha val="100000"/>
                      </a:srgbClr>
                    </a:gs>
                    <a:gs pos="100000">
                      <a:srgbClr val="8C52FF">
                        <a:alpha val="100000"/>
                      </a:srgbClr>
                    </a:gs>
                  </a:gsLst>
                  <a:lin ang="0"/>
                </a:gradFill>
                <a:latin typeface="Calistoga"/>
                <a:ea typeface="Calistoga"/>
                <a:cs typeface="Calistoga"/>
                <a:sym typeface="Calistoga"/>
              </a:rPr>
              <a:t>Missing data in the training set</a:t>
            </a:r>
          </a:p>
        </p:txBody>
      </p:sp>
      <p:sp>
        <p:nvSpPr>
          <p:cNvPr id="12" name="TextBox 12"/>
          <p:cNvSpPr txBox="1"/>
          <p:nvPr/>
        </p:nvSpPr>
        <p:spPr>
          <a:xfrm>
            <a:off x="12239625" y="76200"/>
            <a:ext cx="5381625" cy="523875"/>
          </a:xfrm>
          <a:prstGeom prst="rect">
            <a:avLst/>
          </a:prstGeom>
        </p:spPr>
        <p:txBody>
          <a:bodyPr lIns="0" tIns="0" rIns="0" bIns="0" rtlCol="0" anchor="t">
            <a:spAutoFit/>
          </a:bodyPr>
          <a:lstStyle/>
          <a:p>
            <a:pPr algn="ctr">
              <a:lnSpc>
                <a:spcPts val="2815"/>
              </a:lnSpc>
              <a:spcBef>
                <a:spcPct val="0"/>
              </a:spcBef>
            </a:pPr>
            <a:r>
              <a:rPr lang="en-US" sz="2200">
                <a:gradFill>
                  <a:gsLst>
                    <a:gs pos="0">
                      <a:srgbClr val="FF5757">
                        <a:alpha val="100000"/>
                      </a:srgbClr>
                    </a:gs>
                    <a:gs pos="100000">
                      <a:srgbClr val="8C52FF">
                        <a:alpha val="100000"/>
                      </a:srgbClr>
                    </a:gs>
                  </a:gsLst>
                  <a:lin ang="0"/>
                </a:gradFill>
                <a:latin typeface="Calistoga"/>
                <a:ea typeface="Calistoga"/>
                <a:cs typeface="Calistoga"/>
                <a:sym typeface="Calistoga"/>
              </a:rPr>
              <a:t>Missing data in the test set</a:t>
            </a:r>
          </a:p>
        </p:txBody>
      </p:sp>
      <p:sp>
        <p:nvSpPr>
          <p:cNvPr id="13" name="TextBox 13"/>
          <p:cNvSpPr txBox="1"/>
          <p:nvPr/>
        </p:nvSpPr>
        <p:spPr>
          <a:xfrm>
            <a:off x="7848600" y="5295900"/>
            <a:ext cx="7531280" cy="346249"/>
          </a:xfrm>
          <a:prstGeom prst="rect">
            <a:avLst/>
          </a:prstGeom>
        </p:spPr>
        <p:txBody>
          <a:bodyPr wrap="square" lIns="0" tIns="0" rIns="0" bIns="0" rtlCol="0" anchor="t">
            <a:spAutoFit/>
          </a:bodyPr>
          <a:lstStyle/>
          <a:p>
            <a:pPr algn="ctr">
              <a:lnSpc>
                <a:spcPts val="2706"/>
              </a:lnSpc>
              <a:spcBef>
                <a:spcPct val="0"/>
              </a:spcBef>
            </a:pPr>
            <a:r>
              <a:rPr lang="en-US" sz="2313" dirty="0">
                <a:gradFill>
                  <a:gsLst>
                    <a:gs pos="0">
                      <a:srgbClr val="FF5757">
                        <a:alpha val="100000"/>
                      </a:srgbClr>
                    </a:gs>
                    <a:gs pos="100000">
                      <a:srgbClr val="8C52FF">
                        <a:alpha val="100000"/>
                      </a:srgbClr>
                    </a:gs>
                  </a:gsLst>
                  <a:lin ang="0"/>
                </a:gradFill>
                <a:latin typeface="Calistoga"/>
                <a:ea typeface="Calistoga"/>
                <a:cs typeface="Calistoga"/>
                <a:sym typeface="Calistoga"/>
              </a:rPr>
              <a:t>Descriptive statistics for numerical characteristics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344215" y="2757583"/>
          <a:ext cx="4423189" cy="4603962"/>
        </p:xfrm>
        <a:graphic>
          <a:graphicData uri="http://schemas.openxmlformats.org/drawingml/2006/table">
            <a:tbl>
              <a:tblPr/>
              <a:tblGrid>
                <a:gridCol w="607764">
                  <a:extLst>
                    <a:ext uri="{9D8B030D-6E8A-4147-A177-3AD203B41FA5}">
                      <a16:colId xmlns:a16="http://schemas.microsoft.com/office/drawing/2014/main" val="20000"/>
                    </a:ext>
                  </a:extLst>
                </a:gridCol>
                <a:gridCol w="1227006">
                  <a:extLst>
                    <a:ext uri="{9D8B030D-6E8A-4147-A177-3AD203B41FA5}">
                      <a16:colId xmlns:a16="http://schemas.microsoft.com/office/drawing/2014/main" val="20001"/>
                    </a:ext>
                  </a:extLst>
                </a:gridCol>
                <a:gridCol w="1329178">
                  <a:extLst>
                    <a:ext uri="{9D8B030D-6E8A-4147-A177-3AD203B41FA5}">
                      <a16:colId xmlns:a16="http://schemas.microsoft.com/office/drawing/2014/main" val="20002"/>
                    </a:ext>
                  </a:extLst>
                </a:gridCol>
                <a:gridCol w="1259241">
                  <a:extLst>
                    <a:ext uri="{9D8B030D-6E8A-4147-A177-3AD203B41FA5}">
                      <a16:colId xmlns:a16="http://schemas.microsoft.com/office/drawing/2014/main" val="20003"/>
                    </a:ext>
                  </a:extLst>
                </a:gridCol>
              </a:tblGrid>
              <a:tr h="418542">
                <a:tc>
                  <a:txBody>
                    <a:bodyPr/>
                    <a:lstStyle/>
                    <a:p>
                      <a:pPr algn="ctr">
                        <a:lnSpc>
                          <a:spcPts val="2100"/>
                        </a:lnSpc>
                        <a:defRPr/>
                      </a:pPr>
                      <a:r>
                        <a:rPr lang="en-US" sz="1500" b="1">
                          <a:solidFill>
                            <a:srgbClr val="000000"/>
                          </a:solidFill>
                          <a:latin typeface="Proxima Nova Bold"/>
                          <a:ea typeface="Proxima Nova Bold"/>
                          <a:cs typeface="Proxima Nova Bold"/>
                          <a:sym typeface="Proxima Nova Bold"/>
                        </a:rPr>
                        <a:t>No.</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b="1">
                          <a:solidFill>
                            <a:srgbClr val="000000"/>
                          </a:solidFill>
                          <a:latin typeface="Proxima Nova Bold"/>
                          <a:ea typeface="Proxima Nova Bold"/>
                          <a:cs typeface="Proxima Nova Bold"/>
                          <a:sym typeface="Proxima Nova Bold"/>
                        </a:rPr>
                        <a:t>GarageType</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b="1">
                          <a:solidFill>
                            <a:srgbClr val="000000"/>
                          </a:solidFill>
                          <a:latin typeface="Proxima Nova Bold"/>
                          <a:ea typeface="Proxima Nova Bold"/>
                          <a:cs typeface="Proxima Nova Bold"/>
                          <a:sym typeface="Proxima Nova Bold"/>
                        </a:rPr>
                        <a:t>GarageFinish</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b="1">
                          <a:solidFill>
                            <a:srgbClr val="000000"/>
                          </a:solidFill>
                          <a:latin typeface="Proxima Nova Bold"/>
                          <a:ea typeface="Proxima Nova Bold"/>
                          <a:cs typeface="Proxima Nova Bold"/>
                          <a:sym typeface="Proxima Nova Bold"/>
                        </a:rPr>
                        <a:t>GarageYrBlt</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18542">
                <a:tc>
                  <a:txBody>
                    <a:bodyPr/>
                    <a:lstStyle/>
                    <a:p>
                      <a:pPr algn="ctr">
                        <a:lnSpc>
                          <a:spcPts val="2100"/>
                        </a:lnSpc>
                        <a:defRPr/>
                      </a:pPr>
                      <a:r>
                        <a:rPr lang="en-US" sz="1500">
                          <a:solidFill>
                            <a:srgbClr val="000000"/>
                          </a:solidFill>
                          <a:latin typeface="Proxima Nova"/>
                          <a:ea typeface="Proxima Nova"/>
                          <a:cs typeface="Proxima Nova"/>
                          <a:sym typeface="Proxima Nova"/>
                        </a:rPr>
                        <a:t>1</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Arimo"/>
                          <a:ea typeface="Arimo"/>
                          <a:cs typeface="Arimo"/>
                          <a:sym typeface="Arimo"/>
                        </a:rPr>
                        <a:t>BuiltIn</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Fin</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1995</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18542">
                <a:tc>
                  <a:txBody>
                    <a:bodyPr/>
                    <a:lstStyle/>
                    <a:p>
                      <a:pPr algn="ctr">
                        <a:lnSpc>
                          <a:spcPts val="2100"/>
                        </a:lnSpc>
                        <a:defRPr/>
                      </a:pPr>
                      <a:r>
                        <a:rPr lang="en-US" sz="1500">
                          <a:solidFill>
                            <a:srgbClr val="000000"/>
                          </a:solidFill>
                          <a:latin typeface="Proxima Nova"/>
                          <a:ea typeface="Proxima Nova"/>
                          <a:cs typeface="Proxima Nova"/>
                          <a:sym typeface="Proxima Nova"/>
                        </a:rPr>
                        <a:t>2</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Attchd</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Unf</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1991</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18542">
                <a:tc>
                  <a:txBody>
                    <a:bodyPr/>
                    <a:lstStyle/>
                    <a:p>
                      <a:pPr algn="ctr">
                        <a:lnSpc>
                          <a:spcPts val="2100"/>
                        </a:lnSpc>
                        <a:defRPr/>
                      </a:pPr>
                      <a:r>
                        <a:rPr lang="en-US" sz="1500">
                          <a:solidFill>
                            <a:srgbClr val="000000"/>
                          </a:solidFill>
                          <a:latin typeface="Proxima Nova"/>
                          <a:ea typeface="Proxima Nova"/>
                          <a:cs typeface="Proxima Nova"/>
                          <a:sym typeface="Proxima Nova"/>
                        </a:rPr>
                        <a:t>3</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BuiltIn</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Fin</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2005</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18542">
                <a:tc>
                  <a:txBody>
                    <a:bodyPr/>
                    <a:lstStyle/>
                    <a:p>
                      <a:pPr algn="ctr">
                        <a:lnSpc>
                          <a:spcPts val="2100"/>
                        </a:lnSpc>
                        <a:defRPr/>
                      </a:pPr>
                      <a:r>
                        <a:rPr lang="en-US" sz="1500">
                          <a:solidFill>
                            <a:srgbClr val="000000"/>
                          </a:solidFill>
                          <a:latin typeface="Proxima Nova"/>
                          <a:ea typeface="Proxima Nova"/>
                          <a:cs typeface="Proxima Nova"/>
                          <a:sym typeface="Proxima Nova"/>
                        </a:rPr>
                        <a:t>4</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Detchd</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RFn</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2009</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18542">
                <a:tc>
                  <a:txBody>
                    <a:bodyPr/>
                    <a:lstStyle/>
                    <a:p>
                      <a:pPr algn="ctr">
                        <a:lnSpc>
                          <a:spcPts val="2100"/>
                        </a:lnSpc>
                        <a:defRPr/>
                      </a:pPr>
                      <a:r>
                        <a:rPr lang="en-US" sz="1500">
                          <a:solidFill>
                            <a:srgbClr val="000000"/>
                          </a:solidFill>
                          <a:latin typeface="Proxima Nova"/>
                          <a:ea typeface="Proxima Nova"/>
                          <a:cs typeface="Proxima Nova"/>
                          <a:sym typeface="Proxima Nova"/>
                        </a:rPr>
                        <a:t>5</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NA</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NA</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NA</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18542">
                <a:tc>
                  <a:txBody>
                    <a:bodyPr/>
                    <a:lstStyle/>
                    <a:p>
                      <a:pPr algn="ctr">
                        <a:lnSpc>
                          <a:spcPts val="2100"/>
                        </a:lnSpc>
                        <a:defRPr/>
                      </a:pPr>
                      <a:r>
                        <a:rPr lang="en-US" sz="1500">
                          <a:solidFill>
                            <a:srgbClr val="000000"/>
                          </a:solidFill>
                          <a:latin typeface="Proxima Nova"/>
                          <a:ea typeface="Proxima Nova"/>
                          <a:cs typeface="Proxima Nova"/>
                          <a:sym typeface="Proxima Nova"/>
                        </a:rPr>
                        <a:t>6</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NA</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NA</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NA</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18542">
                <a:tc>
                  <a:txBody>
                    <a:bodyPr/>
                    <a:lstStyle/>
                    <a:p>
                      <a:pPr algn="ctr">
                        <a:lnSpc>
                          <a:spcPts val="2100"/>
                        </a:lnSpc>
                        <a:defRPr/>
                      </a:pPr>
                      <a:r>
                        <a:rPr lang="en-US" sz="1500">
                          <a:solidFill>
                            <a:srgbClr val="000000"/>
                          </a:solidFill>
                          <a:latin typeface="Proxima Nova"/>
                          <a:ea typeface="Proxima Nova"/>
                          <a:cs typeface="Proxima Nova"/>
                          <a:sym typeface="Proxima Nova"/>
                        </a:rPr>
                        <a:t>7</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Detchd</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Unf</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1950</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18542">
                <a:tc>
                  <a:txBody>
                    <a:bodyPr/>
                    <a:lstStyle/>
                    <a:p>
                      <a:pPr algn="ctr">
                        <a:lnSpc>
                          <a:spcPts val="2100"/>
                        </a:lnSpc>
                        <a:defRPr/>
                      </a:pPr>
                      <a:r>
                        <a:rPr lang="en-US" sz="1500">
                          <a:solidFill>
                            <a:srgbClr val="000000"/>
                          </a:solidFill>
                          <a:latin typeface="Proxima Nova"/>
                          <a:ea typeface="Proxima Nova"/>
                          <a:cs typeface="Proxima Nova"/>
                          <a:sym typeface="Proxima Nova"/>
                        </a:rPr>
                        <a:t>8</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Attchd</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Unf</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1961</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418542">
                <a:tc>
                  <a:txBody>
                    <a:bodyPr/>
                    <a:lstStyle/>
                    <a:p>
                      <a:pPr algn="ctr">
                        <a:lnSpc>
                          <a:spcPts val="2100"/>
                        </a:lnSpc>
                        <a:defRPr/>
                      </a:pPr>
                      <a:r>
                        <a:rPr lang="en-US" sz="1500">
                          <a:solidFill>
                            <a:srgbClr val="000000"/>
                          </a:solidFill>
                          <a:latin typeface="Proxima Nova"/>
                          <a:ea typeface="Proxima Nova"/>
                          <a:cs typeface="Proxima Nova"/>
                          <a:sym typeface="Proxima Nova"/>
                        </a:rPr>
                        <a:t>9</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Detchd</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Unf</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1921</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418542">
                <a:tc>
                  <a:txBody>
                    <a:bodyPr/>
                    <a:lstStyle/>
                    <a:p>
                      <a:pPr algn="ctr">
                        <a:lnSpc>
                          <a:spcPts val="2100"/>
                        </a:lnSpc>
                        <a:defRPr/>
                      </a:pPr>
                      <a:r>
                        <a:rPr lang="en-US" sz="1500">
                          <a:solidFill>
                            <a:srgbClr val="000000"/>
                          </a:solidFill>
                          <a:latin typeface="Proxima Nova"/>
                          <a:ea typeface="Proxima Nova"/>
                          <a:cs typeface="Proxima Nova"/>
                          <a:sym typeface="Proxima Nova"/>
                        </a:rPr>
                        <a:t>10</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Detchd</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Unf</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1900</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3" name="Freeform 3"/>
          <p:cNvSpPr/>
          <p:nvPr/>
        </p:nvSpPr>
        <p:spPr>
          <a:xfrm>
            <a:off x="15395028" y="5017895"/>
            <a:ext cx="1763180" cy="819506"/>
          </a:xfrm>
          <a:custGeom>
            <a:avLst/>
            <a:gdLst/>
            <a:ahLst/>
            <a:cxnLst/>
            <a:rect l="l" t="t" r="r" b="b"/>
            <a:pathLst>
              <a:path w="1763180" h="819506">
                <a:moveTo>
                  <a:pt x="0" y="0"/>
                </a:moveTo>
                <a:lnTo>
                  <a:pt x="1763180" y="0"/>
                </a:lnTo>
                <a:lnTo>
                  <a:pt x="1763180" y="819506"/>
                </a:lnTo>
                <a:lnTo>
                  <a:pt x="0" y="819506"/>
                </a:lnTo>
                <a:lnTo>
                  <a:pt x="0" y="0"/>
                </a:lnTo>
                <a:close/>
              </a:path>
            </a:pathLst>
          </a:custGeom>
          <a:blipFill>
            <a:blip r:embed="rId3"/>
            <a:stretch>
              <a:fillRect/>
            </a:stretch>
          </a:blipFill>
        </p:spPr>
      </p:sp>
      <p:sp>
        <p:nvSpPr>
          <p:cNvPr id="4" name="Freeform 4"/>
          <p:cNvSpPr/>
          <p:nvPr/>
        </p:nvSpPr>
        <p:spPr>
          <a:xfrm>
            <a:off x="6215244" y="5427648"/>
            <a:ext cx="1946680" cy="310814"/>
          </a:xfrm>
          <a:custGeom>
            <a:avLst/>
            <a:gdLst/>
            <a:ahLst/>
            <a:cxnLst/>
            <a:rect l="l" t="t" r="r" b="b"/>
            <a:pathLst>
              <a:path w="1946680" h="310814">
                <a:moveTo>
                  <a:pt x="0" y="0"/>
                </a:moveTo>
                <a:lnTo>
                  <a:pt x="1946680" y="0"/>
                </a:lnTo>
                <a:lnTo>
                  <a:pt x="1946680" y="310814"/>
                </a:lnTo>
                <a:lnTo>
                  <a:pt x="0" y="310814"/>
                </a:lnTo>
                <a:lnTo>
                  <a:pt x="0" y="0"/>
                </a:lnTo>
                <a:close/>
              </a:path>
            </a:pathLst>
          </a:custGeom>
          <a:blipFill>
            <a:blip r:embed="rId4"/>
            <a:stretch>
              <a:fillRect/>
            </a:stretch>
          </a:blipFill>
        </p:spPr>
      </p:sp>
      <p:graphicFrame>
        <p:nvGraphicFramePr>
          <p:cNvPr id="5" name="Table 5"/>
          <p:cNvGraphicFramePr>
            <a:graphicFrameLocks noGrp="1"/>
          </p:cNvGraphicFramePr>
          <p:nvPr/>
        </p:nvGraphicFramePr>
        <p:xfrm>
          <a:off x="9609763" y="4398804"/>
          <a:ext cx="4423189" cy="4603962"/>
        </p:xfrm>
        <a:graphic>
          <a:graphicData uri="http://schemas.openxmlformats.org/drawingml/2006/table">
            <a:tbl>
              <a:tblPr/>
              <a:tblGrid>
                <a:gridCol w="607764">
                  <a:extLst>
                    <a:ext uri="{9D8B030D-6E8A-4147-A177-3AD203B41FA5}">
                      <a16:colId xmlns:a16="http://schemas.microsoft.com/office/drawing/2014/main" val="20000"/>
                    </a:ext>
                  </a:extLst>
                </a:gridCol>
                <a:gridCol w="1227006">
                  <a:extLst>
                    <a:ext uri="{9D8B030D-6E8A-4147-A177-3AD203B41FA5}">
                      <a16:colId xmlns:a16="http://schemas.microsoft.com/office/drawing/2014/main" val="20001"/>
                    </a:ext>
                  </a:extLst>
                </a:gridCol>
                <a:gridCol w="1329178">
                  <a:extLst>
                    <a:ext uri="{9D8B030D-6E8A-4147-A177-3AD203B41FA5}">
                      <a16:colId xmlns:a16="http://schemas.microsoft.com/office/drawing/2014/main" val="20002"/>
                    </a:ext>
                  </a:extLst>
                </a:gridCol>
                <a:gridCol w="1259241">
                  <a:extLst>
                    <a:ext uri="{9D8B030D-6E8A-4147-A177-3AD203B41FA5}">
                      <a16:colId xmlns:a16="http://schemas.microsoft.com/office/drawing/2014/main" val="20003"/>
                    </a:ext>
                  </a:extLst>
                </a:gridCol>
              </a:tblGrid>
              <a:tr h="418542">
                <a:tc>
                  <a:txBody>
                    <a:bodyPr/>
                    <a:lstStyle/>
                    <a:p>
                      <a:pPr algn="ctr">
                        <a:lnSpc>
                          <a:spcPts val="2100"/>
                        </a:lnSpc>
                        <a:defRPr/>
                      </a:pPr>
                      <a:r>
                        <a:rPr lang="en-US" sz="1500" b="1">
                          <a:solidFill>
                            <a:srgbClr val="000000"/>
                          </a:solidFill>
                          <a:latin typeface="Proxima Nova Bold"/>
                          <a:ea typeface="Proxima Nova Bold"/>
                          <a:cs typeface="Proxima Nova Bold"/>
                          <a:sym typeface="Proxima Nova Bold"/>
                        </a:rPr>
                        <a:t>No.</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b="1">
                          <a:solidFill>
                            <a:srgbClr val="000000"/>
                          </a:solidFill>
                          <a:latin typeface="Proxima Nova Bold"/>
                          <a:ea typeface="Proxima Nova Bold"/>
                          <a:cs typeface="Proxima Nova Bold"/>
                          <a:sym typeface="Proxima Nova Bold"/>
                        </a:rPr>
                        <a:t>GarageType</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b="1">
                          <a:solidFill>
                            <a:srgbClr val="000000"/>
                          </a:solidFill>
                          <a:latin typeface="Proxima Nova Bold"/>
                          <a:ea typeface="Proxima Nova Bold"/>
                          <a:cs typeface="Proxima Nova Bold"/>
                          <a:sym typeface="Proxima Nova Bold"/>
                        </a:rPr>
                        <a:t>GarageFinish</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b="1">
                          <a:solidFill>
                            <a:srgbClr val="000000"/>
                          </a:solidFill>
                          <a:latin typeface="Proxima Nova Bold"/>
                          <a:ea typeface="Proxima Nova Bold"/>
                          <a:cs typeface="Proxima Nova Bold"/>
                          <a:sym typeface="Proxima Nova Bold"/>
                        </a:rPr>
                        <a:t>GarageYrBlt</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18542">
                <a:tc>
                  <a:txBody>
                    <a:bodyPr/>
                    <a:lstStyle/>
                    <a:p>
                      <a:pPr algn="ctr">
                        <a:lnSpc>
                          <a:spcPts val="2100"/>
                        </a:lnSpc>
                        <a:defRPr/>
                      </a:pPr>
                      <a:r>
                        <a:rPr lang="en-US" sz="1500">
                          <a:solidFill>
                            <a:srgbClr val="000000"/>
                          </a:solidFill>
                          <a:latin typeface="Proxima Nova"/>
                          <a:ea typeface="Proxima Nova"/>
                          <a:cs typeface="Proxima Nova"/>
                          <a:sym typeface="Proxima Nova"/>
                        </a:rPr>
                        <a:t>1</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Arimo"/>
                          <a:ea typeface="Arimo"/>
                          <a:cs typeface="Arimo"/>
                          <a:sym typeface="Arimo"/>
                        </a:rPr>
                        <a:t>BuiltIn</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Fin</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1995</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18542">
                <a:tc>
                  <a:txBody>
                    <a:bodyPr/>
                    <a:lstStyle/>
                    <a:p>
                      <a:pPr algn="ctr">
                        <a:lnSpc>
                          <a:spcPts val="2100"/>
                        </a:lnSpc>
                        <a:defRPr/>
                      </a:pPr>
                      <a:r>
                        <a:rPr lang="en-US" sz="1500">
                          <a:solidFill>
                            <a:srgbClr val="000000"/>
                          </a:solidFill>
                          <a:latin typeface="Proxima Nova"/>
                          <a:ea typeface="Proxima Nova"/>
                          <a:cs typeface="Proxima Nova"/>
                          <a:sym typeface="Proxima Nova"/>
                        </a:rPr>
                        <a:t>2</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Attchd</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Unf</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1991</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18542">
                <a:tc>
                  <a:txBody>
                    <a:bodyPr/>
                    <a:lstStyle/>
                    <a:p>
                      <a:pPr algn="ctr">
                        <a:lnSpc>
                          <a:spcPts val="2100"/>
                        </a:lnSpc>
                        <a:defRPr/>
                      </a:pPr>
                      <a:r>
                        <a:rPr lang="en-US" sz="1500">
                          <a:solidFill>
                            <a:srgbClr val="000000"/>
                          </a:solidFill>
                          <a:latin typeface="Proxima Nova"/>
                          <a:ea typeface="Proxima Nova"/>
                          <a:cs typeface="Proxima Nova"/>
                          <a:sym typeface="Proxima Nova"/>
                        </a:rPr>
                        <a:t>3</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BuiltIn</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Fin</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2005</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18542">
                <a:tc>
                  <a:txBody>
                    <a:bodyPr/>
                    <a:lstStyle/>
                    <a:p>
                      <a:pPr algn="ctr">
                        <a:lnSpc>
                          <a:spcPts val="2100"/>
                        </a:lnSpc>
                        <a:defRPr/>
                      </a:pPr>
                      <a:r>
                        <a:rPr lang="en-US" sz="1500">
                          <a:solidFill>
                            <a:srgbClr val="000000"/>
                          </a:solidFill>
                          <a:latin typeface="Proxima Nova"/>
                          <a:ea typeface="Proxima Nova"/>
                          <a:cs typeface="Proxima Nova"/>
                          <a:sym typeface="Proxima Nova"/>
                        </a:rPr>
                        <a:t>4</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dirty="0" err="1">
                          <a:solidFill>
                            <a:srgbClr val="000000"/>
                          </a:solidFill>
                          <a:latin typeface="Proxima Nova"/>
                          <a:ea typeface="Proxima Nova"/>
                          <a:cs typeface="Proxima Nova"/>
                          <a:sym typeface="Proxima Nova"/>
                        </a:rPr>
                        <a:t>Detchd</a:t>
                      </a:r>
                      <a:endParaRPr lang="en-US" sz="1100" dirty="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RFn</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2009</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18542">
                <a:tc>
                  <a:txBody>
                    <a:bodyPr/>
                    <a:lstStyle/>
                    <a:p>
                      <a:pPr algn="ctr">
                        <a:lnSpc>
                          <a:spcPts val="2100"/>
                        </a:lnSpc>
                        <a:defRPr/>
                      </a:pPr>
                      <a:r>
                        <a:rPr lang="en-US" sz="1500" b="1">
                          <a:solidFill>
                            <a:srgbClr val="000000"/>
                          </a:solidFill>
                          <a:latin typeface="Proxima Nova Bold"/>
                          <a:ea typeface="Proxima Nova Bold"/>
                          <a:cs typeface="Proxima Nova Bold"/>
                          <a:sym typeface="Proxima Nova Bold"/>
                        </a:rPr>
                        <a:t>5</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b="1">
                          <a:solidFill>
                            <a:srgbClr val="00BF63"/>
                          </a:solidFill>
                          <a:latin typeface="Proxima Nova Bold"/>
                          <a:ea typeface="Proxima Nova Bold"/>
                          <a:cs typeface="Proxima Nova Bold"/>
                          <a:sym typeface="Proxima Nova Bold"/>
                        </a:rPr>
                        <a:t>Detchd</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b="1">
                          <a:solidFill>
                            <a:srgbClr val="5E17EB"/>
                          </a:solidFill>
                          <a:latin typeface="Proxima Nova Bold"/>
                          <a:ea typeface="Proxima Nova Bold"/>
                          <a:cs typeface="Proxima Nova Bold"/>
                          <a:sym typeface="Proxima Nova Bold"/>
                        </a:rPr>
                        <a:t>Unf</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b="1">
                          <a:solidFill>
                            <a:srgbClr val="FF3131"/>
                          </a:solidFill>
                          <a:latin typeface="Proxima Nova Bold"/>
                          <a:ea typeface="Proxima Nova Bold"/>
                          <a:cs typeface="Proxima Nova Bold"/>
                          <a:sym typeface="Proxima Nova Bold"/>
                        </a:rPr>
                        <a:t>1966.5</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18542">
                <a:tc>
                  <a:txBody>
                    <a:bodyPr/>
                    <a:lstStyle/>
                    <a:p>
                      <a:pPr algn="ctr">
                        <a:lnSpc>
                          <a:spcPts val="2100"/>
                        </a:lnSpc>
                        <a:defRPr/>
                      </a:pPr>
                      <a:r>
                        <a:rPr lang="en-US" sz="1500" b="1">
                          <a:solidFill>
                            <a:srgbClr val="000000"/>
                          </a:solidFill>
                          <a:latin typeface="Proxima Nova Bold"/>
                          <a:ea typeface="Proxima Nova Bold"/>
                          <a:cs typeface="Proxima Nova Bold"/>
                          <a:sym typeface="Proxima Nova Bold"/>
                        </a:rPr>
                        <a:t>6</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b="1">
                          <a:solidFill>
                            <a:srgbClr val="00BF63"/>
                          </a:solidFill>
                          <a:latin typeface="Proxima Nova Bold"/>
                          <a:ea typeface="Proxima Nova Bold"/>
                          <a:cs typeface="Proxima Nova Bold"/>
                          <a:sym typeface="Proxima Nova Bold"/>
                        </a:rPr>
                        <a:t>Detchd</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b="1">
                          <a:solidFill>
                            <a:srgbClr val="5E17EB"/>
                          </a:solidFill>
                          <a:latin typeface="Proxima Nova Bold"/>
                          <a:ea typeface="Proxima Nova Bold"/>
                          <a:cs typeface="Proxima Nova Bold"/>
                          <a:sym typeface="Proxima Nova Bold"/>
                        </a:rPr>
                        <a:t>Unf</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b="1">
                          <a:solidFill>
                            <a:srgbClr val="FF3131"/>
                          </a:solidFill>
                          <a:latin typeface="Proxima Nova Bold"/>
                          <a:ea typeface="Proxima Nova Bold"/>
                          <a:cs typeface="Proxima Nova Bold"/>
                          <a:sym typeface="Proxima Nova Bold"/>
                        </a:rPr>
                        <a:t>1966.5</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18542">
                <a:tc>
                  <a:txBody>
                    <a:bodyPr/>
                    <a:lstStyle/>
                    <a:p>
                      <a:pPr algn="ctr">
                        <a:lnSpc>
                          <a:spcPts val="2100"/>
                        </a:lnSpc>
                        <a:defRPr/>
                      </a:pPr>
                      <a:r>
                        <a:rPr lang="en-US" sz="1500">
                          <a:solidFill>
                            <a:srgbClr val="000000"/>
                          </a:solidFill>
                          <a:latin typeface="Proxima Nova"/>
                          <a:ea typeface="Proxima Nova"/>
                          <a:cs typeface="Proxima Nova"/>
                          <a:sym typeface="Proxima Nova"/>
                        </a:rPr>
                        <a:t>7</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Detchd</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Unf</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1950</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18542">
                <a:tc>
                  <a:txBody>
                    <a:bodyPr/>
                    <a:lstStyle/>
                    <a:p>
                      <a:pPr algn="ctr">
                        <a:lnSpc>
                          <a:spcPts val="2100"/>
                        </a:lnSpc>
                        <a:defRPr/>
                      </a:pPr>
                      <a:r>
                        <a:rPr lang="en-US" sz="1500">
                          <a:solidFill>
                            <a:srgbClr val="000000"/>
                          </a:solidFill>
                          <a:latin typeface="Proxima Nova"/>
                          <a:ea typeface="Proxima Nova"/>
                          <a:cs typeface="Proxima Nova"/>
                          <a:sym typeface="Proxima Nova"/>
                        </a:rPr>
                        <a:t>8</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Attchd</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Unf</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1961</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418542">
                <a:tc>
                  <a:txBody>
                    <a:bodyPr/>
                    <a:lstStyle/>
                    <a:p>
                      <a:pPr algn="ctr">
                        <a:lnSpc>
                          <a:spcPts val="2100"/>
                        </a:lnSpc>
                        <a:defRPr/>
                      </a:pPr>
                      <a:r>
                        <a:rPr lang="en-US" sz="1500">
                          <a:solidFill>
                            <a:srgbClr val="000000"/>
                          </a:solidFill>
                          <a:latin typeface="Proxima Nova"/>
                          <a:ea typeface="Proxima Nova"/>
                          <a:cs typeface="Proxima Nova"/>
                          <a:sym typeface="Proxima Nova"/>
                        </a:rPr>
                        <a:t>9</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Detchd</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Unf</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1921</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418542">
                <a:tc>
                  <a:txBody>
                    <a:bodyPr/>
                    <a:lstStyle/>
                    <a:p>
                      <a:pPr algn="ctr">
                        <a:lnSpc>
                          <a:spcPts val="2100"/>
                        </a:lnSpc>
                        <a:defRPr/>
                      </a:pPr>
                      <a:r>
                        <a:rPr lang="en-US" sz="1500">
                          <a:solidFill>
                            <a:srgbClr val="000000"/>
                          </a:solidFill>
                          <a:latin typeface="Proxima Nova"/>
                          <a:ea typeface="Proxima Nova"/>
                          <a:cs typeface="Proxima Nova"/>
                          <a:sym typeface="Proxima Nova"/>
                        </a:rPr>
                        <a:t>10</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Proxima Nova"/>
                          <a:ea typeface="Proxima Nova"/>
                          <a:cs typeface="Proxima Nova"/>
                          <a:sym typeface="Proxima Nova"/>
                        </a:rPr>
                        <a:t>Detchd</a:t>
                      </a:r>
                      <a:endParaRPr lang="en-US" sz="110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dirty="0" err="1">
                          <a:solidFill>
                            <a:srgbClr val="000000"/>
                          </a:solidFill>
                          <a:latin typeface="Proxima Nova"/>
                          <a:ea typeface="Proxima Nova"/>
                          <a:cs typeface="Proxima Nova"/>
                          <a:sym typeface="Proxima Nova"/>
                        </a:rPr>
                        <a:t>Unf</a:t>
                      </a:r>
                      <a:endParaRPr lang="en-US" sz="1100" dirty="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dirty="0">
                          <a:solidFill>
                            <a:srgbClr val="000000"/>
                          </a:solidFill>
                          <a:latin typeface="Proxima Nova"/>
                          <a:ea typeface="Proxima Nova"/>
                          <a:cs typeface="Proxima Nova"/>
                          <a:sym typeface="Proxima Nova"/>
                        </a:rPr>
                        <a:t>1900</a:t>
                      </a:r>
                      <a:endParaRPr lang="en-US" sz="1100" dirty="0"/>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6" name="AutoShape 6"/>
          <p:cNvSpPr/>
          <p:nvPr/>
        </p:nvSpPr>
        <p:spPr>
          <a:xfrm>
            <a:off x="7188584" y="5738462"/>
            <a:ext cx="2421179" cy="962323"/>
          </a:xfrm>
          <a:prstGeom prst="line">
            <a:avLst/>
          </a:prstGeom>
          <a:ln w="28575" cap="flat">
            <a:solidFill>
              <a:srgbClr val="FF751F"/>
            </a:solidFill>
            <a:prstDash val="solid"/>
            <a:headEnd type="none" w="sm" len="sm"/>
            <a:tailEnd type="none" w="sm" len="sm"/>
          </a:ln>
        </p:spPr>
      </p:sp>
      <p:sp>
        <p:nvSpPr>
          <p:cNvPr id="7" name="AutoShape 7"/>
          <p:cNvSpPr/>
          <p:nvPr/>
        </p:nvSpPr>
        <p:spPr>
          <a:xfrm>
            <a:off x="7188584" y="5738462"/>
            <a:ext cx="2421179" cy="1378834"/>
          </a:xfrm>
          <a:prstGeom prst="line">
            <a:avLst/>
          </a:prstGeom>
          <a:ln w="28575" cap="flat">
            <a:solidFill>
              <a:srgbClr val="FF751F"/>
            </a:solidFill>
            <a:prstDash val="solid"/>
            <a:headEnd type="none" w="sm" len="sm"/>
            <a:tailEnd type="none" w="sm" len="sm"/>
          </a:ln>
        </p:spPr>
      </p:sp>
      <p:sp>
        <p:nvSpPr>
          <p:cNvPr id="8" name="AutoShape 8"/>
          <p:cNvSpPr/>
          <p:nvPr/>
        </p:nvSpPr>
        <p:spPr>
          <a:xfrm flipH="1">
            <a:off x="14032953" y="5837401"/>
            <a:ext cx="2243665" cy="863385"/>
          </a:xfrm>
          <a:prstGeom prst="line">
            <a:avLst/>
          </a:prstGeom>
          <a:ln w="28575" cap="flat">
            <a:solidFill>
              <a:srgbClr val="FF1E0F"/>
            </a:solidFill>
            <a:prstDash val="solid"/>
            <a:headEnd type="none" w="sm" len="sm"/>
            <a:tailEnd type="none" w="sm" len="sm"/>
          </a:ln>
        </p:spPr>
      </p:sp>
      <p:sp>
        <p:nvSpPr>
          <p:cNvPr id="9" name="Freeform 9"/>
          <p:cNvSpPr/>
          <p:nvPr/>
        </p:nvSpPr>
        <p:spPr>
          <a:xfrm>
            <a:off x="14278477" y="6700786"/>
            <a:ext cx="3755142" cy="573153"/>
          </a:xfrm>
          <a:custGeom>
            <a:avLst/>
            <a:gdLst/>
            <a:ahLst/>
            <a:cxnLst/>
            <a:rect l="l" t="t" r="r" b="b"/>
            <a:pathLst>
              <a:path w="3755142" h="573153">
                <a:moveTo>
                  <a:pt x="0" y="0"/>
                </a:moveTo>
                <a:lnTo>
                  <a:pt x="3755142" y="0"/>
                </a:lnTo>
                <a:lnTo>
                  <a:pt x="3755142" y="573153"/>
                </a:lnTo>
                <a:lnTo>
                  <a:pt x="0" y="573153"/>
                </a:lnTo>
                <a:lnTo>
                  <a:pt x="0" y="0"/>
                </a:lnTo>
                <a:close/>
              </a:path>
            </a:pathLst>
          </a:custGeom>
          <a:blipFill>
            <a:blip r:embed="rId5"/>
            <a:stretch>
              <a:fillRect/>
            </a:stretch>
          </a:blipFill>
        </p:spPr>
      </p:sp>
      <p:sp>
        <p:nvSpPr>
          <p:cNvPr id="10" name="AutoShape 10"/>
          <p:cNvSpPr/>
          <p:nvPr/>
        </p:nvSpPr>
        <p:spPr>
          <a:xfrm flipH="1">
            <a:off x="14032953" y="5837401"/>
            <a:ext cx="2243665" cy="1253484"/>
          </a:xfrm>
          <a:prstGeom prst="line">
            <a:avLst/>
          </a:prstGeom>
          <a:ln w="28575" cap="flat">
            <a:solidFill>
              <a:srgbClr val="FF1E0F"/>
            </a:solidFill>
            <a:prstDash val="solid"/>
            <a:headEnd type="none" w="sm" len="sm"/>
            <a:tailEnd type="none" w="sm" len="sm"/>
          </a:ln>
        </p:spPr>
      </p:sp>
      <p:sp>
        <p:nvSpPr>
          <p:cNvPr id="11" name="Freeform 11"/>
          <p:cNvSpPr/>
          <p:nvPr/>
        </p:nvSpPr>
        <p:spPr>
          <a:xfrm>
            <a:off x="4571722" y="7392858"/>
            <a:ext cx="5038041" cy="1899357"/>
          </a:xfrm>
          <a:custGeom>
            <a:avLst/>
            <a:gdLst/>
            <a:ahLst/>
            <a:cxnLst/>
            <a:rect l="l" t="t" r="r" b="b"/>
            <a:pathLst>
              <a:path w="5038041" h="1899357">
                <a:moveTo>
                  <a:pt x="0" y="0"/>
                </a:moveTo>
                <a:quadBezTo>
                  <a:pt x="1634807" y="3078070"/>
                  <a:pt x="5038041" y="1167864"/>
                </a:quadBezTo>
              </a:path>
            </a:pathLst>
          </a:custGeom>
          <a:ln w="76200" cap="flat">
            <a:solidFill>
              <a:srgbClr val="C66344"/>
            </a:solidFill>
            <a:prstDash val="solid"/>
            <a:headEnd type="none" w="sm" len="sm"/>
            <a:tailEnd type="arrow" w="med" len="sm"/>
          </a:ln>
        </p:spPr>
      </p:sp>
      <p:sp>
        <p:nvSpPr>
          <p:cNvPr id="13" name="Freeform 13"/>
          <p:cNvSpPr/>
          <p:nvPr/>
        </p:nvSpPr>
        <p:spPr>
          <a:xfrm>
            <a:off x="8161924" y="3468108"/>
            <a:ext cx="1588566" cy="1418457"/>
          </a:xfrm>
          <a:custGeom>
            <a:avLst/>
            <a:gdLst/>
            <a:ahLst/>
            <a:cxnLst/>
            <a:rect l="l" t="t" r="r" b="b"/>
            <a:pathLst>
              <a:path w="1588566" h="1418457">
                <a:moveTo>
                  <a:pt x="0" y="0"/>
                </a:moveTo>
                <a:lnTo>
                  <a:pt x="1588566" y="0"/>
                </a:lnTo>
                <a:lnTo>
                  <a:pt x="1588566" y="1418457"/>
                </a:lnTo>
                <a:lnTo>
                  <a:pt x="0" y="1418457"/>
                </a:lnTo>
                <a:lnTo>
                  <a:pt x="0" y="0"/>
                </a:lnTo>
                <a:close/>
              </a:path>
            </a:pathLst>
          </a:custGeom>
          <a:blipFill>
            <a:blip r:embed="rId6"/>
            <a:stretch>
              <a:fillRect/>
            </a:stretch>
          </a:blipFill>
        </p:spPr>
      </p:sp>
      <p:sp>
        <p:nvSpPr>
          <p:cNvPr id="14" name="TextBox 14"/>
          <p:cNvSpPr txBox="1"/>
          <p:nvPr/>
        </p:nvSpPr>
        <p:spPr>
          <a:xfrm>
            <a:off x="14620875" y="4429125"/>
            <a:ext cx="3524250" cy="666750"/>
          </a:xfrm>
          <a:prstGeom prst="rect">
            <a:avLst/>
          </a:prstGeom>
        </p:spPr>
        <p:txBody>
          <a:bodyPr lIns="0" tIns="0" rIns="0" bIns="0" rtlCol="0" anchor="t">
            <a:spAutoFit/>
          </a:bodyPr>
          <a:lstStyle/>
          <a:p>
            <a:pPr algn="l">
              <a:lnSpc>
                <a:spcPts val="2687"/>
              </a:lnSpc>
              <a:spcBef>
                <a:spcPct val="0"/>
              </a:spcBef>
            </a:pPr>
            <a:r>
              <a:rPr lang="en-US" sz="2300" b="1" i="1">
                <a:solidFill>
                  <a:srgbClr val="AC593D"/>
                </a:solidFill>
                <a:latin typeface="Proxima Nova Bold Italics"/>
                <a:ea typeface="Proxima Nova Bold Italics"/>
                <a:cs typeface="Proxima Nova Bold Italics"/>
                <a:sym typeface="Proxima Nova Bold Italics"/>
              </a:rPr>
              <a:t>Numerical imputation</a:t>
            </a:r>
          </a:p>
        </p:txBody>
      </p:sp>
      <p:sp>
        <p:nvSpPr>
          <p:cNvPr id="15" name="TextBox 15"/>
          <p:cNvSpPr txBox="1"/>
          <p:nvPr/>
        </p:nvSpPr>
        <p:spPr>
          <a:xfrm>
            <a:off x="5099924" y="4853048"/>
            <a:ext cx="4286250" cy="336475"/>
          </a:xfrm>
          <a:prstGeom prst="rect">
            <a:avLst/>
          </a:prstGeom>
        </p:spPr>
        <p:txBody>
          <a:bodyPr lIns="0" tIns="0" rIns="0" bIns="0" rtlCol="0" anchor="t">
            <a:spAutoFit/>
          </a:bodyPr>
          <a:lstStyle/>
          <a:p>
            <a:pPr marL="0" lvl="0" indent="0" algn="l">
              <a:lnSpc>
                <a:spcPts val="2687"/>
              </a:lnSpc>
              <a:spcBef>
                <a:spcPct val="0"/>
              </a:spcBef>
            </a:pPr>
            <a:r>
              <a:rPr lang="en-US" sz="2200" b="1" i="1" u="none" strike="noStrike" dirty="0">
                <a:solidFill>
                  <a:srgbClr val="AC593D"/>
                </a:solidFill>
                <a:latin typeface="Proxima Nova Bold Italics"/>
                <a:ea typeface="Proxima Nova Bold Italics"/>
                <a:cs typeface="Proxima Nova Bold Italics"/>
                <a:sym typeface="Proxima Nova Bold Italics"/>
              </a:rPr>
              <a:t>Categorical imputation</a:t>
            </a:r>
          </a:p>
        </p:txBody>
      </p:sp>
      <p:sp>
        <p:nvSpPr>
          <p:cNvPr id="16" name="TextBox 16"/>
          <p:cNvSpPr txBox="1"/>
          <p:nvPr/>
        </p:nvSpPr>
        <p:spPr>
          <a:xfrm>
            <a:off x="809625" y="2000250"/>
            <a:ext cx="4095750" cy="476250"/>
          </a:xfrm>
          <a:prstGeom prst="rect">
            <a:avLst/>
          </a:prstGeom>
        </p:spPr>
        <p:txBody>
          <a:bodyPr lIns="0" tIns="0" rIns="0" bIns="0" rtlCol="0" anchor="t">
            <a:spAutoFit/>
          </a:bodyPr>
          <a:lstStyle/>
          <a:p>
            <a:pPr algn="l">
              <a:lnSpc>
                <a:spcPts val="2980"/>
              </a:lnSpc>
              <a:spcBef>
                <a:spcPct val="0"/>
              </a:spcBef>
            </a:pPr>
            <a:r>
              <a:rPr lang="en-US" sz="2300" b="1" i="1">
                <a:solidFill>
                  <a:srgbClr val="AC593D"/>
                </a:solidFill>
                <a:latin typeface="Proxima Nova Bold Italics"/>
                <a:ea typeface="Proxima Nova Bold Italics"/>
                <a:cs typeface="Proxima Nova Bold Italics"/>
                <a:sym typeface="Proxima Nova Bold Italics"/>
              </a:rPr>
              <a:t>Before imputation</a:t>
            </a:r>
          </a:p>
        </p:txBody>
      </p:sp>
      <p:sp>
        <p:nvSpPr>
          <p:cNvPr id="17" name="TextBox 17"/>
          <p:cNvSpPr txBox="1"/>
          <p:nvPr/>
        </p:nvSpPr>
        <p:spPr>
          <a:xfrm>
            <a:off x="6191250" y="7096125"/>
            <a:ext cx="3333750" cy="428625"/>
          </a:xfrm>
          <a:prstGeom prst="rect">
            <a:avLst/>
          </a:prstGeom>
        </p:spPr>
        <p:txBody>
          <a:bodyPr lIns="0" tIns="0" rIns="0" bIns="0" rtlCol="0" anchor="t">
            <a:spAutoFit/>
          </a:bodyPr>
          <a:lstStyle/>
          <a:p>
            <a:pPr algn="ctr">
              <a:lnSpc>
                <a:spcPts val="1808"/>
              </a:lnSpc>
              <a:spcBef>
                <a:spcPct val="0"/>
              </a:spcBef>
            </a:pPr>
            <a:r>
              <a:rPr lang="en-US" sz="1600" b="1" i="1" dirty="0">
                <a:solidFill>
                  <a:srgbClr val="5E17EB"/>
                </a:solidFill>
                <a:latin typeface="Proxima Nova Bold Italics"/>
                <a:ea typeface="Proxima Nova Bold Italics"/>
                <a:cs typeface="Proxima Nova Bold Italics"/>
                <a:sym typeface="Proxima Nova Bold Italics"/>
              </a:rPr>
              <a:t>Mode(</a:t>
            </a:r>
            <a:r>
              <a:rPr lang="en-US" sz="1600" b="1" i="1" dirty="0" err="1">
                <a:solidFill>
                  <a:srgbClr val="5E17EB"/>
                </a:solidFill>
                <a:latin typeface="Proxima Nova Bold Italics"/>
                <a:ea typeface="Proxima Nova Bold Italics"/>
                <a:cs typeface="Proxima Nova Bold Italics"/>
                <a:sym typeface="Proxima Nova Bold Italics"/>
              </a:rPr>
              <a:t>GarageFinish</a:t>
            </a:r>
            <a:r>
              <a:rPr lang="en-US" sz="1600" b="1" i="1" dirty="0">
                <a:solidFill>
                  <a:srgbClr val="5E17EB"/>
                </a:solidFill>
                <a:latin typeface="Proxima Nova Bold Italics"/>
                <a:ea typeface="Proxima Nova Bold Italics"/>
                <a:cs typeface="Proxima Nova Bold Italics"/>
                <a:sym typeface="Proxima Nova Bold Italics"/>
              </a:rPr>
              <a:t>) = </a:t>
            </a:r>
            <a:r>
              <a:rPr lang="en-US" sz="1600" b="1" i="1" dirty="0" err="1">
                <a:solidFill>
                  <a:srgbClr val="5E17EB"/>
                </a:solidFill>
                <a:latin typeface="Proxima Nova Bold Italics"/>
                <a:ea typeface="Proxima Nova Bold Italics"/>
                <a:cs typeface="Proxima Nova Bold Italics"/>
                <a:sym typeface="Proxima Nova Bold Italics"/>
              </a:rPr>
              <a:t>Unf</a:t>
            </a:r>
            <a:endParaRPr lang="en-US" sz="1600" b="1" i="1" dirty="0">
              <a:solidFill>
                <a:srgbClr val="5E17EB"/>
              </a:solidFill>
              <a:latin typeface="Proxima Nova Bold Italics"/>
              <a:ea typeface="Proxima Nova Bold Italics"/>
              <a:cs typeface="Proxima Nova Bold Italics"/>
              <a:sym typeface="Proxima Nova Bold Italics"/>
            </a:endParaRPr>
          </a:p>
        </p:txBody>
      </p:sp>
      <p:sp>
        <p:nvSpPr>
          <p:cNvPr id="18" name="TextBox 18"/>
          <p:cNvSpPr txBox="1"/>
          <p:nvPr/>
        </p:nvSpPr>
        <p:spPr>
          <a:xfrm>
            <a:off x="6257398" y="6713833"/>
            <a:ext cx="2628446" cy="230832"/>
          </a:xfrm>
          <a:prstGeom prst="rect">
            <a:avLst/>
          </a:prstGeom>
        </p:spPr>
        <p:txBody>
          <a:bodyPr wrap="square" lIns="0" tIns="0" rIns="0" bIns="0" rtlCol="0" anchor="t">
            <a:spAutoFit/>
          </a:bodyPr>
          <a:lstStyle/>
          <a:p>
            <a:pPr algn="ctr">
              <a:lnSpc>
                <a:spcPts val="1770"/>
              </a:lnSpc>
              <a:spcBef>
                <a:spcPct val="0"/>
              </a:spcBef>
            </a:pPr>
            <a:r>
              <a:rPr lang="en-US" sz="1512" b="1" i="1" dirty="0">
                <a:solidFill>
                  <a:srgbClr val="00BF63"/>
                </a:solidFill>
                <a:latin typeface="Proxima Nova Bold Italics"/>
                <a:ea typeface="Proxima Nova Bold Italics"/>
                <a:cs typeface="Proxima Nova Bold Italics"/>
                <a:sym typeface="Proxima Nova Bold Italics"/>
              </a:rPr>
              <a:t>Mode(</a:t>
            </a:r>
            <a:r>
              <a:rPr lang="en-US" sz="1512" b="1" i="1" dirty="0" err="1">
                <a:solidFill>
                  <a:srgbClr val="00BF63"/>
                </a:solidFill>
                <a:latin typeface="Proxima Nova Bold Italics"/>
                <a:ea typeface="Proxima Nova Bold Italics"/>
                <a:cs typeface="Proxima Nova Bold Italics"/>
                <a:sym typeface="Proxima Nova Bold Italics"/>
              </a:rPr>
              <a:t>GarageType</a:t>
            </a:r>
            <a:r>
              <a:rPr lang="en-US" sz="1512" b="1" i="1" dirty="0">
                <a:solidFill>
                  <a:srgbClr val="00BF63"/>
                </a:solidFill>
                <a:latin typeface="Proxima Nova Bold Italics"/>
                <a:ea typeface="Proxima Nova Bold Italics"/>
                <a:cs typeface="Proxima Nova Bold Italics"/>
                <a:sym typeface="Proxima Nova Bold Italics"/>
              </a:rPr>
              <a:t>) = </a:t>
            </a:r>
            <a:r>
              <a:rPr lang="en-US" sz="1512" b="1" i="1" dirty="0" err="1">
                <a:solidFill>
                  <a:srgbClr val="00BF63"/>
                </a:solidFill>
                <a:latin typeface="Proxima Nova Bold Italics"/>
                <a:ea typeface="Proxima Nova Bold Italics"/>
                <a:cs typeface="Proxima Nova Bold Italics"/>
                <a:sym typeface="Proxima Nova Bold Italics"/>
              </a:rPr>
              <a:t>Detchd</a:t>
            </a:r>
            <a:endParaRPr lang="en-US" sz="1512" b="1" i="1" dirty="0">
              <a:solidFill>
                <a:srgbClr val="00BF63"/>
              </a:solidFill>
              <a:latin typeface="Proxima Nova Bold Italics"/>
              <a:ea typeface="Proxima Nova Bold Italics"/>
              <a:cs typeface="Proxima Nova Bold Italics"/>
              <a:sym typeface="Proxima Nova Bold Italics"/>
            </a:endParaRPr>
          </a:p>
        </p:txBody>
      </p:sp>
      <p:sp>
        <p:nvSpPr>
          <p:cNvPr id="19" name="Freeform 19"/>
          <p:cNvSpPr/>
          <p:nvPr/>
        </p:nvSpPr>
        <p:spPr>
          <a:xfrm flipH="1">
            <a:off x="13086389" y="3132712"/>
            <a:ext cx="1611676" cy="1439092"/>
          </a:xfrm>
          <a:custGeom>
            <a:avLst/>
            <a:gdLst/>
            <a:ahLst/>
            <a:cxnLst/>
            <a:rect l="l" t="t" r="r" b="b"/>
            <a:pathLst>
              <a:path w="1611676" h="1439092">
                <a:moveTo>
                  <a:pt x="1611676" y="0"/>
                </a:moveTo>
                <a:lnTo>
                  <a:pt x="0" y="0"/>
                </a:lnTo>
                <a:lnTo>
                  <a:pt x="0" y="1439092"/>
                </a:lnTo>
                <a:lnTo>
                  <a:pt x="1611676" y="1439092"/>
                </a:lnTo>
                <a:lnTo>
                  <a:pt x="1611676" y="0"/>
                </a:lnTo>
                <a:close/>
              </a:path>
            </a:pathLst>
          </a:custGeom>
          <a:blipFill>
            <a:blip r:embed="rId6"/>
            <a:stretch>
              <a:fillRect/>
            </a:stretch>
          </a:blipFill>
        </p:spPr>
      </p:sp>
      <p:sp>
        <p:nvSpPr>
          <p:cNvPr id="20" name="TextBox 20"/>
          <p:cNvSpPr txBox="1"/>
          <p:nvPr/>
        </p:nvSpPr>
        <p:spPr>
          <a:xfrm>
            <a:off x="6334125" y="8477250"/>
            <a:ext cx="3095625" cy="523875"/>
          </a:xfrm>
          <a:prstGeom prst="rect">
            <a:avLst/>
          </a:prstGeom>
        </p:spPr>
        <p:txBody>
          <a:bodyPr lIns="0" tIns="0" rIns="0" bIns="0" rtlCol="0" anchor="t">
            <a:spAutoFit/>
          </a:bodyPr>
          <a:lstStyle/>
          <a:p>
            <a:pPr algn="l">
              <a:lnSpc>
                <a:spcPts val="2500"/>
              </a:lnSpc>
              <a:spcBef>
                <a:spcPct val="0"/>
              </a:spcBef>
            </a:pPr>
            <a:r>
              <a:rPr lang="en-US" sz="2300" b="1">
                <a:solidFill>
                  <a:srgbClr val="000000"/>
                </a:solidFill>
                <a:latin typeface="Proxima Nova Bold"/>
                <a:ea typeface="Proxima Nova Bold"/>
                <a:cs typeface="Proxima Nova Bold"/>
                <a:sym typeface="Proxima Nova Bold"/>
              </a:rPr>
              <a:t>After imputation</a:t>
            </a:r>
          </a:p>
        </p:txBody>
      </p:sp>
      <p:sp>
        <p:nvSpPr>
          <p:cNvPr id="21" name="TextBox 21"/>
          <p:cNvSpPr txBox="1"/>
          <p:nvPr/>
        </p:nvSpPr>
        <p:spPr>
          <a:xfrm>
            <a:off x="4916997" y="606282"/>
            <a:ext cx="8454005" cy="872034"/>
          </a:xfrm>
          <a:prstGeom prst="rect">
            <a:avLst/>
          </a:prstGeom>
        </p:spPr>
        <p:txBody>
          <a:bodyPr wrap="square" lIns="0" tIns="0" rIns="0" bIns="0" rtlCol="0" anchor="t">
            <a:spAutoFit/>
          </a:bodyPr>
          <a:lstStyle/>
          <a:p>
            <a:pPr algn="ctr">
              <a:lnSpc>
                <a:spcPts val="6805"/>
              </a:lnSpc>
              <a:spcBef>
                <a:spcPct val="0"/>
              </a:spcBef>
            </a:pPr>
            <a:r>
              <a:rPr lang="en-US" sz="5816" dirty="0">
                <a:gradFill>
                  <a:gsLst>
                    <a:gs pos="0">
                      <a:srgbClr val="FF3131">
                        <a:alpha val="100000"/>
                      </a:srgbClr>
                    </a:gs>
                    <a:gs pos="100000">
                      <a:srgbClr val="FF914D">
                        <a:alpha val="100000"/>
                      </a:srgbClr>
                    </a:gs>
                  </a:gsLst>
                  <a:lin ang="0"/>
                </a:gradFill>
                <a:latin typeface="Calistoga"/>
                <a:ea typeface="Calistoga"/>
                <a:cs typeface="Calistoga"/>
                <a:sym typeface="Calistoga"/>
              </a:rPr>
              <a:t>3. Data Preprocessing</a:t>
            </a:r>
          </a:p>
        </p:txBody>
      </p:sp>
      <p:sp>
        <p:nvSpPr>
          <p:cNvPr id="502" name="English ">
            <a:extLst>
              <a:ext uri="{FF2B5EF4-FFF2-40B4-BE49-F238E27FC236}">
                <a16:creationId xmlns:a16="http://schemas.microsoft.com/office/drawing/2014/main" id="{BB7A1371-482F-4D92-9CAA-34E00EA09086}"/>
              </a:ext>
            </a:extLst>
          </p:cNvPr>
          <p:cNvSpPr>
            <a:spLocks noGrp="1"/>
          </p:cNvSpPr>
          <p:nvPr/>
        </p:nvSpPr>
        <p:spPr>
          <a:xfrm>
            <a:off x="9715500" y="2524125"/>
            <a:ext cx="4333875" cy="1619250"/>
          </a:xfrm>
          <a:prstGeom prst="rect">
            <a:avLst/>
          </a:prstGeom>
          <a:noFill/>
          <a:ln w="0">
            <a:noFill/>
          </a:ln>
        </p:spPr>
        <p:txBody>
          <a:bodyPr>
            <a:noAutofit/>
          </a:bodyPr>
          <a:lstStyle/>
          <a:p>
            <a:pPr>
              <a:defRPr sz="1875" b="0">
                <a:solidFill>
                  <a:srgbClr val="222222"/>
                </a:solidFill>
                <a:latin typeface="Arial"/>
                <a:ea typeface="Arial"/>
                <a:cs typeface="Arial"/>
              </a:defRPr>
            </a:pPr>
            <a:r>
              <a:rPr sz="1875" b="0">
                <a:solidFill>
                  <a:srgbClr val="222222"/>
                </a:solidFill>
                <a:latin typeface="Arial"/>
                <a:ea typeface="Arial"/>
                <a:cs typeface="Arial"/>
              </a:rPr>
              <a:t>Where:</a:t>
            </a:r>
          </a:p>
          <a:p>
            <a:pPr>
              <a:defRPr sz="1875" b="0">
                <a:solidFill>
                  <a:srgbClr val="222222"/>
                </a:solidFill>
                <a:latin typeface="Arial"/>
                <a:ea typeface="Arial"/>
                <a:cs typeface="Arial"/>
              </a:defRPr>
            </a:pPr>
            <a:r>
              <a:rPr sz="1875" b="0">
                <a:solidFill>
                  <a:srgbClr val="222222"/>
                </a:solidFill>
                <a:latin typeface="Arial"/>
                <a:ea typeface="Arial"/>
                <a:cs typeface="Arial"/>
              </a:rPr>
              <a:t>yᵢ: missing value to be imputed</a:t>
            </a:r>
          </a:p>
          <a:p>
            <a:pPr>
              <a:defRPr sz="1875" b="0">
                <a:solidFill>
                  <a:srgbClr val="222222"/>
                </a:solidFill>
                <a:latin typeface="Arial"/>
                <a:ea typeface="Arial"/>
                <a:cs typeface="Arial"/>
              </a:defRPr>
            </a:pPr>
            <a:r>
              <a:rPr sz="1875" b="0">
                <a:solidFill>
                  <a:srgbClr val="222222"/>
                </a:solidFill>
                <a:latin typeface="Arial"/>
                <a:ea typeface="Arial"/>
                <a:cs typeface="Arial"/>
              </a:rPr>
              <a:t>yⱼ: observed value</a:t>
            </a:r>
          </a:p>
          <a:p>
            <a:pPr>
              <a:defRPr sz="1875" b="0">
                <a:solidFill>
                  <a:srgbClr val="222222"/>
                </a:solidFill>
                <a:latin typeface="Arial"/>
                <a:ea typeface="Arial"/>
                <a:cs typeface="Arial"/>
              </a:defRPr>
            </a:pPr>
            <a:r>
              <a:rPr sz="1875" b="0">
                <a:solidFill>
                  <a:srgbClr val="222222"/>
                </a:solidFill>
                <a:latin typeface="Arial"/>
                <a:ea typeface="Arial"/>
                <a:cs typeface="Arial"/>
              </a:rPr>
              <a:t>n: number of observed values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571243" y="1487208"/>
            <a:ext cx="9865948" cy="5748372"/>
          </a:xfrm>
          <a:custGeom>
            <a:avLst/>
            <a:gdLst/>
            <a:ahLst/>
            <a:cxnLst/>
            <a:rect l="l" t="t" r="r" b="b"/>
            <a:pathLst>
              <a:path w="9865948" h="5748372">
                <a:moveTo>
                  <a:pt x="0" y="0"/>
                </a:moveTo>
                <a:lnTo>
                  <a:pt x="9865948" y="0"/>
                </a:lnTo>
                <a:lnTo>
                  <a:pt x="9865948" y="5748372"/>
                </a:lnTo>
                <a:lnTo>
                  <a:pt x="0" y="5748372"/>
                </a:lnTo>
                <a:lnTo>
                  <a:pt x="0" y="0"/>
                </a:lnTo>
                <a:close/>
              </a:path>
            </a:pathLst>
          </a:custGeom>
          <a:blipFill>
            <a:blip r:embed="rId3"/>
            <a:stretch>
              <a:fillRect/>
            </a:stretch>
          </a:blipFill>
        </p:spPr>
      </p:sp>
      <p:sp>
        <p:nvSpPr>
          <p:cNvPr id="3" name="Freeform 3"/>
          <p:cNvSpPr/>
          <p:nvPr/>
        </p:nvSpPr>
        <p:spPr>
          <a:xfrm>
            <a:off x="619125" y="5619750"/>
            <a:ext cx="666750" cy="457200"/>
          </a:xfrm>
          <a:custGeom>
            <a:avLst/>
            <a:gdLst/>
            <a:ahLst/>
            <a:cxnLst/>
            <a:rect l="l" t="t" r="r" b="b"/>
            <a:pathLst>
              <a:path w="3315213" h="2237769">
                <a:moveTo>
                  <a:pt x="0" y="0"/>
                </a:moveTo>
                <a:lnTo>
                  <a:pt x="3315213" y="0"/>
                </a:lnTo>
                <a:lnTo>
                  <a:pt x="3315213" y="2237769"/>
                </a:lnTo>
                <a:lnTo>
                  <a:pt x="0" y="223776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235569" y="3547842"/>
            <a:ext cx="152340" cy="1324693"/>
          </a:xfrm>
          <a:custGeom>
            <a:avLst/>
            <a:gdLst/>
            <a:ahLst/>
            <a:cxnLst/>
            <a:rect l="l" t="t" r="r" b="b"/>
            <a:pathLst>
              <a:path w="152340" h="1324693">
                <a:moveTo>
                  <a:pt x="0" y="0"/>
                </a:moveTo>
                <a:lnTo>
                  <a:pt x="152339" y="0"/>
                </a:lnTo>
                <a:lnTo>
                  <a:pt x="152339" y="1324694"/>
                </a:lnTo>
                <a:lnTo>
                  <a:pt x="0" y="132469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aphicFrame>
        <p:nvGraphicFramePr>
          <p:cNvPr id="5" name="Table 5"/>
          <p:cNvGraphicFramePr>
            <a:graphicFrameLocks noGrp="1"/>
          </p:cNvGraphicFramePr>
          <p:nvPr/>
        </p:nvGraphicFramePr>
        <p:xfrm>
          <a:off x="1050610" y="7278552"/>
          <a:ext cx="5053221" cy="2418498"/>
        </p:xfrm>
        <a:graphic>
          <a:graphicData uri="http://schemas.openxmlformats.org/drawingml/2006/table">
            <a:tbl>
              <a:tblPr/>
              <a:tblGrid>
                <a:gridCol w="1684407">
                  <a:extLst>
                    <a:ext uri="{9D8B030D-6E8A-4147-A177-3AD203B41FA5}">
                      <a16:colId xmlns:a16="http://schemas.microsoft.com/office/drawing/2014/main" val="20000"/>
                    </a:ext>
                  </a:extLst>
                </a:gridCol>
                <a:gridCol w="1684407">
                  <a:extLst>
                    <a:ext uri="{9D8B030D-6E8A-4147-A177-3AD203B41FA5}">
                      <a16:colId xmlns:a16="http://schemas.microsoft.com/office/drawing/2014/main" val="20001"/>
                    </a:ext>
                  </a:extLst>
                </a:gridCol>
                <a:gridCol w="1684407">
                  <a:extLst>
                    <a:ext uri="{9D8B030D-6E8A-4147-A177-3AD203B41FA5}">
                      <a16:colId xmlns:a16="http://schemas.microsoft.com/office/drawing/2014/main" val="20002"/>
                    </a:ext>
                  </a:extLst>
                </a:gridCol>
              </a:tblGrid>
              <a:tr h="806166">
                <a:tc>
                  <a:txBody>
                    <a:bodyPr/>
                    <a:lstStyle/>
                    <a:p>
                      <a:pPr algn="ctr">
                        <a:lnSpc>
                          <a:spcPts val="2515"/>
                        </a:lnSpc>
                        <a:defRPr/>
                      </a:pPr>
                      <a:r>
                        <a:rPr lang="en-US" sz="1796" b="1">
                          <a:solidFill>
                            <a:srgbClr val="000000"/>
                          </a:solidFill>
                          <a:latin typeface="Proxima Nova Bold"/>
                          <a:ea typeface="Proxima Nova Bold"/>
                          <a:cs typeface="Proxima Nova Bold"/>
                          <a:sym typeface="Proxima Nova Bold"/>
                        </a:rPr>
                        <a:t>Dataset</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5"/>
                        </a:lnSpc>
                        <a:defRPr/>
                      </a:pPr>
                      <a:r>
                        <a:rPr lang="en-US" sz="1796" b="1">
                          <a:solidFill>
                            <a:srgbClr val="000000"/>
                          </a:solidFill>
                          <a:latin typeface="Proxima Nova Bold"/>
                          <a:ea typeface="Proxima Nova Bold"/>
                          <a:cs typeface="Proxima Nova Bold"/>
                          <a:sym typeface="Proxima Nova Bold"/>
                        </a:rPr>
                        <a:t>Rows</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5"/>
                        </a:lnSpc>
                        <a:defRPr/>
                      </a:pPr>
                      <a:r>
                        <a:rPr lang="en-US" sz="1796" b="1">
                          <a:solidFill>
                            <a:srgbClr val="000000"/>
                          </a:solidFill>
                          <a:latin typeface="Proxima Nova Bold"/>
                          <a:ea typeface="Proxima Nova Bold"/>
                          <a:cs typeface="Proxima Nova Bold"/>
                          <a:sym typeface="Proxima Nova Bold"/>
                        </a:rPr>
                        <a:t>Columns</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06166">
                <a:tc>
                  <a:txBody>
                    <a:bodyPr/>
                    <a:lstStyle/>
                    <a:p>
                      <a:pPr algn="ctr">
                        <a:lnSpc>
                          <a:spcPts val="2515"/>
                        </a:lnSpc>
                        <a:defRPr/>
                      </a:pPr>
                      <a:r>
                        <a:rPr lang="en-US" sz="1796">
                          <a:solidFill>
                            <a:srgbClr val="000000"/>
                          </a:solidFill>
                          <a:latin typeface="Proxima Nova"/>
                          <a:ea typeface="Proxima Nova"/>
                          <a:cs typeface="Proxima Nova"/>
                          <a:sym typeface="Proxima Nova"/>
                        </a:rPr>
                        <a:t>Train</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5"/>
                        </a:lnSpc>
                        <a:defRPr/>
                      </a:pPr>
                      <a:r>
                        <a:rPr lang="en-US" sz="1796">
                          <a:solidFill>
                            <a:srgbClr val="000000"/>
                          </a:solidFill>
                          <a:latin typeface="Proxima Nova"/>
                          <a:ea typeface="Proxima Nova"/>
                          <a:cs typeface="Proxima Nova"/>
                          <a:sym typeface="Proxima Nova"/>
                        </a:rPr>
                        <a:t>1460</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5"/>
                        </a:lnSpc>
                        <a:defRPr/>
                      </a:pPr>
                      <a:r>
                        <a:rPr lang="en-US" sz="1796">
                          <a:solidFill>
                            <a:srgbClr val="000000"/>
                          </a:solidFill>
                          <a:latin typeface="Proxima Nova"/>
                          <a:ea typeface="Proxima Nova"/>
                          <a:cs typeface="Proxima Nova"/>
                          <a:sym typeface="Proxima Nova"/>
                        </a:rPr>
                        <a:t>76</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06166">
                <a:tc>
                  <a:txBody>
                    <a:bodyPr/>
                    <a:lstStyle/>
                    <a:p>
                      <a:pPr algn="ctr">
                        <a:lnSpc>
                          <a:spcPts val="2515"/>
                        </a:lnSpc>
                        <a:defRPr/>
                      </a:pPr>
                      <a:r>
                        <a:rPr lang="en-US" sz="1796">
                          <a:solidFill>
                            <a:srgbClr val="000000"/>
                          </a:solidFill>
                          <a:latin typeface="Proxima Nova"/>
                          <a:ea typeface="Proxima Nova"/>
                          <a:cs typeface="Proxima Nova"/>
                          <a:sym typeface="Proxima Nova"/>
                        </a:rPr>
                        <a:t>Test</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5"/>
                        </a:lnSpc>
                        <a:defRPr/>
                      </a:pPr>
                      <a:r>
                        <a:rPr lang="en-US" sz="1796">
                          <a:solidFill>
                            <a:srgbClr val="000000"/>
                          </a:solidFill>
                          <a:latin typeface="Proxima Nova"/>
                          <a:ea typeface="Proxima Nova"/>
                          <a:cs typeface="Proxima Nova"/>
                          <a:sym typeface="Proxima Nova"/>
                        </a:rPr>
                        <a:t>1459</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515"/>
                        </a:lnSpc>
                        <a:defRPr/>
                      </a:pPr>
                      <a:r>
                        <a:rPr lang="en-US" sz="1796">
                          <a:solidFill>
                            <a:srgbClr val="000000"/>
                          </a:solidFill>
                          <a:latin typeface="Proxima Nova"/>
                          <a:ea typeface="Proxima Nova"/>
                          <a:cs typeface="Proxima Nova"/>
                          <a:sym typeface="Proxima Nova"/>
                        </a:rPr>
                        <a:t>75</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 name="Freeform 6"/>
          <p:cNvSpPr/>
          <p:nvPr/>
        </p:nvSpPr>
        <p:spPr>
          <a:xfrm rot="6229123">
            <a:off x="6170684" y="6862209"/>
            <a:ext cx="2801118" cy="2380950"/>
          </a:xfrm>
          <a:custGeom>
            <a:avLst/>
            <a:gdLst/>
            <a:ahLst/>
            <a:cxnLst/>
            <a:rect l="l" t="t" r="r" b="b"/>
            <a:pathLst>
              <a:path w="2801118" h="2380950">
                <a:moveTo>
                  <a:pt x="0" y="0"/>
                </a:moveTo>
                <a:lnTo>
                  <a:pt x="2801118" y="0"/>
                </a:lnTo>
                <a:lnTo>
                  <a:pt x="2801118" y="2380950"/>
                </a:lnTo>
                <a:lnTo>
                  <a:pt x="0" y="238095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TextBox 7"/>
          <p:cNvSpPr txBox="1"/>
          <p:nvPr/>
        </p:nvSpPr>
        <p:spPr>
          <a:xfrm>
            <a:off x="4572000" y="360057"/>
            <a:ext cx="7669113" cy="872034"/>
          </a:xfrm>
          <a:prstGeom prst="rect">
            <a:avLst/>
          </a:prstGeom>
        </p:spPr>
        <p:txBody>
          <a:bodyPr wrap="square" lIns="0" tIns="0" rIns="0" bIns="0" rtlCol="0" anchor="t">
            <a:spAutoFit/>
          </a:bodyPr>
          <a:lstStyle/>
          <a:p>
            <a:pPr algn="ctr">
              <a:lnSpc>
                <a:spcPts val="6805"/>
              </a:lnSpc>
              <a:spcBef>
                <a:spcPct val="0"/>
              </a:spcBef>
            </a:pPr>
            <a:r>
              <a:rPr lang="en-US" sz="5816" dirty="0">
                <a:gradFill>
                  <a:gsLst>
                    <a:gs pos="0">
                      <a:srgbClr val="FF3131">
                        <a:alpha val="100000"/>
                      </a:srgbClr>
                    </a:gs>
                    <a:gs pos="100000">
                      <a:srgbClr val="FF914D">
                        <a:alpha val="100000"/>
                      </a:srgbClr>
                    </a:gs>
                  </a:gsLst>
                  <a:lin ang="0"/>
                </a:gradFill>
                <a:latin typeface="Calistoga"/>
                <a:ea typeface="Calistoga"/>
                <a:cs typeface="Calistoga"/>
                <a:sym typeface="Calistoga"/>
              </a:rPr>
              <a:t>3. Data Preprocessing</a:t>
            </a:r>
          </a:p>
        </p:txBody>
      </p:sp>
      <p:sp>
        <p:nvSpPr>
          <p:cNvPr id="8" name="TextBox 8"/>
          <p:cNvSpPr txBox="1"/>
          <p:nvPr/>
        </p:nvSpPr>
        <p:spPr>
          <a:xfrm>
            <a:off x="449182" y="1843741"/>
            <a:ext cx="5474426" cy="957710"/>
          </a:xfrm>
          <a:prstGeom prst="rect">
            <a:avLst/>
          </a:prstGeom>
        </p:spPr>
        <p:txBody>
          <a:bodyPr lIns="0" tIns="0" rIns="0" bIns="0" rtlCol="0" anchor="t">
            <a:spAutoFit/>
          </a:bodyPr>
          <a:lstStyle/>
          <a:p>
            <a:pPr algn="ctr">
              <a:lnSpc>
                <a:spcPts val="3790"/>
              </a:lnSpc>
              <a:spcBef>
                <a:spcPct val="0"/>
              </a:spcBef>
            </a:pPr>
            <a:r>
              <a:rPr lang="en-US" sz="3239">
                <a:gradFill>
                  <a:gsLst>
                    <a:gs pos="0">
                      <a:srgbClr val="004AAD">
                        <a:alpha val="100000"/>
                      </a:srgbClr>
                    </a:gs>
                    <a:gs pos="100000">
                      <a:srgbClr val="CB6CE6">
                        <a:alpha val="100000"/>
                      </a:srgbClr>
                    </a:gs>
                  </a:gsLst>
                  <a:lin ang="0"/>
                </a:gradFill>
                <a:latin typeface="Calistoga"/>
                <a:ea typeface="Calistoga"/>
                <a:cs typeface="Calistoga"/>
                <a:sym typeface="Calistoga"/>
              </a:rPr>
              <a:t>Remove columns with many missing values</a:t>
            </a:r>
          </a:p>
        </p:txBody>
      </p:sp>
      <p:sp>
        <p:nvSpPr>
          <p:cNvPr id="9" name="TextBox 9"/>
          <p:cNvSpPr txBox="1"/>
          <p:nvPr/>
        </p:nvSpPr>
        <p:spPr>
          <a:xfrm>
            <a:off x="1463181" y="3547842"/>
            <a:ext cx="3674040" cy="482476"/>
          </a:xfrm>
          <a:prstGeom prst="rect">
            <a:avLst/>
          </a:prstGeom>
        </p:spPr>
        <p:txBody>
          <a:bodyPr lIns="0" tIns="0" rIns="0" bIns="0" rtlCol="0" anchor="t">
            <a:spAutoFit/>
          </a:bodyPr>
          <a:lstStyle/>
          <a:p>
            <a:pPr algn="ctr">
              <a:lnSpc>
                <a:spcPts val="1912"/>
              </a:lnSpc>
              <a:spcBef>
                <a:spcPct val="0"/>
              </a:spcBef>
            </a:pPr>
            <a:r>
              <a:rPr lang="en-US" sz="1634">
                <a:solidFill>
                  <a:srgbClr val="000000"/>
                </a:solidFill>
                <a:latin typeface="Calistoga"/>
                <a:ea typeface="Calistoga"/>
                <a:cs typeface="Calistoga"/>
                <a:sym typeface="Calistoga"/>
              </a:rPr>
              <a:t>The rate of missing data is excessively high.</a:t>
            </a:r>
          </a:p>
        </p:txBody>
      </p:sp>
      <p:sp>
        <p:nvSpPr>
          <p:cNvPr id="10" name="TextBox 10"/>
          <p:cNvSpPr txBox="1"/>
          <p:nvPr/>
        </p:nvSpPr>
        <p:spPr>
          <a:xfrm>
            <a:off x="1469413" y="4680204"/>
            <a:ext cx="3341870" cy="463296"/>
          </a:xfrm>
          <a:prstGeom prst="rect">
            <a:avLst/>
          </a:prstGeom>
        </p:spPr>
        <p:txBody>
          <a:bodyPr lIns="0" tIns="0" rIns="0" bIns="0" rtlCol="0" anchor="t">
            <a:spAutoFit/>
          </a:bodyPr>
          <a:lstStyle/>
          <a:p>
            <a:pPr algn="ctr">
              <a:lnSpc>
                <a:spcPts val="1871"/>
              </a:lnSpc>
              <a:spcBef>
                <a:spcPct val="0"/>
              </a:spcBef>
            </a:pPr>
            <a:r>
              <a:rPr lang="en-US" sz="1599">
                <a:solidFill>
                  <a:srgbClr val="000000"/>
                </a:solidFill>
                <a:latin typeface="Calistoga"/>
                <a:ea typeface="Calistoga"/>
                <a:cs typeface="Calistoga"/>
                <a:sym typeface="Calistoga"/>
              </a:rPr>
              <a:t>Data that is not meaningful for the prediction process</a:t>
            </a:r>
          </a:p>
        </p:txBody>
      </p:sp>
      <p:sp>
        <p:nvSpPr>
          <p:cNvPr id="11" name="TextBox 11"/>
          <p:cNvSpPr txBox="1"/>
          <p:nvPr/>
        </p:nvSpPr>
        <p:spPr>
          <a:xfrm>
            <a:off x="9856952" y="7615214"/>
            <a:ext cx="6115462" cy="872588"/>
          </a:xfrm>
          <a:prstGeom prst="rect">
            <a:avLst/>
          </a:prstGeom>
        </p:spPr>
        <p:txBody>
          <a:bodyPr lIns="0" tIns="0" rIns="0" bIns="0" rtlCol="0" anchor="t">
            <a:spAutoFit/>
          </a:bodyPr>
          <a:lstStyle/>
          <a:p>
            <a:pPr algn="just">
              <a:lnSpc>
                <a:spcPts val="1785"/>
              </a:lnSpc>
              <a:spcBef>
                <a:spcPct val="0"/>
              </a:spcBef>
            </a:pPr>
            <a:r>
              <a:rPr lang="en-US" sz="1525">
                <a:solidFill>
                  <a:srgbClr val="FF1E0F"/>
                </a:solidFill>
                <a:latin typeface="Calistoga"/>
                <a:ea typeface="Calistoga"/>
                <a:cs typeface="Calistoga"/>
                <a:sym typeface="Calistoga"/>
              </a:rPr>
              <a:t>   Features with over 80% missing values in both datasets were excluded, specifically Alley, PoolQC, Fence, and MiscFeature. Furthermore, the Id column was dropped because it acts solely as a unique identifier</a:t>
            </a:r>
          </a:p>
        </p:txBody>
      </p:sp>
      <p:sp>
        <p:nvSpPr>
          <p:cNvPr id="12" name="TextBox 12"/>
          <p:cNvSpPr txBox="1"/>
          <p:nvPr/>
        </p:nvSpPr>
        <p:spPr>
          <a:xfrm>
            <a:off x="2095757" y="6651074"/>
            <a:ext cx="2962926" cy="384721"/>
          </a:xfrm>
          <a:prstGeom prst="rect">
            <a:avLst/>
          </a:prstGeom>
        </p:spPr>
        <p:txBody>
          <a:bodyPr wrap="square" lIns="0" tIns="0" rIns="0" bIns="0" rtlCol="0" anchor="t">
            <a:spAutoFit/>
          </a:bodyPr>
          <a:lstStyle/>
          <a:p>
            <a:pPr algn="ctr">
              <a:lnSpc>
                <a:spcPts val="2995"/>
              </a:lnSpc>
              <a:spcBef>
                <a:spcPct val="0"/>
              </a:spcBef>
            </a:pPr>
            <a:r>
              <a:rPr lang="en-US" sz="2560" dirty="0">
                <a:solidFill>
                  <a:srgbClr val="000000"/>
                </a:solidFill>
                <a:latin typeface="Calistoga"/>
                <a:ea typeface="Calistoga"/>
                <a:cs typeface="Calistoga"/>
                <a:sym typeface="Calistoga"/>
              </a:rPr>
              <a:t>pre-processed data</a:t>
            </a:r>
          </a:p>
        </p:txBody>
      </p:sp>
      <p:sp>
        <p:nvSpPr>
          <p:cNvPr id="507" name="English ">
            <a:extLst>
              <a:ext uri="{FF2B5EF4-FFF2-40B4-BE49-F238E27FC236}">
                <a16:creationId xmlns:a16="http://schemas.microsoft.com/office/drawing/2014/main" id="{E61D3887-DBFE-440F-AF78-C85B8759B28A}"/>
              </a:ext>
            </a:extLst>
          </p:cNvPr>
          <p:cNvSpPr>
            <a:spLocks noGrp="1"/>
          </p:cNvSpPr>
          <p:nvPr/>
        </p:nvSpPr>
        <p:spPr>
          <a:xfrm>
            <a:off x="9620250" y="1504950"/>
            <a:ext cx="6477000" cy="295275"/>
          </a:xfrm>
          <a:prstGeom prst="rect">
            <a:avLst/>
          </a:prstGeom>
          <a:solidFill>
            <a:srgbClr val="FFFFFF"/>
          </a:solidFill>
          <a:ln w="0">
            <a:noFill/>
          </a:ln>
        </p:spPr>
        <p:txBody>
          <a:bodyPr anchor="ctr">
            <a:noAutofit/>
          </a:bodyPr>
          <a:lstStyle/>
          <a:p>
            <a:pPr algn="ctr">
              <a:defRPr sz="1650" b="0">
                <a:solidFill>
                  <a:srgbClr val="222222"/>
                </a:solidFill>
                <a:latin typeface="Arial"/>
                <a:ea typeface="Arial"/>
                <a:cs typeface="Arial"/>
              </a:defRPr>
            </a:pPr>
            <a:r>
              <a:rPr sz="1650" b="0">
                <a:solidFill>
                  <a:srgbClr val="222222"/>
                </a:solidFill>
                <a:latin typeface="Arial"/>
                <a:ea typeface="Arial"/>
                <a:cs typeface="Arial"/>
              </a:rPr>
              <a:t>Total data and missing-value percentages</a:t>
            </a:r>
          </a:p>
        </p:txBody>
      </p:sp>
      <p:sp>
        <p:nvSpPr>
          <p:cNvPr id="502" name="English ">
            <a:extLst>
              <a:ext uri="{FF2B5EF4-FFF2-40B4-BE49-F238E27FC236}">
                <a16:creationId xmlns:a16="http://schemas.microsoft.com/office/drawing/2014/main" id="{6CECACE6-28D4-4B15-BD8D-B4F5E1A477C5}"/>
              </a:ext>
            </a:extLst>
          </p:cNvPr>
          <p:cNvSpPr>
            <a:spLocks noGrp="1"/>
          </p:cNvSpPr>
          <p:nvPr/>
        </p:nvSpPr>
        <p:spPr>
          <a:xfrm>
            <a:off x="7543800" y="3695700"/>
            <a:ext cx="342900" cy="1276350"/>
          </a:xfrm>
          <a:prstGeom prst="rect">
            <a:avLst/>
          </a:prstGeom>
          <a:solidFill>
            <a:srgbClr val="FFFFFF"/>
          </a:solidFill>
          <a:ln w="0">
            <a:noFill/>
          </a:ln>
        </p:spPr>
        <p:txBody>
          <a:bodyPr vert="vert270" anchor="ctr">
            <a:noAutofit/>
          </a:bodyPr>
          <a:lstStyle/>
          <a:p>
            <a:pPr algn="ctr">
              <a:defRPr sz="1125" b="0">
                <a:solidFill>
                  <a:srgbClr val="222222"/>
                </a:solidFill>
                <a:latin typeface="Arial"/>
                <a:ea typeface="Arial"/>
                <a:cs typeface="Arial"/>
              </a:defRPr>
            </a:pPr>
            <a:r>
              <a:rPr sz="1125" b="0">
                <a:solidFill>
                  <a:srgbClr val="222222"/>
                </a:solidFill>
                <a:latin typeface="Arial"/>
                <a:ea typeface="Arial"/>
                <a:cs typeface="Arial"/>
              </a:rPr>
              <a:t>Percentage (%)</a:t>
            </a:r>
          </a:p>
        </p:txBody>
      </p:sp>
      <p:sp>
        <p:nvSpPr>
          <p:cNvPr id="503" name="English ">
            <a:extLst>
              <a:ext uri="{FF2B5EF4-FFF2-40B4-BE49-F238E27FC236}">
                <a16:creationId xmlns:a16="http://schemas.microsoft.com/office/drawing/2014/main" id="{59072814-6CD2-48F3-838E-644F717D0BF3}"/>
              </a:ext>
            </a:extLst>
          </p:cNvPr>
          <p:cNvSpPr>
            <a:spLocks noGrp="1"/>
          </p:cNvSpPr>
          <p:nvPr/>
        </p:nvSpPr>
        <p:spPr>
          <a:xfrm>
            <a:off x="11811000" y="7038975"/>
            <a:ext cx="2000250" cy="228600"/>
          </a:xfrm>
          <a:prstGeom prst="rect">
            <a:avLst/>
          </a:prstGeom>
          <a:solidFill>
            <a:srgbClr val="FFFFFF"/>
          </a:solidFill>
          <a:ln w="0">
            <a:noFill/>
          </a:ln>
        </p:spPr>
        <p:txBody>
          <a:bodyPr anchor="ctr">
            <a:noAutofit/>
          </a:bodyPr>
          <a:lstStyle/>
          <a:p>
            <a:pPr algn="ctr">
              <a:defRPr sz="1275" b="0">
                <a:solidFill>
                  <a:srgbClr val="222222"/>
                </a:solidFill>
                <a:latin typeface="Arial"/>
                <a:ea typeface="Arial"/>
                <a:cs typeface="Arial"/>
              </a:defRPr>
            </a:pPr>
            <a:r>
              <a:rPr sz="1275" b="0">
                <a:solidFill>
                  <a:srgbClr val="222222"/>
                </a:solidFill>
                <a:latin typeface="Arial"/>
                <a:ea typeface="Arial"/>
                <a:cs typeface="Arial"/>
              </a:rPr>
              <a:t>Feature</a:t>
            </a:r>
          </a:p>
        </p:txBody>
      </p:sp>
      <p:sp>
        <p:nvSpPr>
          <p:cNvPr id="504" name="English ">
            <a:extLst>
              <a:ext uri="{FF2B5EF4-FFF2-40B4-BE49-F238E27FC236}">
                <a16:creationId xmlns:a16="http://schemas.microsoft.com/office/drawing/2014/main" id="{D0F7A6AD-AAF2-42BF-9C84-2D8C2D1B6E11}"/>
              </a:ext>
            </a:extLst>
          </p:cNvPr>
          <p:cNvSpPr>
            <a:spLocks noGrp="1"/>
          </p:cNvSpPr>
          <p:nvPr/>
        </p:nvSpPr>
        <p:spPr>
          <a:xfrm>
            <a:off x="8648700" y="6038850"/>
            <a:ext cx="1724025" cy="209550"/>
          </a:xfrm>
          <a:prstGeom prst="rect">
            <a:avLst/>
          </a:prstGeom>
          <a:solidFill>
            <a:srgbClr val="FFFFFF"/>
          </a:solidFill>
          <a:ln w="0">
            <a:noFill/>
          </a:ln>
        </p:spPr>
        <p:txBody>
          <a:bodyPr anchor="ctr">
            <a:noAutofit/>
          </a:bodyPr>
          <a:lstStyle/>
          <a:p>
            <a:pPr algn="ctr">
              <a:defRPr sz="1200" b="0">
                <a:solidFill>
                  <a:srgbClr val="222222"/>
                </a:solidFill>
                <a:latin typeface="Arial"/>
                <a:ea typeface="Arial"/>
                <a:cs typeface="Arial"/>
              </a:defRPr>
            </a:pPr>
            <a:r>
              <a:rPr sz="1200" b="0">
                <a:solidFill>
                  <a:srgbClr val="222222"/>
                </a:solidFill>
                <a:latin typeface="Arial"/>
                <a:ea typeface="Arial"/>
                <a:cs typeface="Arial"/>
              </a:rPr>
              <a:t>Total data (%)</a:t>
            </a:r>
          </a:p>
        </p:txBody>
      </p:sp>
      <p:sp>
        <p:nvSpPr>
          <p:cNvPr id="505" name="English ">
            <a:extLst>
              <a:ext uri="{FF2B5EF4-FFF2-40B4-BE49-F238E27FC236}">
                <a16:creationId xmlns:a16="http://schemas.microsoft.com/office/drawing/2014/main" id="{5BA6FEB4-5513-46E3-B837-847CDEFDA974}"/>
              </a:ext>
            </a:extLst>
          </p:cNvPr>
          <p:cNvSpPr>
            <a:spLocks noGrp="1"/>
          </p:cNvSpPr>
          <p:nvPr/>
        </p:nvSpPr>
        <p:spPr>
          <a:xfrm>
            <a:off x="8648700" y="6248400"/>
            <a:ext cx="1724025" cy="209550"/>
          </a:xfrm>
          <a:prstGeom prst="rect">
            <a:avLst/>
          </a:prstGeom>
          <a:solidFill>
            <a:srgbClr val="FFFFFF"/>
          </a:solidFill>
          <a:ln w="0">
            <a:noFill/>
          </a:ln>
        </p:spPr>
        <p:txBody>
          <a:bodyPr anchor="ctr">
            <a:noAutofit/>
          </a:bodyPr>
          <a:lstStyle/>
          <a:p>
            <a:pPr algn="ctr">
              <a:defRPr sz="1200" b="0">
                <a:solidFill>
                  <a:srgbClr val="222222"/>
                </a:solidFill>
                <a:latin typeface="Arial"/>
                <a:ea typeface="Arial"/>
                <a:cs typeface="Arial"/>
              </a:defRPr>
            </a:pPr>
            <a:r>
              <a:rPr sz="1200" b="0">
                <a:solidFill>
                  <a:srgbClr val="222222"/>
                </a:solidFill>
                <a:latin typeface="Arial"/>
                <a:ea typeface="Arial"/>
                <a:cs typeface="Arial"/>
              </a:rPr>
              <a:t>Missing train (%)</a:t>
            </a:r>
          </a:p>
        </p:txBody>
      </p:sp>
      <p:sp>
        <p:nvSpPr>
          <p:cNvPr id="506" name="English ">
            <a:extLst>
              <a:ext uri="{FF2B5EF4-FFF2-40B4-BE49-F238E27FC236}">
                <a16:creationId xmlns:a16="http://schemas.microsoft.com/office/drawing/2014/main" id="{DCF02FD1-C7FD-46DD-A964-64C6E72DA62C}"/>
              </a:ext>
            </a:extLst>
          </p:cNvPr>
          <p:cNvSpPr>
            <a:spLocks noGrp="1"/>
          </p:cNvSpPr>
          <p:nvPr/>
        </p:nvSpPr>
        <p:spPr>
          <a:xfrm>
            <a:off x="8648700" y="6457950"/>
            <a:ext cx="1724025" cy="209550"/>
          </a:xfrm>
          <a:prstGeom prst="rect">
            <a:avLst/>
          </a:prstGeom>
          <a:solidFill>
            <a:srgbClr val="FFFFFF"/>
          </a:solidFill>
          <a:ln w="0">
            <a:noFill/>
          </a:ln>
        </p:spPr>
        <p:txBody>
          <a:bodyPr anchor="ctr">
            <a:noAutofit/>
          </a:bodyPr>
          <a:lstStyle/>
          <a:p>
            <a:pPr algn="ctr">
              <a:defRPr sz="1200" b="0">
                <a:solidFill>
                  <a:srgbClr val="222222"/>
                </a:solidFill>
                <a:latin typeface="Arial"/>
                <a:ea typeface="Arial"/>
                <a:cs typeface="Arial"/>
              </a:defRPr>
            </a:pPr>
            <a:r>
              <a:rPr sz="1200" b="0">
                <a:solidFill>
                  <a:srgbClr val="222222"/>
                </a:solidFill>
                <a:latin typeface="Arial"/>
                <a:ea typeface="Arial"/>
                <a:cs typeface="Arial"/>
              </a:rPr>
              <a:t>Missing test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6E72D98-9412-46DB-8BBB-508453407493}"/>
              </a:ext>
            </a:extLst>
          </p:cNvPr>
          <p:cNvSpPr>
            <a:spLocks noGrp="1"/>
          </p:cNvSpPr>
          <p:nvPr/>
        </p:nvSpPr>
        <p:spPr>
          <a:xfrm>
            <a:off x="714375" y="333375"/>
            <a:ext cx="16859250" cy="1000125"/>
          </a:xfrm>
          <a:prstGeom prst="rect">
            <a:avLst/>
          </a:prstGeom>
          <a:noFill/>
          <a:ln w="0">
            <a:noFill/>
          </a:ln>
        </p:spPr>
        <p:txBody>
          <a:bodyPr>
            <a:noAutofit/>
          </a:bodyPr>
          <a:lstStyle/>
          <a:p>
            <a:pPr>
              <a:defRPr sz="4800" b="1">
                <a:solidFill>
                  <a:srgbClr val="FF533E"/>
                </a:solidFill>
                <a:latin typeface="Arial"/>
                <a:ea typeface="Arial"/>
                <a:cs typeface="Arial"/>
              </a:defRPr>
            </a:pPr>
            <a:r>
              <a:rPr sz="4800" b="1" dirty="0">
                <a:solidFill>
                  <a:srgbClr val="FF533E"/>
                </a:solidFill>
                <a:latin typeface="Arial"/>
                <a:ea typeface="Arial"/>
                <a:cs typeface="Arial"/>
              </a:rPr>
              <a:t>4. Exploratory Data Analysis </a:t>
            </a:r>
            <a:r>
              <a:rPr lang="en-US" sz="4800" b="1" dirty="0">
                <a:solidFill>
                  <a:srgbClr val="FF533E"/>
                </a:solidFill>
                <a:latin typeface="Arial"/>
                <a:ea typeface="Arial"/>
                <a:cs typeface="Arial"/>
              </a:rPr>
              <a:t>-</a:t>
            </a:r>
            <a:r>
              <a:rPr sz="4800" b="1" dirty="0">
                <a:solidFill>
                  <a:srgbClr val="FF533E"/>
                </a:solidFill>
                <a:latin typeface="Arial"/>
                <a:ea typeface="Arial"/>
                <a:cs typeface="Arial"/>
              </a:rPr>
              <a:t> Correlation</a:t>
            </a:r>
          </a:p>
        </p:txBody>
      </p:sp>
      <p:pic>
        <p:nvPicPr>
          <p:cNvPr id="9" name="Picture 8"/>
          <p:cNvPicPr>
            <a:picLocks noChangeAspect="1"/>
          </p:cNvPicPr>
          <p:nvPr/>
        </p:nvPicPr>
        <p:blipFill>
          <a:blip r:embed="rId3"/>
          <a:stretch/>
        </p:blipFill>
        <p:spPr>
          <a:xfrm>
            <a:off x="832224" y="1619250"/>
            <a:ext cx="9479803" cy="7810500"/>
          </a:xfrm>
          <a:prstGeom prst="rect">
            <a:avLst/>
          </a:prstGeom>
        </p:spPr>
      </p:pic>
      <p:sp>
        <p:nvSpPr>
          <p:cNvPr id="4" name="Rectangle 3">
            <a:extLst>
              <a:ext uri="{FF2B5EF4-FFF2-40B4-BE49-F238E27FC236}">
                <a16:creationId xmlns:a16="http://schemas.microsoft.com/office/drawing/2014/main" id="{A7701BB2-1B10-4248-BFBF-16A006683D3B}"/>
              </a:ext>
            </a:extLst>
          </p:cNvPr>
          <p:cNvSpPr>
            <a:spLocks noGrp="1"/>
          </p:cNvSpPr>
          <p:nvPr/>
        </p:nvSpPr>
        <p:spPr>
          <a:xfrm>
            <a:off x="11049000" y="1809750"/>
            <a:ext cx="6572250" cy="952500"/>
          </a:xfrm>
          <a:prstGeom prst="rect">
            <a:avLst/>
          </a:prstGeom>
          <a:noFill/>
          <a:ln w="0">
            <a:noFill/>
          </a:ln>
        </p:spPr>
        <p:txBody>
          <a:bodyPr>
            <a:noAutofit/>
          </a:bodyPr>
          <a:lstStyle/>
          <a:p>
            <a:pPr>
              <a:defRPr sz="2300" b="1">
                <a:solidFill>
                  <a:srgbClr val="9755C9"/>
                </a:solidFill>
                <a:latin typeface="Arial"/>
                <a:ea typeface="Arial"/>
                <a:cs typeface="Arial"/>
              </a:defRPr>
            </a:pPr>
            <a:r>
              <a:rPr sz="2300" b="1">
                <a:solidFill>
                  <a:srgbClr val="9755C9"/>
                </a:solidFill>
                <a:latin typeface="Arial"/>
                <a:ea typeface="Arial"/>
                <a:cs typeface="Arial"/>
              </a:rPr>
              <a:t>CORRELATION BETWEEN NUMERICAL FEATURES</a:t>
            </a:r>
          </a:p>
        </p:txBody>
      </p:sp>
      <p:sp>
        <p:nvSpPr>
          <p:cNvPr id="5" name="Rectangle 4">
            <a:extLst>
              <a:ext uri="{FF2B5EF4-FFF2-40B4-BE49-F238E27FC236}">
                <a16:creationId xmlns:a16="http://schemas.microsoft.com/office/drawing/2014/main" id="{3C94C9A8-4080-493D-A02B-71FA5B865DB6}"/>
              </a:ext>
            </a:extLst>
          </p:cNvPr>
          <p:cNvSpPr>
            <a:spLocks noGrp="1"/>
          </p:cNvSpPr>
          <p:nvPr/>
        </p:nvSpPr>
        <p:spPr>
          <a:xfrm>
            <a:off x="11049000" y="3048000"/>
            <a:ext cx="6381750" cy="5905500"/>
          </a:xfrm>
          <a:prstGeom prst="rect">
            <a:avLst/>
          </a:prstGeom>
          <a:noFill/>
          <a:ln w="0">
            <a:noFill/>
          </a:ln>
        </p:spPr>
        <p:txBody>
          <a:bodyPr>
            <a:noAutofit/>
          </a:bodyPr>
          <a:lstStyle/>
          <a:p>
            <a:pPr>
              <a:defRPr sz="2400" b="0">
                <a:solidFill>
                  <a:srgbClr val="222222"/>
                </a:solidFill>
                <a:latin typeface="Arial"/>
                <a:ea typeface="Arial"/>
                <a:cs typeface="Arial"/>
              </a:defRPr>
            </a:pPr>
            <a:r>
              <a:rPr sz="2400" b="0">
                <a:solidFill>
                  <a:srgbClr val="222222"/>
                </a:solidFill>
                <a:latin typeface="Arial"/>
                <a:ea typeface="Arial"/>
                <a:cs typeface="Arial"/>
              </a:rPr>
              <a:t>GarageCars and GarageArea</a:t>
            </a:r>
          </a:p>
          <a:p>
            <a:pPr>
              <a:defRPr sz="2400" b="0">
                <a:solidFill>
                  <a:srgbClr val="222222"/>
                </a:solidFill>
                <a:latin typeface="Arial"/>
                <a:ea typeface="Arial"/>
                <a:cs typeface="Arial"/>
              </a:defRPr>
            </a:pPr>
            <a:r>
              <a:rPr sz="2400" b="0">
                <a:solidFill>
                  <a:srgbClr val="222222"/>
                </a:solidFill>
                <a:latin typeface="Arial"/>
                <a:ea typeface="Arial"/>
                <a:cs typeface="Arial"/>
              </a:rPr>
              <a:t>Garage capacity is positively associated with garage area.</a:t>
            </a:r>
          </a:p>
          <a:p>
            <a:pPr>
              <a:defRPr sz="2400" b="0">
                <a:solidFill>
                  <a:srgbClr val="222222"/>
                </a:solidFill>
                <a:latin typeface="Arial"/>
                <a:ea typeface="Arial"/>
                <a:cs typeface="Arial"/>
              </a:defRPr>
            </a:pPr>
            <a:endParaRPr sz="2400" b="0">
              <a:solidFill>
                <a:srgbClr val="222222"/>
              </a:solidFill>
              <a:latin typeface="Arial"/>
              <a:ea typeface="Arial"/>
              <a:cs typeface="Arial"/>
            </a:endParaRPr>
          </a:p>
          <a:p>
            <a:pPr>
              <a:defRPr sz="2400" b="0">
                <a:solidFill>
                  <a:srgbClr val="222222"/>
                </a:solidFill>
                <a:latin typeface="Arial"/>
                <a:ea typeface="Arial"/>
                <a:cs typeface="Arial"/>
              </a:defRPr>
            </a:pPr>
            <a:r>
              <a:rPr sz="2400" b="0">
                <a:solidFill>
                  <a:srgbClr val="222222"/>
                </a:solidFill>
                <a:latin typeface="Arial"/>
                <a:ea typeface="Arial"/>
                <a:cs typeface="Arial"/>
              </a:rPr>
              <a:t>GrLivArea and TotRmsAbvGrd</a:t>
            </a:r>
          </a:p>
          <a:p>
            <a:pPr>
              <a:defRPr sz="2400" b="0">
                <a:solidFill>
                  <a:srgbClr val="222222"/>
                </a:solidFill>
                <a:latin typeface="Arial"/>
                <a:ea typeface="Arial"/>
                <a:cs typeface="Arial"/>
              </a:defRPr>
            </a:pPr>
            <a:r>
              <a:rPr sz="2400" b="0">
                <a:solidFill>
                  <a:srgbClr val="222222"/>
                </a:solidFill>
                <a:latin typeface="Arial"/>
                <a:ea typeface="Arial"/>
                <a:cs typeface="Arial"/>
              </a:rPr>
              <a:t>Larger above-ground living areas tend to have more rooms.</a:t>
            </a:r>
          </a:p>
          <a:p>
            <a:pPr>
              <a:defRPr sz="2400" b="0">
                <a:solidFill>
                  <a:srgbClr val="222222"/>
                </a:solidFill>
                <a:latin typeface="Arial"/>
                <a:ea typeface="Arial"/>
                <a:cs typeface="Arial"/>
              </a:defRPr>
            </a:pPr>
            <a:endParaRPr sz="2400" b="0">
              <a:solidFill>
                <a:srgbClr val="222222"/>
              </a:solidFill>
              <a:latin typeface="Arial"/>
              <a:ea typeface="Arial"/>
              <a:cs typeface="Arial"/>
            </a:endParaRPr>
          </a:p>
          <a:p>
            <a:pPr>
              <a:defRPr sz="2400" b="0">
                <a:solidFill>
                  <a:srgbClr val="222222"/>
                </a:solidFill>
                <a:latin typeface="Arial"/>
                <a:ea typeface="Arial"/>
                <a:cs typeface="Arial"/>
              </a:defRPr>
            </a:pPr>
            <a:r>
              <a:rPr sz="2400" b="0">
                <a:solidFill>
                  <a:srgbClr val="222222"/>
                </a:solidFill>
                <a:latin typeface="Arial"/>
                <a:ea typeface="Arial"/>
                <a:cs typeface="Arial"/>
              </a:rPr>
              <a:t>TotalBsmtSF and 1stFlrSF</a:t>
            </a:r>
          </a:p>
          <a:p>
            <a:pPr>
              <a:defRPr sz="2400" b="0">
                <a:solidFill>
                  <a:srgbClr val="222222"/>
                </a:solidFill>
                <a:latin typeface="Arial"/>
                <a:ea typeface="Arial"/>
                <a:cs typeface="Arial"/>
              </a:defRPr>
            </a:pPr>
            <a:r>
              <a:rPr sz="2400" b="0">
                <a:solidFill>
                  <a:srgbClr val="222222"/>
                </a:solidFill>
                <a:latin typeface="Arial"/>
                <a:ea typeface="Arial"/>
                <a:cs typeface="Arial"/>
              </a:rPr>
              <a:t>Basement area and first-floor area are clearly related.</a:t>
            </a:r>
          </a:p>
        </p:txBody>
      </p:sp>
    </p:spTree>
    <p:extLst>
      <p:ext uri="{BB962C8B-B14F-4D97-AF65-F5344CB8AC3E}">
        <p14:creationId xmlns:p14="http://schemas.microsoft.com/office/powerpoint/2010/main" val="1200336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B26B3D-0993-45A9-B57D-139D36ECACAE}"/>
              </a:ext>
            </a:extLst>
          </p:cNvPr>
          <p:cNvSpPr>
            <a:spLocks noGrp="1"/>
          </p:cNvSpPr>
          <p:nvPr/>
        </p:nvSpPr>
        <p:spPr>
          <a:xfrm>
            <a:off x="714375" y="333375"/>
            <a:ext cx="16859250" cy="1000125"/>
          </a:xfrm>
          <a:prstGeom prst="rect">
            <a:avLst/>
          </a:prstGeom>
          <a:noFill/>
          <a:ln w="0">
            <a:noFill/>
          </a:ln>
        </p:spPr>
        <p:txBody>
          <a:bodyPr>
            <a:noAutofit/>
          </a:bodyPr>
          <a:lstStyle/>
          <a:p>
            <a:pPr>
              <a:defRPr sz="4800" b="1">
                <a:solidFill>
                  <a:srgbClr val="FF533E"/>
                </a:solidFill>
                <a:latin typeface="Arial"/>
                <a:ea typeface="Arial"/>
                <a:cs typeface="Arial"/>
              </a:defRPr>
            </a:pPr>
            <a:r>
              <a:rPr sz="4800" b="1" dirty="0">
                <a:solidFill>
                  <a:srgbClr val="FF533E"/>
                </a:solidFill>
                <a:latin typeface="Arial"/>
                <a:ea typeface="Arial"/>
                <a:cs typeface="Arial"/>
              </a:rPr>
              <a:t>4. Exploratory Data Analysis </a:t>
            </a:r>
            <a:r>
              <a:rPr lang="en-US" sz="4800" b="1" dirty="0">
                <a:solidFill>
                  <a:srgbClr val="FF533E"/>
                </a:solidFill>
                <a:latin typeface="Arial"/>
                <a:ea typeface="Arial"/>
                <a:cs typeface="Arial"/>
              </a:rPr>
              <a:t>-</a:t>
            </a:r>
            <a:r>
              <a:rPr sz="4800" b="1" dirty="0">
                <a:solidFill>
                  <a:srgbClr val="FF533E"/>
                </a:solidFill>
                <a:latin typeface="Arial"/>
                <a:ea typeface="Arial"/>
                <a:cs typeface="Arial"/>
              </a:rPr>
              <a:t> Outliers</a:t>
            </a:r>
          </a:p>
        </p:txBody>
      </p:sp>
      <p:pic>
        <p:nvPicPr>
          <p:cNvPr id="9" name="Picture 8"/>
          <p:cNvPicPr>
            <a:picLocks noChangeAspect="1"/>
          </p:cNvPicPr>
          <p:nvPr/>
        </p:nvPicPr>
        <p:blipFill>
          <a:blip r:embed="rId3"/>
          <a:stretch/>
        </p:blipFill>
        <p:spPr>
          <a:xfrm>
            <a:off x="1003775" y="1809750"/>
            <a:ext cx="10851199" cy="7524750"/>
          </a:xfrm>
          <a:prstGeom prst="rect">
            <a:avLst/>
          </a:prstGeom>
        </p:spPr>
      </p:pic>
      <p:sp>
        <p:nvSpPr>
          <p:cNvPr id="4" name="Rectangle 3">
            <a:extLst>
              <a:ext uri="{FF2B5EF4-FFF2-40B4-BE49-F238E27FC236}">
                <a16:creationId xmlns:a16="http://schemas.microsoft.com/office/drawing/2014/main" id="{7504B132-EA8D-4832-A4A1-6178B8CF8A90}"/>
              </a:ext>
            </a:extLst>
          </p:cNvPr>
          <p:cNvSpPr>
            <a:spLocks noGrp="1"/>
          </p:cNvSpPr>
          <p:nvPr/>
        </p:nvSpPr>
        <p:spPr>
          <a:xfrm>
            <a:off x="12715875" y="2047875"/>
            <a:ext cx="5095875" cy="952500"/>
          </a:xfrm>
          <a:prstGeom prst="rect">
            <a:avLst/>
          </a:prstGeom>
          <a:noFill/>
          <a:ln w="0">
            <a:noFill/>
          </a:ln>
        </p:spPr>
        <p:txBody>
          <a:bodyPr>
            <a:noAutofit/>
          </a:bodyPr>
          <a:lstStyle/>
          <a:p>
            <a:pPr>
              <a:defRPr sz="2400" b="1">
                <a:solidFill>
                  <a:srgbClr val="9755C9"/>
                </a:solidFill>
                <a:latin typeface="Arial"/>
                <a:ea typeface="Arial"/>
                <a:cs typeface="Arial"/>
              </a:defRPr>
            </a:pPr>
            <a:r>
              <a:rPr sz="2400" b="1">
                <a:solidFill>
                  <a:srgbClr val="9755C9"/>
                </a:solidFill>
                <a:latin typeface="Arial"/>
                <a:ea typeface="Arial"/>
                <a:cs typeface="Arial"/>
              </a:rPr>
              <a:t>DISTRIBUTIONS AND OUTLIERS</a:t>
            </a:r>
          </a:p>
        </p:txBody>
      </p:sp>
      <p:sp>
        <p:nvSpPr>
          <p:cNvPr id="5" name="Rectangle 4">
            <a:extLst>
              <a:ext uri="{FF2B5EF4-FFF2-40B4-BE49-F238E27FC236}">
                <a16:creationId xmlns:a16="http://schemas.microsoft.com/office/drawing/2014/main" id="{0695BEDD-043B-404F-82B6-7A283FBE5354}"/>
              </a:ext>
            </a:extLst>
          </p:cNvPr>
          <p:cNvSpPr>
            <a:spLocks noGrp="1"/>
          </p:cNvSpPr>
          <p:nvPr/>
        </p:nvSpPr>
        <p:spPr>
          <a:xfrm>
            <a:off x="12715875" y="3048000"/>
            <a:ext cx="4810125" cy="5715000"/>
          </a:xfrm>
          <a:prstGeom prst="rect">
            <a:avLst/>
          </a:prstGeom>
          <a:noFill/>
          <a:ln w="0">
            <a:noFill/>
          </a:ln>
        </p:spPr>
        <p:txBody>
          <a:bodyPr>
            <a:noAutofit/>
          </a:bodyPr>
          <a:lstStyle/>
          <a:p>
            <a:pPr>
              <a:defRPr sz="2400" b="0">
                <a:solidFill>
                  <a:srgbClr val="222222"/>
                </a:solidFill>
                <a:latin typeface="Arial"/>
                <a:ea typeface="Arial"/>
                <a:cs typeface="Arial"/>
              </a:defRPr>
            </a:pPr>
            <a:r>
              <a:rPr sz="2400" b="0">
                <a:solidFill>
                  <a:srgbClr val="222222"/>
                </a:solidFill>
                <a:latin typeface="Arial"/>
                <a:ea typeface="Arial"/>
                <a:cs typeface="Arial"/>
              </a:rPr>
              <a:t>LotArea</a:t>
            </a:r>
          </a:p>
          <a:p>
            <a:pPr>
              <a:defRPr sz="2400" b="0">
                <a:solidFill>
                  <a:srgbClr val="222222"/>
                </a:solidFill>
                <a:latin typeface="Arial"/>
                <a:ea typeface="Arial"/>
                <a:cs typeface="Arial"/>
              </a:defRPr>
            </a:pPr>
            <a:r>
              <a:rPr sz="2400" b="0">
                <a:solidFill>
                  <a:srgbClr val="222222"/>
                </a:solidFill>
                <a:latin typeface="Arial"/>
                <a:ea typeface="Arial"/>
                <a:cs typeface="Arial"/>
              </a:rPr>
              <a:t>Median: 9,478.5 ft²</a:t>
            </a:r>
          </a:p>
          <a:p>
            <a:pPr>
              <a:defRPr sz="2400" b="0">
                <a:solidFill>
                  <a:srgbClr val="222222"/>
                </a:solidFill>
                <a:latin typeface="Arial"/>
                <a:ea typeface="Arial"/>
                <a:cs typeface="Arial"/>
              </a:defRPr>
            </a:pPr>
            <a:r>
              <a:rPr sz="2400" b="0">
                <a:solidFill>
                  <a:srgbClr val="222222"/>
                </a:solidFill>
                <a:latin typeface="Arial"/>
                <a:ea typeface="Arial"/>
                <a:cs typeface="Arial"/>
              </a:rPr>
              <a:t>Maximum: 215,245 ft²</a:t>
            </a:r>
          </a:p>
          <a:p>
            <a:pPr>
              <a:defRPr sz="2400" b="0">
                <a:solidFill>
                  <a:srgbClr val="222222"/>
                </a:solidFill>
                <a:latin typeface="Arial"/>
                <a:ea typeface="Arial"/>
                <a:cs typeface="Arial"/>
              </a:defRPr>
            </a:pPr>
            <a:endParaRPr sz="2400" b="0">
              <a:solidFill>
                <a:srgbClr val="222222"/>
              </a:solidFill>
              <a:latin typeface="Arial"/>
              <a:ea typeface="Arial"/>
              <a:cs typeface="Arial"/>
            </a:endParaRPr>
          </a:p>
          <a:p>
            <a:pPr>
              <a:defRPr sz="2400" b="0">
                <a:solidFill>
                  <a:srgbClr val="222222"/>
                </a:solidFill>
                <a:latin typeface="Arial"/>
                <a:ea typeface="Arial"/>
                <a:cs typeface="Arial"/>
              </a:defRPr>
            </a:pPr>
            <a:r>
              <a:rPr sz="2400" b="0">
                <a:solidFill>
                  <a:srgbClr val="222222"/>
                </a:solidFill>
                <a:latin typeface="Arial"/>
                <a:ea typeface="Arial"/>
                <a:cs typeface="Arial"/>
              </a:rPr>
              <a:t>GrLivArea</a:t>
            </a:r>
          </a:p>
          <a:p>
            <a:pPr>
              <a:defRPr sz="2400" b="0">
                <a:solidFill>
                  <a:srgbClr val="222222"/>
                </a:solidFill>
                <a:latin typeface="Arial"/>
                <a:ea typeface="Arial"/>
                <a:cs typeface="Arial"/>
              </a:defRPr>
            </a:pPr>
            <a:r>
              <a:rPr sz="2400" b="0">
                <a:solidFill>
                  <a:srgbClr val="222222"/>
                </a:solidFill>
                <a:latin typeface="Arial"/>
                <a:ea typeface="Arial"/>
                <a:cs typeface="Arial"/>
              </a:rPr>
              <a:t>Median: 1,464 ft²</a:t>
            </a:r>
          </a:p>
          <a:p>
            <a:pPr>
              <a:defRPr sz="2400" b="0">
                <a:solidFill>
                  <a:srgbClr val="222222"/>
                </a:solidFill>
                <a:latin typeface="Arial"/>
                <a:ea typeface="Arial"/>
                <a:cs typeface="Arial"/>
              </a:defRPr>
            </a:pPr>
            <a:r>
              <a:rPr sz="2400" b="0">
                <a:solidFill>
                  <a:srgbClr val="222222"/>
                </a:solidFill>
                <a:latin typeface="Arial"/>
                <a:ea typeface="Arial"/>
                <a:cs typeface="Arial"/>
              </a:rPr>
              <a:t>Maximum: 5,642 ft²</a:t>
            </a:r>
          </a:p>
          <a:p>
            <a:pPr>
              <a:defRPr sz="2400" b="0">
                <a:solidFill>
                  <a:srgbClr val="222222"/>
                </a:solidFill>
                <a:latin typeface="Arial"/>
                <a:ea typeface="Arial"/>
                <a:cs typeface="Arial"/>
              </a:defRPr>
            </a:pPr>
            <a:endParaRPr sz="2400" b="0">
              <a:solidFill>
                <a:srgbClr val="222222"/>
              </a:solidFill>
              <a:latin typeface="Arial"/>
              <a:ea typeface="Arial"/>
              <a:cs typeface="Arial"/>
            </a:endParaRPr>
          </a:p>
          <a:p>
            <a:pPr>
              <a:defRPr sz="2400" b="0">
                <a:solidFill>
                  <a:srgbClr val="222222"/>
                </a:solidFill>
                <a:latin typeface="Arial"/>
                <a:ea typeface="Arial"/>
                <a:cs typeface="Arial"/>
              </a:defRPr>
            </a:pPr>
            <a:r>
              <a:rPr sz="2400" b="0">
                <a:solidFill>
                  <a:srgbClr val="222222"/>
                </a:solidFill>
                <a:latin typeface="Arial"/>
                <a:ea typeface="Arial"/>
                <a:cs typeface="Arial"/>
              </a:rPr>
              <a:t>Most values of PoolArea, MiscVal and 3SsnPorch are zero.</a:t>
            </a:r>
          </a:p>
        </p:txBody>
      </p:sp>
    </p:spTree>
    <p:extLst>
      <p:ext uri="{BB962C8B-B14F-4D97-AF65-F5344CB8AC3E}">
        <p14:creationId xmlns:p14="http://schemas.microsoft.com/office/powerpoint/2010/main" val="1329737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EEAA4F2-13E5-4502-BC17-ABEA2C5BD644}"/>
              </a:ext>
            </a:extLst>
          </p:cNvPr>
          <p:cNvSpPr>
            <a:spLocks noGrp="1"/>
          </p:cNvSpPr>
          <p:nvPr/>
        </p:nvSpPr>
        <p:spPr>
          <a:xfrm>
            <a:off x="714375" y="333375"/>
            <a:ext cx="16859250" cy="1000125"/>
          </a:xfrm>
          <a:prstGeom prst="rect">
            <a:avLst/>
          </a:prstGeom>
          <a:noFill/>
          <a:ln w="0">
            <a:noFill/>
          </a:ln>
        </p:spPr>
        <p:txBody>
          <a:bodyPr>
            <a:noAutofit/>
          </a:bodyPr>
          <a:lstStyle/>
          <a:p>
            <a:pPr>
              <a:defRPr sz="4800" b="1">
                <a:solidFill>
                  <a:srgbClr val="FF533E"/>
                </a:solidFill>
                <a:latin typeface="Arial"/>
                <a:ea typeface="Arial"/>
                <a:cs typeface="Arial"/>
              </a:defRPr>
            </a:pPr>
            <a:r>
              <a:rPr sz="4800" b="1" dirty="0">
                <a:solidFill>
                  <a:srgbClr val="FF533E"/>
                </a:solidFill>
                <a:latin typeface="Arial"/>
                <a:ea typeface="Arial"/>
                <a:cs typeface="Arial"/>
              </a:rPr>
              <a:t>4. Exploratory Data Analysis </a:t>
            </a:r>
            <a:r>
              <a:rPr lang="en-US" sz="4800" b="1" dirty="0">
                <a:solidFill>
                  <a:srgbClr val="FF533E"/>
                </a:solidFill>
                <a:latin typeface="Arial"/>
                <a:ea typeface="Arial"/>
                <a:cs typeface="Arial"/>
              </a:rPr>
              <a:t>-</a:t>
            </a:r>
            <a:r>
              <a:rPr sz="4800" b="1" dirty="0">
                <a:solidFill>
                  <a:srgbClr val="FF533E"/>
                </a:solidFill>
                <a:latin typeface="Arial"/>
                <a:ea typeface="Arial"/>
                <a:cs typeface="Arial"/>
              </a:rPr>
              <a:t> </a:t>
            </a:r>
            <a:r>
              <a:rPr sz="4800" b="1" dirty="0" err="1">
                <a:solidFill>
                  <a:srgbClr val="FF533E"/>
                </a:solidFill>
                <a:latin typeface="Arial"/>
                <a:ea typeface="Arial"/>
                <a:cs typeface="Arial"/>
              </a:rPr>
              <a:t>SalePrice</a:t>
            </a:r>
            <a:endParaRPr sz="4800" b="1" dirty="0">
              <a:solidFill>
                <a:srgbClr val="FF533E"/>
              </a:solidFill>
              <a:latin typeface="Arial"/>
              <a:ea typeface="Arial"/>
              <a:cs typeface="Arial"/>
            </a:endParaRPr>
          </a:p>
        </p:txBody>
      </p:sp>
      <p:sp>
        <p:nvSpPr>
          <p:cNvPr id="3" name="Rectangle 2">
            <a:extLst>
              <a:ext uri="{FF2B5EF4-FFF2-40B4-BE49-F238E27FC236}">
                <a16:creationId xmlns:a16="http://schemas.microsoft.com/office/drawing/2014/main" id="{4A1E1A5B-EA2C-4E9A-81B7-A0CF7BA42FC8}"/>
              </a:ext>
            </a:extLst>
          </p:cNvPr>
          <p:cNvSpPr>
            <a:spLocks noGrp="1"/>
          </p:cNvSpPr>
          <p:nvPr/>
        </p:nvSpPr>
        <p:spPr>
          <a:xfrm>
            <a:off x="762000" y="1571625"/>
            <a:ext cx="9525000" cy="476250"/>
          </a:xfrm>
          <a:prstGeom prst="rect">
            <a:avLst/>
          </a:prstGeom>
          <a:noFill/>
          <a:ln w="0">
            <a:noFill/>
          </a:ln>
        </p:spPr>
        <p:txBody>
          <a:bodyPr>
            <a:noAutofit/>
          </a:bodyPr>
          <a:lstStyle/>
          <a:p>
            <a:pPr>
              <a:defRPr sz="2475" b="1">
                <a:solidFill>
                  <a:srgbClr val="9755C9"/>
                </a:solidFill>
                <a:latin typeface="Arial"/>
                <a:ea typeface="Arial"/>
                <a:cs typeface="Arial"/>
              </a:defRPr>
            </a:pPr>
            <a:r>
              <a:rPr sz="2475" b="1">
                <a:solidFill>
                  <a:srgbClr val="9755C9"/>
                </a:solidFill>
                <a:latin typeface="Arial"/>
                <a:ea typeface="Arial"/>
                <a:cs typeface="Arial"/>
              </a:rPr>
              <a:t>NEIGHBORHOOD</a:t>
            </a:r>
          </a:p>
        </p:txBody>
      </p:sp>
      <p:pic>
        <p:nvPicPr>
          <p:cNvPr id="13" name="Picture 12"/>
          <p:cNvPicPr>
            <a:picLocks noChangeAspect="1"/>
          </p:cNvPicPr>
          <p:nvPr/>
        </p:nvPicPr>
        <p:blipFill>
          <a:blip r:embed="rId3"/>
          <a:stretch/>
        </p:blipFill>
        <p:spPr>
          <a:xfrm>
            <a:off x="751877" y="2143125"/>
            <a:ext cx="11164496" cy="3619500"/>
          </a:xfrm>
          <a:prstGeom prst="rect">
            <a:avLst/>
          </a:prstGeom>
        </p:spPr>
      </p:pic>
      <p:sp>
        <p:nvSpPr>
          <p:cNvPr id="5" name="Rectangle 4">
            <a:extLst>
              <a:ext uri="{FF2B5EF4-FFF2-40B4-BE49-F238E27FC236}">
                <a16:creationId xmlns:a16="http://schemas.microsoft.com/office/drawing/2014/main" id="{0CADDBC1-E750-4CF6-A237-30E21BE514BA}"/>
              </a:ext>
            </a:extLst>
          </p:cNvPr>
          <p:cNvSpPr>
            <a:spLocks noGrp="1"/>
          </p:cNvSpPr>
          <p:nvPr/>
        </p:nvSpPr>
        <p:spPr>
          <a:xfrm>
            <a:off x="762000" y="5810250"/>
            <a:ext cx="9525000" cy="476250"/>
          </a:xfrm>
          <a:prstGeom prst="rect">
            <a:avLst/>
          </a:prstGeom>
          <a:noFill/>
          <a:ln w="0">
            <a:noFill/>
          </a:ln>
        </p:spPr>
        <p:txBody>
          <a:bodyPr>
            <a:noAutofit/>
          </a:bodyPr>
          <a:lstStyle/>
          <a:p>
            <a:pPr>
              <a:defRPr sz="2475" b="1">
                <a:solidFill>
                  <a:srgbClr val="9755C9"/>
                </a:solidFill>
                <a:latin typeface="Arial"/>
                <a:ea typeface="Arial"/>
                <a:cs typeface="Arial"/>
              </a:defRPr>
            </a:pPr>
            <a:r>
              <a:rPr sz="2475" b="1">
                <a:solidFill>
                  <a:srgbClr val="9755C9"/>
                </a:solidFill>
                <a:latin typeface="Arial"/>
                <a:ea typeface="Arial"/>
                <a:cs typeface="Arial"/>
              </a:rPr>
              <a:t>KITCHENQUAL</a:t>
            </a:r>
          </a:p>
        </p:txBody>
      </p:sp>
      <p:pic>
        <p:nvPicPr>
          <p:cNvPr id="15" name="Picture 14"/>
          <p:cNvPicPr>
            <a:picLocks noChangeAspect="1"/>
          </p:cNvPicPr>
          <p:nvPr/>
        </p:nvPicPr>
        <p:blipFill>
          <a:blip r:embed="rId4"/>
          <a:stretch/>
        </p:blipFill>
        <p:spPr>
          <a:xfrm>
            <a:off x="1120125" y="6334125"/>
            <a:ext cx="10428000" cy="3143250"/>
          </a:xfrm>
          <a:prstGeom prst="rect">
            <a:avLst/>
          </a:prstGeom>
        </p:spPr>
      </p:pic>
      <p:sp>
        <p:nvSpPr>
          <p:cNvPr id="7" name="Rectangle 6">
            <a:extLst>
              <a:ext uri="{FF2B5EF4-FFF2-40B4-BE49-F238E27FC236}">
                <a16:creationId xmlns:a16="http://schemas.microsoft.com/office/drawing/2014/main" id="{E6AADEAF-CBCC-4CCA-8BDD-EC08EB141A90}"/>
              </a:ext>
            </a:extLst>
          </p:cNvPr>
          <p:cNvSpPr>
            <a:spLocks noGrp="1"/>
          </p:cNvSpPr>
          <p:nvPr/>
        </p:nvSpPr>
        <p:spPr>
          <a:xfrm>
            <a:off x="12477750" y="1952625"/>
            <a:ext cx="5143500" cy="809625"/>
          </a:xfrm>
          <a:prstGeom prst="rect">
            <a:avLst/>
          </a:prstGeom>
          <a:noFill/>
          <a:ln w="0">
            <a:noFill/>
          </a:ln>
        </p:spPr>
        <p:txBody>
          <a:bodyPr>
            <a:noAutofit/>
          </a:bodyPr>
          <a:lstStyle/>
          <a:p>
            <a:pPr>
              <a:defRPr sz="2400" b="1">
                <a:solidFill>
                  <a:srgbClr val="9755C9"/>
                </a:solidFill>
                <a:latin typeface="Arial"/>
                <a:ea typeface="Arial"/>
                <a:cs typeface="Arial"/>
              </a:defRPr>
            </a:pPr>
            <a:r>
              <a:rPr sz="2400" b="1">
                <a:solidFill>
                  <a:srgbClr val="9755C9"/>
                </a:solidFill>
                <a:latin typeface="Arial"/>
                <a:ea typeface="Arial"/>
                <a:cs typeface="Arial"/>
              </a:rPr>
              <a:t>HOUSE PRICES BY CATEGORY</a:t>
            </a:r>
          </a:p>
        </p:txBody>
      </p:sp>
      <p:sp>
        <p:nvSpPr>
          <p:cNvPr id="8" name="Rectangle 7">
            <a:extLst>
              <a:ext uri="{FF2B5EF4-FFF2-40B4-BE49-F238E27FC236}">
                <a16:creationId xmlns:a16="http://schemas.microsoft.com/office/drawing/2014/main" id="{729C58C6-D4B4-438C-83D9-62E15996095D}"/>
              </a:ext>
            </a:extLst>
          </p:cNvPr>
          <p:cNvSpPr>
            <a:spLocks noGrp="1"/>
          </p:cNvSpPr>
          <p:nvPr/>
        </p:nvSpPr>
        <p:spPr>
          <a:xfrm>
            <a:off x="12477750" y="2952750"/>
            <a:ext cx="5000625" cy="6191250"/>
          </a:xfrm>
          <a:prstGeom prst="rect">
            <a:avLst/>
          </a:prstGeom>
          <a:noFill/>
          <a:ln w="0">
            <a:noFill/>
          </a:ln>
        </p:spPr>
        <p:txBody>
          <a:bodyPr>
            <a:noAutofit/>
          </a:bodyPr>
          <a:lstStyle/>
          <a:p>
            <a:pPr>
              <a:defRPr sz="2400" b="0">
                <a:solidFill>
                  <a:srgbClr val="222222"/>
                </a:solidFill>
                <a:latin typeface="Arial"/>
                <a:ea typeface="Arial"/>
                <a:cs typeface="Arial"/>
              </a:defRPr>
            </a:pPr>
            <a:r>
              <a:rPr sz="2400" b="0">
                <a:solidFill>
                  <a:srgbClr val="222222"/>
                </a:solidFill>
                <a:latin typeface="Arial"/>
                <a:ea typeface="Arial"/>
                <a:cs typeface="Arial"/>
              </a:rPr>
              <a:t>Neighborhood</a:t>
            </a:r>
          </a:p>
          <a:p>
            <a:pPr>
              <a:defRPr sz="2400" b="0">
                <a:solidFill>
                  <a:srgbClr val="222222"/>
                </a:solidFill>
                <a:latin typeface="Arial"/>
                <a:ea typeface="Arial"/>
                <a:cs typeface="Arial"/>
              </a:defRPr>
            </a:pPr>
            <a:r>
              <a:rPr sz="2400" b="0">
                <a:solidFill>
                  <a:srgbClr val="222222"/>
                </a:solidFill>
                <a:latin typeface="Arial"/>
                <a:ea typeface="Arial"/>
                <a:cs typeface="Arial"/>
              </a:rPr>
              <a:t>Sale-price distributions vary considerably across neighborhoods. Location may contribute to price prediction.</a:t>
            </a:r>
          </a:p>
          <a:p>
            <a:pPr>
              <a:defRPr sz="2400" b="0">
                <a:solidFill>
                  <a:srgbClr val="222222"/>
                </a:solidFill>
                <a:latin typeface="Arial"/>
                <a:ea typeface="Arial"/>
                <a:cs typeface="Arial"/>
              </a:defRPr>
            </a:pPr>
            <a:endParaRPr sz="2400" b="0">
              <a:solidFill>
                <a:srgbClr val="222222"/>
              </a:solidFill>
              <a:latin typeface="Arial"/>
              <a:ea typeface="Arial"/>
              <a:cs typeface="Arial"/>
            </a:endParaRPr>
          </a:p>
          <a:p>
            <a:pPr>
              <a:defRPr sz="2400" b="0">
                <a:solidFill>
                  <a:srgbClr val="222222"/>
                </a:solidFill>
                <a:latin typeface="Arial"/>
                <a:ea typeface="Arial"/>
                <a:cs typeface="Arial"/>
              </a:defRPr>
            </a:pPr>
            <a:r>
              <a:rPr sz="2400" b="0">
                <a:solidFill>
                  <a:srgbClr val="222222"/>
                </a:solidFill>
                <a:latin typeface="Arial"/>
                <a:ea typeface="Arial"/>
                <a:cs typeface="Arial"/>
              </a:rPr>
              <a:t>KitchenQual</a:t>
            </a:r>
          </a:p>
          <a:p>
            <a:pPr>
              <a:defRPr sz="2400" b="0">
                <a:solidFill>
                  <a:srgbClr val="222222"/>
                </a:solidFill>
                <a:latin typeface="Arial"/>
                <a:ea typeface="Arial"/>
                <a:cs typeface="Arial"/>
              </a:defRPr>
            </a:pPr>
            <a:r>
              <a:rPr sz="2400" b="0">
                <a:solidFill>
                  <a:srgbClr val="222222"/>
                </a:solidFill>
                <a:latin typeface="Arial"/>
                <a:ea typeface="Arial"/>
                <a:cs typeface="Arial"/>
              </a:rPr>
              <a:t>Sale prices tend to vary with kitchen quality. The report identifies a clear predictive signal for this categorical feature.</a:t>
            </a:r>
          </a:p>
        </p:txBody>
      </p:sp>
    </p:spTree>
    <p:extLst>
      <p:ext uri="{BB962C8B-B14F-4D97-AF65-F5344CB8AC3E}">
        <p14:creationId xmlns:p14="http://schemas.microsoft.com/office/powerpoint/2010/main" val="1437862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p:cNvGraphicFramePr>
            <a:graphicFrameLocks noGrp="1"/>
          </p:cNvGraphicFramePr>
          <p:nvPr/>
        </p:nvGraphicFramePr>
        <p:xfrm>
          <a:off x="4691523" y="3283246"/>
          <a:ext cx="998571" cy="979648"/>
        </p:xfrm>
        <a:graphic>
          <a:graphicData uri="http://schemas.openxmlformats.org/drawingml/2006/table">
            <a:tbl>
              <a:tblPr/>
              <a:tblGrid>
                <a:gridCol w="332857">
                  <a:extLst>
                    <a:ext uri="{9D8B030D-6E8A-4147-A177-3AD203B41FA5}">
                      <a16:colId xmlns:a16="http://schemas.microsoft.com/office/drawing/2014/main" val="20000"/>
                    </a:ext>
                  </a:extLst>
                </a:gridCol>
                <a:gridCol w="346937">
                  <a:extLst>
                    <a:ext uri="{9D8B030D-6E8A-4147-A177-3AD203B41FA5}">
                      <a16:colId xmlns:a16="http://schemas.microsoft.com/office/drawing/2014/main" val="20001"/>
                    </a:ext>
                  </a:extLst>
                </a:gridCol>
                <a:gridCol w="318777">
                  <a:extLst>
                    <a:ext uri="{9D8B030D-6E8A-4147-A177-3AD203B41FA5}">
                      <a16:colId xmlns:a16="http://schemas.microsoft.com/office/drawing/2014/main" val="20002"/>
                    </a:ext>
                  </a:extLst>
                </a:gridCol>
              </a:tblGrid>
              <a:tr h="244912">
                <a:tc>
                  <a:txBody>
                    <a:bodyPr/>
                    <a:lstStyle/>
                    <a:p>
                      <a:pPr algn="ctr">
                        <a:lnSpc>
                          <a:spcPts val="1437"/>
                        </a:lnSpc>
                        <a:defRPr/>
                      </a:pPr>
                      <a:endParaRPr lang="en-US" sz="1100"/>
                    </a:p>
                  </a:txBody>
                  <a:tcPr marL="0" marR="0" marT="0" marB="0" anchor="ctr">
                    <a:lnL w="21770" cap="flat" cmpd="sng" algn="ctr">
                      <a:solidFill>
                        <a:srgbClr val="000000"/>
                      </a:solidFill>
                      <a:prstDash val="solid"/>
                      <a:round/>
                      <a:headEnd type="none" w="med" len="med"/>
                      <a:tailEnd type="none" w="med" len="med"/>
                    </a:lnL>
                    <a:lnR w="21770" cap="flat" cmpd="sng" algn="ctr">
                      <a:solidFill>
                        <a:srgbClr val="000000"/>
                      </a:solidFill>
                      <a:prstDash val="solid"/>
                      <a:round/>
                      <a:headEnd type="none" w="med" len="med"/>
                      <a:tailEnd type="none" w="med" len="med"/>
                    </a:lnR>
                    <a:lnT w="21770" cap="flat" cmpd="sng" algn="ctr">
                      <a:solidFill>
                        <a:srgbClr val="000000"/>
                      </a:solidFill>
                      <a:prstDash val="solid"/>
                      <a:round/>
                      <a:headEnd type="none" w="med" len="med"/>
                      <a:tailEnd type="none" w="med" len="med"/>
                    </a:lnT>
                    <a:lnB w="21770" cap="flat" cmpd="sng" algn="ctr">
                      <a:solidFill>
                        <a:srgbClr val="000000"/>
                      </a:solidFill>
                      <a:prstDash val="solid"/>
                      <a:round/>
                      <a:headEnd type="none" w="med" len="med"/>
                      <a:tailEnd type="none" w="med" len="med"/>
                    </a:lnB>
                    <a:solidFill>
                      <a:srgbClr val="00BF63"/>
                    </a:solidFill>
                  </a:tcPr>
                </a:tc>
                <a:tc>
                  <a:txBody>
                    <a:bodyPr/>
                    <a:lstStyle/>
                    <a:p>
                      <a:pPr algn="ctr">
                        <a:lnSpc>
                          <a:spcPts val="1437"/>
                        </a:lnSpc>
                        <a:defRPr/>
                      </a:pPr>
                      <a:endParaRPr lang="en-US" sz="1100"/>
                    </a:p>
                  </a:txBody>
                  <a:tcPr marL="0" marR="0" marT="0" marB="0" anchor="ctr">
                    <a:lnL w="21770" cap="flat" cmpd="sng" algn="ctr">
                      <a:solidFill>
                        <a:srgbClr val="000000"/>
                      </a:solidFill>
                      <a:prstDash val="solid"/>
                      <a:round/>
                      <a:headEnd type="none" w="med" len="med"/>
                      <a:tailEnd type="none" w="med" len="med"/>
                    </a:lnL>
                    <a:lnR w="21770" cap="flat" cmpd="sng" algn="ctr">
                      <a:solidFill>
                        <a:srgbClr val="000000"/>
                      </a:solidFill>
                      <a:prstDash val="solid"/>
                      <a:round/>
                      <a:headEnd type="none" w="med" len="med"/>
                      <a:tailEnd type="none" w="med" len="med"/>
                    </a:lnR>
                    <a:lnT w="21770" cap="flat" cmpd="sng" algn="ctr">
                      <a:solidFill>
                        <a:srgbClr val="000000"/>
                      </a:solidFill>
                      <a:prstDash val="solid"/>
                      <a:round/>
                      <a:headEnd type="none" w="med" len="med"/>
                      <a:tailEnd type="none" w="med" len="med"/>
                    </a:lnT>
                    <a:lnB w="21770" cap="flat" cmpd="sng" algn="ctr">
                      <a:solidFill>
                        <a:srgbClr val="000000"/>
                      </a:solidFill>
                      <a:prstDash val="solid"/>
                      <a:round/>
                      <a:headEnd type="none" w="med" len="med"/>
                      <a:tailEnd type="none" w="med" len="med"/>
                    </a:lnB>
                    <a:solidFill>
                      <a:srgbClr val="00BF63"/>
                    </a:solidFill>
                  </a:tcPr>
                </a:tc>
                <a:tc>
                  <a:txBody>
                    <a:bodyPr/>
                    <a:lstStyle/>
                    <a:p>
                      <a:pPr algn="ctr">
                        <a:lnSpc>
                          <a:spcPts val="1437"/>
                        </a:lnSpc>
                        <a:defRPr/>
                      </a:pPr>
                      <a:endParaRPr lang="en-US" sz="1100"/>
                    </a:p>
                  </a:txBody>
                  <a:tcPr marL="0" marR="0" marT="0" marB="0" anchor="ctr">
                    <a:lnL w="21770" cap="flat" cmpd="sng" algn="ctr">
                      <a:solidFill>
                        <a:srgbClr val="000000"/>
                      </a:solidFill>
                      <a:prstDash val="solid"/>
                      <a:round/>
                      <a:headEnd type="none" w="med" len="med"/>
                      <a:tailEnd type="none" w="med" len="med"/>
                    </a:lnL>
                    <a:lnR w="21770" cap="flat" cmpd="sng" algn="ctr">
                      <a:solidFill>
                        <a:srgbClr val="000000"/>
                      </a:solidFill>
                      <a:prstDash val="solid"/>
                      <a:round/>
                      <a:headEnd type="none" w="med" len="med"/>
                      <a:tailEnd type="none" w="med" len="med"/>
                    </a:lnR>
                    <a:lnT w="21770" cap="flat" cmpd="sng" algn="ctr">
                      <a:solidFill>
                        <a:srgbClr val="000000"/>
                      </a:solidFill>
                      <a:prstDash val="solid"/>
                      <a:round/>
                      <a:headEnd type="none" w="med" len="med"/>
                      <a:tailEnd type="none" w="med" len="med"/>
                    </a:lnT>
                    <a:lnB w="21770" cap="flat" cmpd="sng" algn="ctr">
                      <a:solidFill>
                        <a:srgbClr val="000000"/>
                      </a:solidFill>
                      <a:prstDash val="solid"/>
                      <a:round/>
                      <a:headEnd type="none" w="med" len="med"/>
                      <a:tailEnd type="none" w="med" len="med"/>
                    </a:lnB>
                    <a:solidFill>
                      <a:srgbClr val="00BF63"/>
                    </a:solidFill>
                  </a:tcPr>
                </a:tc>
                <a:extLst>
                  <a:ext uri="{0D108BD9-81ED-4DB2-BD59-A6C34878D82A}">
                    <a16:rowId xmlns:a16="http://schemas.microsoft.com/office/drawing/2014/main" val="10000"/>
                  </a:ext>
                </a:extLst>
              </a:tr>
              <a:tr h="244912">
                <a:tc>
                  <a:txBody>
                    <a:bodyPr/>
                    <a:lstStyle/>
                    <a:p>
                      <a:pPr algn="ctr">
                        <a:lnSpc>
                          <a:spcPts val="1437"/>
                        </a:lnSpc>
                        <a:defRPr/>
                      </a:pPr>
                      <a:endParaRPr lang="en-US" sz="1100"/>
                    </a:p>
                  </a:txBody>
                  <a:tcPr marL="0" marR="0" marT="0" marB="0" anchor="ctr">
                    <a:lnL w="21770" cap="flat" cmpd="sng" algn="ctr">
                      <a:solidFill>
                        <a:srgbClr val="000000"/>
                      </a:solidFill>
                      <a:prstDash val="solid"/>
                      <a:round/>
                      <a:headEnd type="none" w="med" len="med"/>
                      <a:tailEnd type="none" w="med" len="med"/>
                    </a:lnL>
                    <a:lnR w="21770" cap="flat" cmpd="sng" algn="ctr">
                      <a:solidFill>
                        <a:srgbClr val="000000"/>
                      </a:solidFill>
                      <a:prstDash val="solid"/>
                      <a:round/>
                      <a:headEnd type="none" w="med" len="med"/>
                      <a:tailEnd type="none" w="med" len="med"/>
                    </a:lnR>
                    <a:lnT w="21770" cap="flat" cmpd="sng" algn="ctr">
                      <a:solidFill>
                        <a:srgbClr val="000000"/>
                      </a:solidFill>
                      <a:prstDash val="solid"/>
                      <a:round/>
                      <a:headEnd type="none" w="med" len="med"/>
                      <a:tailEnd type="none" w="med" len="med"/>
                    </a:lnT>
                    <a:lnB w="21770" cap="flat" cmpd="sng" algn="ctr">
                      <a:solidFill>
                        <a:srgbClr val="000000"/>
                      </a:solidFill>
                      <a:prstDash val="solid"/>
                      <a:round/>
                      <a:headEnd type="none" w="med" len="med"/>
                      <a:tailEnd type="none" w="med" len="med"/>
                    </a:lnB>
                    <a:solidFill>
                      <a:srgbClr val="00BF63"/>
                    </a:solidFill>
                  </a:tcPr>
                </a:tc>
                <a:tc>
                  <a:txBody>
                    <a:bodyPr/>
                    <a:lstStyle/>
                    <a:p>
                      <a:pPr algn="ctr">
                        <a:lnSpc>
                          <a:spcPts val="1437"/>
                        </a:lnSpc>
                        <a:defRPr/>
                      </a:pPr>
                      <a:endParaRPr lang="en-US" sz="1100"/>
                    </a:p>
                  </a:txBody>
                  <a:tcPr marL="0" marR="0" marT="0" marB="0" anchor="ctr">
                    <a:lnL w="21770" cap="flat" cmpd="sng" algn="ctr">
                      <a:solidFill>
                        <a:srgbClr val="000000"/>
                      </a:solidFill>
                      <a:prstDash val="solid"/>
                      <a:round/>
                      <a:headEnd type="none" w="med" len="med"/>
                      <a:tailEnd type="none" w="med" len="med"/>
                    </a:lnL>
                    <a:lnR w="21770" cap="flat" cmpd="sng" algn="ctr">
                      <a:solidFill>
                        <a:srgbClr val="000000"/>
                      </a:solidFill>
                      <a:prstDash val="solid"/>
                      <a:round/>
                      <a:headEnd type="none" w="med" len="med"/>
                      <a:tailEnd type="none" w="med" len="med"/>
                    </a:lnR>
                    <a:lnT w="21770" cap="flat" cmpd="sng" algn="ctr">
                      <a:solidFill>
                        <a:srgbClr val="000000"/>
                      </a:solidFill>
                      <a:prstDash val="solid"/>
                      <a:round/>
                      <a:headEnd type="none" w="med" len="med"/>
                      <a:tailEnd type="none" w="med" len="med"/>
                    </a:lnT>
                    <a:lnB w="21770" cap="flat" cmpd="sng" algn="ctr">
                      <a:solidFill>
                        <a:srgbClr val="000000"/>
                      </a:solidFill>
                      <a:prstDash val="solid"/>
                      <a:round/>
                      <a:headEnd type="none" w="med" len="med"/>
                      <a:tailEnd type="none" w="med" len="med"/>
                    </a:lnB>
                  </a:tcPr>
                </a:tc>
                <a:tc>
                  <a:txBody>
                    <a:bodyPr/>
                    <a:lstStyle/>
                    <a:p>
                      <a:pPr algn="ctr">
                        <a:lnSpc>
                          <a:spcPts val="1437"/>
                        </a:lnSpc>
                        <a:defRPr/>
                      </a:pPr>
                      <a:endParaRPr lang="en-US" sz="1100"/>
                    </a:p>
                  </a:txBody>
                  <a:tcPr marL="0" marR="0" marT="0" marB="0" anchor="ctr">
                    <a:lnL w="21770" cap="flat" cmpd="sng" algn="ctr">
                      <a:solidFill>
                        <a:srgbClr val="000000"/>
                      </a:solidFill>
                      <a:prstDash val="solid"/>
                      <a:round/>
                      <a:headEnd type="none" w="med" len="med"/>
                      <a:tailEnd type="none" w="med" len="med"/>
                    </a:lnL>
                    <a:lnR w="21770" cap="flat" cmpd="sng" algn="ctr">
                      <a:solidFill>
                        <a:srgbClr val="000000"/>
                      </a:solidFill>
                      <a:prstDash val="solid"/>
                      <a:round/>
                      <a:headEnd type="none" w="med" len="med"/>
                      <a:tailEnd type="none" w="med" len="med"/>
                    </a:lnR>
                    <a:lnT w="21770" cap="flat" cmpd="sng" algn="ctr">
                      <a:solidFill>
                        <a:srgbClr val="000000"/>
                      </a:solidFill>
                      <a:prstDash val="solid"/>
                      <a:round/>
                      <a:headEnd type="none" w="med" len="med"/>
                      <a:tailEnd type="none" w="med" len="med"/>
                    </a:lnT>
                    <a:lnB w="2177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44912">
                <a:tc>
                  <a:txBody>
                    <a:bodyPr/>
                    <a:lstStyle/>
                    <a:p>
                      <a:pPr algn="ctr">
                        <a:lnSpc>
                          <a:spcPts val="1437"/>
                        </a:lnSpc>
                        <a:defRPr/>
                      </a:pPr>
                      <a:endParaRPr lang="en-US" sz="1100"/>
                    </a:p>
                  </a:txBody>
                  <a:tcPr marL="0" marR="0" marT="0" marB="0" anchor="ctr">
                    <a:lnL w="21770" cap="flat" cmpd="sng" algn="ctr">
                      <a:solidFill>
                        <a:srgbClr val="000000"/>
                      </a:solidFill>
                      <a:prstDash val="solid"/>
                      <a:round/>
                      <a:headEnd type="none" w="med" len="med"/>
                      <a:tailEnd type="none" w="med" len="med"/>
                    </a:lnL>
                    <a:lnR w="21770" cap="flat" cmpd="sng" algn="ctr">
                      <a:solidFill>
                        <a:srgbClr val="000000"/>
                      </a:solidFill>
                      <a:prstDash val="solid"/>
                      <a:round/>
                      <a:headEnd type="none" w="med" len="med"/>
                      <a:tailEnd type="none" w="med" len="med"/>
                    </a:lnR>
                    <a:lnT w="21770" cap="flat" cmpd="sng" algn="ctr">
                      <a:solidFill>
                        <a:srgbClr val="000000"/>
                      </a:solidFill>
                      <a:prstDash val="solid"/>
                      <a:round/>
                      <a:headEnd type="none" w="med" len="med"/>
                      <a:tailEnd type="none" w="med" len="med"/>
                    </a:lnT>
                    <a:lnB w="21770" cap="flat" cmpd="sng" algn="ctr">
                      <a:solidFill>
                        <a:srgbClr val="000000"/>
                      </a:solidFill>
                      <a:prstDash val="solid"/>
                      <a:round/>
                      <a:headEnd type="none" w="med" len="med"/>
                      <a:tailEnd type="none" w="med" len="med"/>
                    </a:lnB>
                    <a:solidFill>
                      <a:srgbClr val="00BF63"/>
                    </a:solidFill>
                  </a:tcPr>
                </a:tc>
                <a:tc>
                  <a:txBody>
                    <a:bodyPr/>
                    <a:lstStyle/>
                    <a:p>
                      <a:pPr algn="ctr">
                        <a:lnSpc>
                          <a:spcPts val="1437"/>
                        </a:lnSpc>
                        <a:defRPr/>
                      </a:pPr>
                      <a:endParaRPr lang="en-US" sz="1100"/>
                    </a:p>
                  </a:txBody>
                  <a:tcPr marL="0" marR="0" marT="0" marB="0" anchor="ctr">
                    <a:lnL w="21770" cap="flat" cmpd="sng" algn="ctr">
                      <a:solidFill>
                        <a:srgbClr val="000000"/>
                      </a:solidFill>
                      <a:prstDash val="solid"/>
                      <a:round/>
                      <a:headEnd type="none" w="med" len="med"/>
                      <a:tailEnd type="none" w="med" len="med"/>
                    </a:lnL>
                    <a:lnR w="21770" cap="flat" cmpd="sng" algn="ctr">
                      <a:solidFill>
                        <a:srgbClr val="000000"/>
                      </a:solidFill>
                      <a:prstDash val="solid"/>
                      <a:round/>
                      <a:headEnd type="none" w="med" len="med"/>
                      <a:tailEnd type="none" w="med" len="med"/>
                    </a:lnR>
                    <a:lnT w="21770" cap="flat" cmpd="sng" algn="ctr">
                      <a:solidFill>
                        <a:srgbClr val="000000"/>
                      </a:solidFill>
                      <a:prstDash val="solid"/>
                      <a:round/>
                      <a:headEnd type="none" w="med" len="med"/>
                      <a:tailEnd type="none" w="med" len="med"/>
                    </a:lnT>
                    <a:lnB w="21770" cap="flat" cmpd="sng" algn="ctr">
                      <a:solidFill>
                        <a:srgbClr val="000000"/>
                      </a:solidFill>
                      <a:prstDash val="solid"/>
                      <a:round/>
                      <a:headEnd type="none" w="med" len="med"/>
                      <a:tailEnd type="none" w="med" len="med"/>
                    </a:lnB>
                  </a:tcPr>
                </a:tc>
                <a:tc>
                  <a:txBody>
                    <a:bodyPr/>
                    <a:lstStyle/>
                    <a:p>
                      <a:pPr algn="ctr">
                        <a:lnSpc>
                          <a:spcPts val="1437"/>
                        </a:lnSpc>
                        <a:defRPr/>
                      </a:pPr>
                      <a:endParaRPr lang="en-US" sz="1100"/>
                    </a:p>
                  </a:txBody>
                  <a:tcPr marL="0" marR="0" marT="0" marB="0" anchor="ctr">
                    <a:lnL w="21770" cap="flat" cmpd="sng" algn="ctr">
                      <a:solidFill>
                        <a:srgbClr val="000000"/>
                      </a:solidFill>
                      <a:prstDash val="solid"/>
                      <a:round/>
                      <a:headEnd type="none" w="med" len="med"/>
                      <a:tailEnd type="none" w="med" len="med"/>
                    </a:lnL>
                    <a:lnR w="21770" cap="flat" cmpd="sng" algn="ctr">
                      <a:solidFill>
                        <a:srgbClr val="000000"/>
                      </a:solidFill>
                      <a:prstDash val="solid"/>
                      <a:round/>
                      <a:headEnd type="none" w="med" len="med"/>
                      <a:tailEnd type="none" w="med" len="med"/>
                    </a:lnR>
                    <a:lnT w="21770" cap="flat" cmpd="sng" algn="ctr">
                      <a:solidFill>
                        <a:srgbClr val="000000"/>
                      </a:solidFill>
                      <a:prstDash val="solid"/>
                      <a:round/>
                      <a:headEnd type="none" w="med" len="med"/>
                      <a:tailEnd type="none" w="med" len="med"/>
                    </a:lnT>
                    <a:lnB w="2177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44912">
                <a:tc>
                  <a:txBody>
                    <a:bodyPr/>
                    <a:lstStyle/>
                    <a:p>
                      <a:pPr algn="ctr">
                        <a:lnSpc>
                          <a:spcPts val="1437"/>
                        </a:lnSpc>
                        <a:defRPr/>
                      </a:pPr>
                      <a:endParaRPr lang="en-US" sz="1100"/>
                    </a:p>
                  </a:txBody>
                  <a:tcPr marL="0" marR="0" marT="0" marB="0" anchor="ctr">
                    <a:lnL w="21770" cap="flat" cmpd="sng" algn="ctr">
                      <a:solidFill>
                        <a:srgbClr val="000000"/>
                      </a:solidFill>
                      <a:prstDash val="solid"/>
                      <a:round/>
                      <a:headEnd type="none" w="med" len="med"/>
                      <a:tailEnd type="none" w="med" len="med"/>
                    </a:lnL>
                    <a:lnR w="21770" cap="flat" cmpd="sng" algn="ctr">
                      <a:solidFill>
                        <a:srgbClr val="000000"/>
                      </a:solidFill>
                      <a:prstDash val="solid"/>
                      <a:round/>
                      <a:headEnd type="none" w="med" len="med"/>
                      <a:tailEnd type="none" w="med" len="med"/>
                    </a:lnR>
                    <a:lnT w="21770" cap="flat" cmpd="sng" algn="ctr">
                      <a:solidFill>
                        <a:srgbClr val="000000"/>
                      </a:solidFill>
                      <a:prstDash val="solid"/>
                      <a:round/>
                      <a:headEnd type="none" w="med" len="med"/>
                      <a:tailEnd type="none" w="med" len="med"/>
                    </a:lnT>
                    <a:lnB w="21770" cap="flat" cmpd="sng" algn="ctr">
                      <a:solidFill>
                        <a:srgbClr val="000000"/>
                      </a:solidFill>
                      <a:prstDash val="solid"/>
                      <a:round/>
                      <a:headEnd type="none" w="med" len="med"/>
                      <a:tailEnd type="none" w="med" len="med"/>
                    </a:lnB>
                    <a:solidFill>
                      <a:srgbClr val="00BF63"/>
                    </a:solidFill>
                  </a:tcPr>
                </a:tc>
                <a:tc>
                  <a:txBody>
                    <a:bodyPr/>
                    <a:lstStyle/>
                    <a:p>
                      <a:pPr algn="ctr">
                        <a:lnSpc>
                          <a:spcPts val="1437"/>
                        </a:lnSpc>
                        <a:defRPr/>
                      </a:pPr>
                      <a:endParaRPr lang="en-US" sz="1100"/>
                    </a:p>
                  </a:txBody>
                  <a:tcPr marL="0" marR="0" marT="0" marB="0" anchor="ctr">
                    <a:lnL w="21770" cap="flat" cmpd="sng" algn="ctr">
                      <a:solidFill>
                        <a:srgbClr val="000000"/>
                      </a:solidFill>
                      <a:prstDash val="solid"/>
                      <a:round/>
                      <a:headEnd type="none" w="med" len="med"/>
                      <a:tailEnd type="none" w="med" len="med"/>
                    </a:lnL>
                    <a:lnR w="21770" cap="flat" cmpd="sng" algn="ctr">
                      <a:solidFill>
                        <a:srgbClr val="000000"/>
                      </a:solidFill>
                      <a:prstDash val="solid"/>
                      <a:round/>
                      <a:headEnd type="none" w="med" len="med"/>
                      <a:tailEnd type="none" w="med" len="med"/>
                    </a:lnR>
                    <a:lnT w="21770" cap="flat" cmpd="sng" algn="ctr">
                      <a:solidFill>
                        <a:srgbClr val="000000"/>
                      </a:solidFill>
                      <a:prstDash val="solid"/>
                      <a:round/>
                      <a:headEnd type="none" w="med" len="med"/>
                      <a:tailEnd type="none" w="med" len="med"/>
                    </a:lnT>
                    <a:lnB w="21770" cap="flat" cmpd="sng" algn="ctr">
                      <a:solidFill>
                        <a:srgbClr val="000000"/>
                      </a:solidFill>
                      <a:prstDash val="solid"/>
                      <a:round/>
                      <a:headEnd type="none" w="med" len="med"/>
                      <a:tailEnd type="none" w="med" len="med"/>
                    </a:lnB>
                  </a:tcPr>
                </a:tc>
                <a:tc>
                  <a:txBody>
                    <a:bodyPr/>
                    <a:lstStyle/>
                    <a:p>
                      <a:pPr algn="ctr">
                        <a:lnSpc>
                          <a:spcPts val="1437"/>
                        </a:lnSpc>
                        <a:defRPr/>
                      </a:pPr>
                      <a:endParaRPr lang="en-US" sz="1100"/>
                    </a:p>
                  </a:txBody>
                  <a:tcPr marL="0" marR="0" marT="0" marB="0" anchor="ctr">
                    <a:lnL w="21770" cap="flat" cmpd="sng" algn="ctr">
                      <a:solidFill>
                        <a:srgbClr val="000000"/>
                      </a:solidFill>
                      <a:prstDash val="solid"/>
                      <a:round/>
                      <a:headEnd type="none" w="med" len="med"/>
                      <a:tailEnd type="none" w="med" len="med"/>
                    </a:lnL>
                    <a:lnR w="21770" cap="flat" cmpd="sng" algn="ctr">
                      <a:solidFill>
                        <a:srgbClr val="000000"/>
                      </a:solidFill>
                      <a:prstDash val="solid"/>
                      <a:round/>
                      <a:headEnd type="none" w="med" len="med"/>
                      <a:tailEnd type="none" w="med" len="med"/>
                    </a:lnR>
                    <a:lnT w="21770" cap="flat" cmpd="sng" algn="ctr">
                      <a:solidFill>
                        <a:srgbClr val="000000"/>
                      </a:solidFill>
                      <a:prstDash val="solid"/>
                      <a:round/>
                      <a:headEnd type="none" w="med" len="med"/>
                      <a:tailEnd type="none" w="med" len="med"/>
                    </a:lnT>
                    <a:lnB w="2177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4" name="Table 4"/>
          <p:cNvGraphicFramePr>
            <a:graphicFrameLocks noGrp="1"/>
          </p:cNvGraphicFramePr>
          <p:nvPr/>
        </p:nvGraphicFramePr>
        <p:xfrm>
          <a:off x="4691523" y="4462662"/>
          <a:ext cx="998571" cy="979648"/>
        </p:xfrm>
        <a:graphic>
          <a:graphicData uri="http://schemas.openxmlformats.org/drawingml/2006/table">
            <a:tbl>
              <a:tblPr/>
              <a:tblGrid>
                <a:gridCol w="332857">
                  <a:extLst>
                    <a:ext uri="{9D8B030D-6E8A-4147-A177-3AD203B41FA5}">
                      <a16:colId xmlns:a16="http://schemas.microsoft.com/office/drawing/2014/main" val="20000"/>
                    </a:ext>
                  </a:extLst>
                </a:gridCol>
                <a:gridCol w="346937">
                  <a:extLst>
                    <a:ext uri="{9D8B030D-6E8A-4147-A177-3AD203B41FA5}">
                      <a16:colId xmlns:a16="http://schemas.microsoft.com/office/drawing/2014/main" val="20001"/>
                    </a:ext>
                  </a:extLst>
                </a:gridCol>
                <a:gridCol w="318777">
                  <a:extLst>
                    <a:ext uri="{9D8B030D-6E8A-4147-A177-3AD203B41FA5}">
                      <a16:colId xmlns:a16="http://schemas.microsoft.com/office/drawing/2014/main" val="20002"/>
                    </a:ext>
                  </a:extLst>
                </a:gridCol>
              </a:tblGrid>
              <a:tr h="244912">
                <a:tc>
                  <a:txBody>
                    <a:bodyPr/>
                    <a:lstStyle/>
                    <a:p>
                      <a:pPr algn="ctr">
                        <a:lnSpc>
                          <a:spcPts val="1437"/>
                        </a:lnSpc>
                        <a:defRPr/>
                      </a:pPr>
                      <a:endParaRPr lang="en-US" sz="1100"/>
                    </a:p>
                  </a:txBody>
                  <a:tcPr marL="0" marR="0" marT="0" marB="0" anchor="ctr">
                    <a:lnL w="21770" cap="flat" cmpd="sng" algn="ctr">
                      <a:solidFill>
                        <a:srgbClr val="000000"/>
                      </a:solidFill>
                      <a:prstDash val="solid"/>
                      <a:round/>
                      <a:headEnd type="none" w="med" len="med"/>
                      <a:tailEnd type="none" w="med" len="med"/>
                    </a:lnL>
                    <a:lnR w="21770" cap="flat" cmpd="sng" algn="ctr">
                      <a:solidFill>
                        <a:srgbClr val="000000"/>
                      </a:solidFill>
                      <a:prstDash val="solid"/>
                      <a:round/>
                      <a:headEnd type="none" w="med" len="med"/>
                      <a:tailEnd type="none" w="med" len="med"/>
                    </a:lnR>
                    <a:lnT w="21770" cap="flat" cmpd="sng" algn="ctr">
                      <a:solidFill>
                        <a:srgbClr val="000000"/>
                      </a:solidFill>
                      <a:prstDash val="solid"/>
                      <a:round/>
                      <a:headEnd type="none" w="med" len="med"/>
                      <a:tailEnd type="none" w="med" len="med"/>
                    </a:lnT>
                    <a:lnB w="21770" cap="flat" cmpd="sng" algn="ctr">
                      <a:solidFill>
                        <a:srgbClr val="000000"/>
                      </a:solidFill>
                      <a:prstDash val="solid"/>
                      <a:round/>
                      <a:headEnd type="none" w="med" len="med"/>
                      <a:tailEnd type="none" w="med" len="med"/>
                    </a:lnB>
                    <a:solidFill>
                      <a:srgbClr val="FF751F"/>
                    </a:solidFill>
                  </a:tcPr>
                </a:tc>
                <a:tc>
                  <a:txBody>
                    <a:bodyPr/>
                    <a:lstStyle/>
                    <a:p>
                      <a:pPr algn="ctr">
                        <a:lnSpc>
                          <a:spcPts val="1437"/>
                        </a:lnSpc>
                        <a:defRPr/>
                      </a:pPr>
                      <a:endParaRPr lang="en-US" sz="1100"/>
                    </a:p>
                  </a:txBody>
                  <a:tcPr marL="0" marR="0" marT="0" marB="0" anchor="ctr">
                    <a:lnL w="21770" cap="flat" cmpd="sng" algn="ctr">
                      <a:solidFill>
                        <a:srgbClr val="000000"/>
                      </a:solidFill>
                      <a:prstDash val="solid"/>
                      <a:round/>
                      <a:headEnd type="none" w="med" len="med"/>
                      <a:tailEnd type="none" w="med" len="med"/>
                    </a:lnL>
                    <a:lnR w="21770" cap="flat" cmpd="sng" algn="ctr">
                      <a:solidFill>
                        <a:srgbClr val="000000"/>
                      </a:solidFill>
                      <a:prstDash val="solid"/>
                      <a:round/>
                      <a:headEnd type="none" w="med" len="med"/>
                      <a:tailEnd type="none" w="med" len="med"/>
                    </a:lnR>
                    <a:lnT w="21770" cap="flat" cmpd="sng" algn="ctr">
                      <a:solidFill>
                        <a:srgbClr val="000000"/>
                      </a:solidFill>
                      <a:prstDash val="solid"/>
                      <a:round/>
                      <a:headEnd type="none" w="med" len="med"/>
                      <a:tailEnd type="none" w="med" len="med"/>
                    </a:lnT>
                    <a:lnB w="21770" cap="flat" cmpd="sng" algn="ctr">
                      <a:solidFill>
                        <a:srgbClr val="000000"/>
                      </a:solidFill>
                      <a:prstDash val="solid"/>
                      <a:round/>
                      <a:headEnd type="none" w="med" len="med"/>
                      <a:tailEnd type="none" w="med" len="med"/>
                    </a:lnB>
                    <a:solidFill>
                      <a:srgbClr val="FF751F"/>
                    </a:solidFill>
                  </a:tcPr>
                </a:tc>
                <a:tc>
                  <a:txBody>
                    <a:bodyPr/>
                    <a:lstStyle/>
                    <a:p>
                      <a:pPr algn="ctr">
                        <a:lnSpc>
                          <a:spcPts val="1437"/>
                        </a:lnSpc>
                        <a:defRPr/>
                      </a:pPr>
                      <a:endParaRPr lang="en-US" sz="1100"/>
                    </a:p>
                  </a:txBody>
                  <a:tcPr marL="0" marR="0" marT="0" marB="0" anchor="ctr">
                    <a:lnL w="21770" cap="flat" cmpd="sng" algn="ctr">
                      <a:solidFill>
                        <a:srgbClr val="000000"/>
                      </a:solidFill>
                      <a:prstDash val="solid"/>
                      <a:round/>
                      <a:headEnd type="none" w="med" len="med"/>
                      <a:tailEnd type="none" w="med" len="med"/>
                    </a:lnL>
                    <a:lnR w="21770" cap="flat" cmpd="sng" algn="ctr">
                      <a:solidFill>
                        <a:srgbClr val="000000"/>
                      </a:solidFill>
                      <a:prstDash val="solid"/>
                      <a:round/>
                      <a:headEnd type="none" w="med" len="med"/>
                      <a:tailEnd type="none" w="med" len="med"/>
                    </a:lnR>
                    <a:lnT w="21770" cap="flat" cmpd="sng" algn="ctr">
                      <a:solidFill>
                        <a:srgbClr val="000000"/>
                      </a:solidFill>
                      <a:prstDash val="solid"/>
                      <a:round/>
                      <a:headEnd type="none" w="med" len="med"/>
                      <a:tailEnd type="none" w="med" len="med"/>
                    </a:lnT>
                    <a:lnB w="21770" cap="flat" cmpd="sng" algn="ctr">
                      <a:solidFill>
                        <a:srgbClr val="000000"/>
                      </a:solidFill>
                      <a:prstDash val="solid"/>
                      <a:round/>
                      <a:headEnd type="none" w="med" len="med"/>
                      <a:tailEnd type="none" w="med" len="med"/>
                    </a:lnB>
                    <a:solidFill>
                      <a:srgbClr val="FF751F"/>
                    </a:solidFill>
                  </a:tcPr>
                </a:tc>
                <a:extLst>
                  <a:ext uri="{0D108BD9-81ED-4DB2-BD59-A6C34878D82A}">
                    <a16:rowId xmlns:a16="http://schemas.microsoft.com/office/drawing/2014/main" val="10000"/>
                  </a:ext>
                </a:extLst>
              </a:tr>
              <a:tr h="244912">
                <a:tc>
                  <a:txBody>
                    <a:bodyPr/>
                    <a:lstStyle/>
                    <a:p>
                      <a:pPr algn="ctr">
                        <a:lnSpc>
                          <a:spcPts val="1437"/>
                        </a:lnSpc>
                        <a:defRPr/>
                      </a:pPr>
                      <a:endParaRPr lang="en-US" sz="1100"/>
                    </a:p>
                  </a:txBody>
                  <a:tcPr marL="0" marR="0" marT="0" marB="0" anchor="ctr">
                    <a:lnL w="21770" cap="flat" cmpd="sng" algn="ctr">
                      <a:solidFill>
                        <a:srgbClr val="000000"/>
                      </a:solidFill>
                      <a:prstDash val="solid"/>
                      <a:round/>
                      <a:headEnd type="none" w="med" len="med"/>
                      <a:tailEnd type="none" w="med" len="med"/>
                    </a:lnL>
                    <a:lnR w="21770" cap="flat" cmpd="sng" algn="ctr">
                      <a:solidFill>
                        <a:srgbClr val="000000"/>
                      </a:solidFill>
                      <a:prstDash val="solid"/>
                      <a:round/>
                      <a:headEnd type="none" w="med" len="med"/>
                      <a:tailEnd type="none" w="med" len="med"/>
                    </a:lnR>
                    <a:lnT w="21770" cap="flat" cmpd="sng" algn="ctr">
                      <a:solidFill>
                        <a:srgbClr val="000000"/>
                      </a:solidFill>
                      <a:prstDash val="solid"/>
                      <a:round/>
                      <a:headEnd type="none" w="med" len="med"/>
                      <a:tailEnd type="none" w="med" len="med"/>
                    </a:lnT>
                    <a:lnB w="21770" cap="flat" cmpd="sng" algn="ctr">
                      <a:solidFill>
                        <a:srgbClr val="000000"/>
                      </a:solidFill>
                      <a:prstDash val="solid"/>
                      <a:round/>
                      <a:headEnd type="none" w="med" len="med"/>
                      <a:tailEnd type="none" w="med" len="med"/>
                    </a:lnB>
                    <a:solidFill>
                      <a:srgbClr val="FF751F"/>
                    </a:solidFill>
                  </a:tcPr>
                </a:tc>
                <a:tc>
                  <a:txBody>
                    <a:bodyPr/>
                    <a:lstStyle/>
                    <a:p>
                      <a:pPr algn="ctr">
                        <a:lnSpc>
                          <a:spcPts val="1437"/>
                        </a:lnSpc>
                        <a:defRPr/>
                      </a:pPr>
                      <a:endParaRPr lang="en-US" sz="1100"/>
                    </a:p>
                  </a:txBody>
                  <a:tcPr marL="0" marR="0" marT="0" marB="0" anchor="ctr">
                    <a:lnL w="21770" cap="flat" cmpd="sng" algn="ctr">
                      <a:solidFill>
                        <a:srgbClr val="000000"/>
                      </a:solidFill>
                      <a:prstDash val="solid"/>
                      <a:round/>
                      <a:headEnd type="none" w="med" len="med"/>
                      <a:tailEnd type="none" w="med" len="med"/>
                    </a:lnL>
                    <a:lnR w="21770" cap="flat" cmpd="sng" algn="ctr">
                      <a:solidFill>
                        <a:srgbClr val="000000"/>
                      </a:solidFill>
                      <a:prstDash val="solid"/>
                      <a:round/>
                      <a:headEnd type="none" w="med" len="med"/>
                      <a:tailEnd type="none" w="med" len="med"/>
                    </a:lnR>
                    <a:lnT w="21770" cap="flat" cmpd="sng" algn="ctr">
                      <a:solidFill>
                        <a:srgbClr val="000000"/>
                      </a:solidFill>
                      <a:prstDash val="solid"/>
                      <a:round/>
                      <a:headEnd type="none" w="med" len="med"/>
                      <a:tailEnd type="none" w="med" len="med"/>
                    </a:lnT>
                    <a:lnB w="21770" cap="flat" cmpd="sng" algn="ctr">
                      <a:solidFill>
                        <a:srgbClr val="000000"/>
                      </a:solidFill>
                      <a:prstDash val="solid"/>
                      <a:round/>
                      <a:headEnd type="none" w="med" len="med"/>
                      <a:tailEnd type="none" w="med" len="med"/>
                    </a:lnB>
                  </a:tcPr>
                </a:tc>
                <a:tc>
                  <a:txBody>
                    <a:bodyPr/>
                    <a:lstStyle/>
                    <a:p>
                      <a:pPr algn="ctr">
                        <a:lnSpc>
                          <a:spcPts val="1437"/>
                        </a:lnSpc>
                        <a:defRPr/>
                      </a:pPr>
                      <a:endParaRPr lang="en-US" sz="1100"/>
                    </a:p>
                  </a:txBody>
                  <a:tcPr marL="0" marR="0" marT="0" marB="0" anchor="ctr">
                    <a:lnL w="21770" cap="flat" cmpd="sng" algn="ctr">
                      <a:solidFill>
                        <a:srgbClr val="000000"/>
                      </a:solidFill>
                      <a:prstDash val="solid"/>
                      <a:round/>
                      <a:headEnd type="none" w="med" len="med"/>
                      <a:tailEnd type="none" w="med" len="med"/>
                    </a:lnL>
                    <a:lnR w="21770" cap="flat" cmpd="sng" algn="ctr">
                      <a:solidFill>
                        <a:srgbClr val="000000"/>
                      </a:solidFill>
                      <a:prstDash val="solid"/>
                      <a:round/>
                      <a:headEnd type="none" w="med" len="med"/>
                      <a:tailEnd type="none" w="med" len="med"/>
                    </a:lnR>
                    <a:lnT w="21770" cap="flat" cmpd="sng" algn="ctr">
                      <a:solidFill>
                        <a:srgbClr val="000000"/>
                      </a:solidFill>
                      <a:prstDash val="solid"/>
                      <a:round/>
                      <a:headEnd type="none" w="med" len="med"/>
                      <a:tailEnd type="none" w="med" len="med"/>
                    </a:lnT>
                    <a:lnB w="2177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44912">
                <a:tc>
                  <a:txBody>
                    <a:bodyPr/>
                    <a:lstStyle/>
                    <a:p>
                      <a:pPr algn="ctr">
                        <a:lnSpc>
                          <a:spcPts val="1437"/>
                        </a:lnSpc>
                        <a:defRPr/>
                      </a:pPr>
                      <a:endParaRPr lang="en-US" sz="1100"/>
                    </a:p>
                  </a:txBody>
                  <a:tcPr marL="0" marR="0" marT="0" marB="0" anchor="ctr">
                    <a:lnL w="21770" cap="flat" cmpd="sng" algn="ctr">
                      <a:solidFill>
                        <a:srgbClr val="000000"/>
                      </a:solidFill>
                      <a:prstDash val="solid"/>
                      <a:round/>
                      <a:headEnd type="none" w="med" len="med"/>
                      <a:tailEnd type="none" w="med" len="med"/>
                    </a:lnL>
                    <a:lnR w="21770" cap="flat" cmpd="sng" algn="ctr">
                      <a:solidFill>
                        <a:srgbClr val="000000"/>
                      </a:solidFill>
                      <a:prstDash val="solid"/>
                      <a:round/>
                      <a:headEnd type="none" w="med" len="med"/>
                      <a:tailEnd type="none" w="med" len="med"/>
                    </a:lnR>
                    <a:lnT w="21770" cap="flat" cmpd="sng" algn="ctr">
                      <a:solidFill>
                        <a:srgbClr val="000000"/>
                      </a:solidFill>
                      <a:prstDash val="solid"/>
                      <a:round/>
                      <a:headEnd type="none" w="med" len="med"/>
                      <a:tailEnd type="none" w="med" len="med"/>
                    </a:lnT>
                    <a:lnB w="21770" cap="flat" cmpd="sng" algn="ctr">
                      <a:solidFill>
                        <a:srgbClr val="000000"/>
                      </a:solidFill>
                      <a:prstDash val="solid"/>
                      <a:round/>
                      <a:headEnd type="none" w="med" len="med"/>
                      <a:tailEnd type="none" w="med" len="med"/>
                    </a:lnB>
                    <a:solidFill>
                      <a:srgbClr val="FF751F"/>
                    </a:solidFill>
                  </a:tcPr>
                </a:tc>
                <a:tc>
                  <a:txBody>
                    <a:bodyPr/>
                    <a:lstStyle/>
                    <a:p>
                      <a:pPr algn="ctr">
                        <a:lnSpc>
                          <a:spcPts val="1437"/>
                        </a:lnSpc>
                        <a:defRPr/>
                      </a:pPr>
                      <a:endParaRPr lang="en-US" sz="1100"/>
                    </a:p>
                  </a:txBody>
                  <a:tcPr marL="0" marR="0" marT="0" marB="0" anchor="ctr">
                    <a:lnL w="21770" cap="flat" cmpd="sng" algn="ctr">
                      <a:solidFill>
                        <a:srgbClr val="000000"/>
                      </a:solidFill>
                      <a:prstDash val="solid"/>
                      <a:round/>
                      <a:headEnd type="none" w="med" len="med"/>
                      <a:tailEnd type="none" w="med" len="med"/>
                    </a:lnL>
                    <a:lnR w="21770" cap="flat" cmpd="sng" algn="ctr">
                      <a:solidFill>
                        <a:srgbClr val="000000"/>
                      </a:solidFill>
                      <a:prstDash val="solid"/>
                      <a:round/>
                      <a:headEnd type="none" w="med" len="med"/>
                      <a:tailEnd type="none" w="med" len="med"/>
                    </a:lnR>
                    <a:lnT w="21770" cap="flat" cmpd="sng" algn="ctr">
                      <a:solidFill>
                        <a:srgbClr val="000000"/>
                      </a:solidFill>
                      <a:prstDash val="solid"/>
                      <a:round/>
                      <a:headEnd type="none" w="med" len="med"/>
                      <a:tailEnd type="none" w="med" len="med"/>
                    </a:lnT>
                    <a:lnB w="21770" cap="flat" cmpd="sng" algn="ctr">
                      <a:solidFill>
                        <a:srgbClr val="000000"/>
                      </a:solidFill>
                      <a:prstDash val="solid"/>
                      <a:round/>
                      <a:headEnd type="none" w="med" len="med"/>
                      <a:tailEnd type="none" w="med" len="med"/>
                    </a:lnB>
                  </a:tcPr>
                </a:tc>
                <a:tc>
                  <a:txBody>
                    <a:bodyPr/>
                    <a:lstStyle/>
                    <a:p>
                      <a:pPr algn="ctr">
                        <a:lnSpc>
                          <a:spcPts val="1437"/>
                        </a:lnSpc>
                        <a:defRPr/>
                      </a:pPr>
                      <a:endParaRPr lang="en-US" sz="1100"/>
                    </a:p>
                  </a:txBody>
                  <a:tcPr marL="0" marR="0" marT="0" marB="0" anchor="ctr">
                    <a:lnL w="21770" cap="flat" cmpd="sng" algn="ctr">
                      <a:solidFill>
                        <a:srgbClr val="000000"/>
                      </a:solidFill>
                      <a:prstDash val="solid"/>
                      <a:round/>
                      <a:headEnd type="none" w="med" len="med"/>
                      <a:tailEnd type="none" w="med" len="med"/>
                    </a:lnL>
                    <a:lnR w="21770" cap="flat" cmpd="sng" algn="ctr">
                      <a:solidFill>
                        <a:srgbClr val="000000"/>
                      </a:solidFill>
                      <a:prstDash val="solid"/>
                      <a:round/>
                      <a:headEnd type="none" w="med" len="med"/>
                      <a:tailEnd type="none" w="med" len="med"/>
                    </a:lnR>
                    <a:lnT w="21770" cap="flat" cmpd="sng" algn="ctr">
                      <a:solidFill>
                        <a:srgbClr val="000000"/>
                      </a:solidFill>
                      <a:prstDash val="solid"/>
                      <a:round/>
                      <a:headEnd type="none" w="med" len="med"/>
                      <a:tailEnd type="none" w="med" len="med"/>
                    </a:lnT>
                    <a:lnB w="2177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44912">
                <a:tc>
                  <a:txBody>
                    <a:bodyPr/>
                    <a:lstStyle/>
                    <a:p>
                      <a:pPr algn="ctr">
                        <a:lnSpc>
                          <a:spcPts val="1437"/>
                        </a:lnSpc>
                        <a:defRPr/>
                      </a:pPr>
                      <a:endParaRPr lang="en-US" sz="1100"/>
                    </a:p>
                  </a:txBody>
                  <a:tcPr marL="0" marR="0" marT="0" marB="0" anchor="ctr">
                    <a:lnL w="21770" cap="flat" cmpd="sng" algn="ctr">
                      <a:solidFill>
                        <a:srgbClr val="000000"/>
                      </a:solidFill>
                      <a:prstDash val="solid"/>
                      <a:round/>
                      <a:headEnd type="none" w="med" len="med"/>
                      <a:tailEnd type="none" w="med" len="med"/>
                    </a:lnL>
                    <a:lnR w="21770" cap="flat" cmpd="sng" algn="ctr">
                      <a:solidFill>
                        <a:srgbClr val="000000"/>
                      </a:solidFill>
                      <a:prstDash val="solid"/>
                      <a:round/>
                      <a:headEnd type="none" w="med" len="med"/>
                      <a:tailEnd type="none" w="med" len="med"/>
                    </a:lnR>
                    <a:lnT w="21770" cap="flat" cmpd="sng" algn="ctr">
                      <a:solidFill>
                        <a:srgbClr val="000000"/>
                      </a:solidFill>
                      <a:prstDash val="solid"/>
                      <a:round/>
                      <a:headEnd type="none" w="med" len="med"/>
                      <a:tailEnd type="none" w="med" len="med"/>
                    </a:lnT>
                    <a:lnB w="21770" cap="flat" cmpd="sng" algn="ctr">
                      <a:solidFill>
                        <a:srgbClr val="000000"/>
                      </a:solidFill>
                      <a:prstDash val="solid"/>
                      <a:round/>
                      <a:headEnd type="none" w="med" len="med"/>
                      <a:tailEnd type="none" w="med" len="med"/>
                    </a:lnB>
                    <a:solidFill>
                      <a:srgbClr val="FF751F"/>
                    </a:solidFill>
                  </a:tcPr>
                </a:tc>
                <a:tc>
                  <a:txBody>
                    <a:bodyPr/>
                    <a:lstStyle/>
                    <a:p>
                      <a:pPr algn="ctr">
                        <a:lnSpc>
                          <a:spcPts val="1437"/>
                        </a:lnSpc>
                        <a:defRPr/>
                      </a:pPr>
                      <a:endParaRPr lang="en-US" sz="1100"/>
                    </a:p>
                  </a:txBody>
                  <a:tcPr marL="0" marR="0" marT="0" marB="0" anchor="ctr">
                    <a:lnL w="21770" cap="flat" cmpd="sng" algn="ctr">
                      <a:solidFill>
                        <a:srgbClr val="000000"/>
                      </a:solidFill>
                      <a:prstDash val="solid"/>
                      <a:round/>
                      <a:headEnd type="none" w="med" len="med"/>
                      <a:tailEnd type="none" w="med" len="med"/>
                    </a:lnL>
                    <a:lnR w="21770" cap="flat" cmpd="sng" algn="ctr">
                      <a:solidFill>
                        <a:srgbClr val="000000"/>
                      </a:solidFill>
                      <a:prstDash val="solid"/>
                      <a:round/>
                      <a:headEnd type="none" w="med" len="med"/>
                      <a:tailEnd type="none" w="med" len="med"/>
                    </a:lnR>
                    <a:lnT w="21770" cap="flat" cmpd="sng" algn="ctr">
                      <a:solidFill>
                        <a:srgbClr val="000000"/>
                      </a:solidFill>
                      <a:prstDash val="solid"/>
                      <a:round/>
                      <a:headEnd type="none" w="med" len="med"/>
                      <a:tailEnd type="none" w="med" len="med"/>
                    </a:lnT>
                    <a:lnB w="21770" cap="flat" cmpd="sng" algn="ctr">
                      <a:solidFill>
                        <a:srgbClr val="000000"/>
                      </a:solidFill>
                      <a:prstDash val="solid"/>
                      <a:round/>
                      <a:headEnd type="none" w="med" len="med"/>
                      <a:tailEnd type="none" w="med" len="med"/>
                    </a:lnB>
                  </a:tcPr>
                </a:tc>
                <a:tc>
                  <a:txBody>
                    <a:bodyPr/>
                    <a:lstStyle/>
                    <a:p>
                      <a:pPr algn="ctr">
                        <a:lnSpc>
                          <a:spcPts val="1437"/>
                        </a:lnSpc>
                        <a:defRPr/>
                      </a:pPr>
                      <a:endParaRPr lang="en-US" sz="1100"/>
                    </a:p>
                  </a:txBody>
                  <a:tcPr marL="0" marR="0" marT="0" marB="0" anchor="ctr">
                    <a:lnL w="21770" cap="flat" cmpd="sng" algn="ctr">
                      <a:solidFill>
                        <a:srgbClr val="000000"/>
                      </a:solidFill>
                      <a:prstDash val="solid"/>
                      <a:round/>
                      <a:headEnd type="none" w="med" len="med"/>
                      <a:tailEnd type="none" w="med" len="med"/>
                    </a:lnL>
                    <a:lnR w="21770" cap="flat" cmpd="sng" algn="ctr">
                      <a:solidFill>
                        <a:srgbClr val="000000"/>
                      </a:solidFill>
                      <a:prstDash val="solid"/>
                      <a:round/>
                      <a:headEnd type="none" w="med" len="med"/>
                      <a:tailEnd type="none" w="med" len="med"/>
                    </a:lnR>
                    <a:lnT w="21770" cap="flat" cmpd="sng" algn="ctr">
                      <a:solidFill>
                        <a:srgbClr val="000000"/>
                      </a:solidFill>
                      <a:prstDash val="solid"/>
                      <a:round/>
                      <a:headEnd type="none" w="med" len="med"/>
                      <a:tailEnd type="none" w="med" len="med"/>
                    </a:lnT>
                    <a:lnB w="2177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Freeform 5"/>
          <p:cNvSpPr/>
          <p:nvPr/>
        </p:nvSpPr>
        <p:spPr>
          <a:xfrm>
            <a:off x="5966660" y="3870055"/>
            <a:ext cx="1095914" cy="475490"/>
          </a:xfrm>
          <a:custGeom>
            <a:avLst/>
            <a:gdLst/>
            <a:ahLst/>
            <a:cxnLst/>
            <a:rect l="l" t="t" r="r" b="b"/>
            <a:pathLst>
              <a:path w="1095914" h="475490">
                <a:moveTo>
                  <a:pt x="0" y="0"/>
                </a:moveTo>
                <a:lnTo>
                  <a:pt x="401066" y="0"/>
                </a:lnTo>
                <a:cubicBezTo>
                  <a:pt x="428854" y="0"/>
                  <a:pt x="455504" y="11039"/>
                  <a:pt x="475153" y="30688"/>
                </a:cubicBezTo>
                <a:cubicBezTo>
                  <a:pt x="494802" y="50337"/>
                  <a:pt x="505841" y="76987"/>
                  <a:pt x="505841" y="104775"/>
                </a:cubicBezTo>
                <a:lnTo>
                  <a:pt x="505841" y="370714"/>
                </a:lnTo>
                <a:cubicBezTo>
                  <a:pt x="505841" y="398503"/>
                  <a:pt x="516880" y="425153"/>
                  <a:pt x="536528" y="444801"/>
                </a:cubicBezTo>
                <a:cubicBezTo>
                  <a:pt x="556178" y="464451"/>
                  <a:pt x="582828" y="475489"/>
                  <a:pt x="610616" y="475489"/>
                </a:cubicBezTo>
                <a:lnTo>
                  <a:pt x="1095914" y="475489"/>
                </a:lnTo>
              </a:path>
            </a:pathLst>
          </a:custGeom>
          <a:ln w="85725" cap="flat">
            <a:gradFill>
              <a:gsLst>
                <a:gs pos="0">
                  <a:srgbClr val="8C52FF">
                    <a:alpha val="100000"/>
                  </a:srgbClr>
                </a:gs>
                <a:gs pos="100000">
                  <a:srgbClr val="00BF63">
                    <a:alpha val="100000"/>
                  </a:srgbClr>
                </a:gs>
              </a:gsLst>
              <a:lin ang="0"/>
            </a:gradFill>
            <a:prstDash val="solid"/>
            <a:headEnd type="none" w="sm" len="sm"/>
            <a:tailEnd type="none" w="sm" len="sm"/>
          </a:ln>
        </p:spPr>
      </p:sp>
      <p:sp>
        <p:nvSpPr>
          <p:cNvPr id="6" name="Freeform 6"/>
          <p:cNvSpPr/>
          <p:nvPr/>
        </p:nvSpPr>
        <p:spPr>
          <a:xfrm>
            <a:off x="5966660" y="4345544"/>
            <a:ext cx="1150063" cy="509956"/>
          </a:xfrm>
          <a:custGeom>
            <a:avLst/>
            <a:gdLst/>
            <a:ahLst/>
            <a:cxnLst/>
            <a:rect l="l" t="t" r="r" b="b"/>
            <a:pathLst>
              <a:path w="1150063" h="509956">
                <a:moveTo>
                  <a:pt x="0" y="509956"/>
                </a:moveTo>
                <a:lnTo>
                  <a:pt x="401066" y="509956"/>
                </a:lnTo>
                <a:cubicBezTo>
                  <a:pt x="428854" y="509956"/>
                  <a:pt x="455504" y="498917"/>
                  <a:pt x="475153" y="479268"/>
                </a:cubicBezTo>
                <a:cubicBezTo>
                  <a:pt x="494802" y="459619"/>
                  <a:pt x="505841" y="432969"/>
                  <a:pt x="505841" y="405181"/>
                </a:cubicBezTo>
                <a:lnTo>
                  <a:pt x="505841" y="104775"/>
                </a:lnTo>
                <a:cubicBezTo>
                  <a:pt x="505841" y="76987"/>
                  <a:pt x="516880" y="50337"/>
                  <a:pt x="536528" y="30688"/>
                </a:cubicBezTo>
                <a:cubicBezTo>
                  <a:pt x="556178" y="11039"/>
                  <a:pt x="582828" y="0"/>
                  <a:pt x="610616" y="0"/>
                </a:cubicBezTo>
                <a:lnTo>
                  <a:pt x="1150063" y="0"/>
                </a:lnTo>
              </a:path>
            </a:pathLst>
          </a:custGeom>
          <a:ln w="85725" cap="flat">
            <a:gradFill>
              <a:gsLst>
                <a:gs pos="0">
                  <a:srgbClr val="8C52FF">
                    <a:alpha val="100000"/>
                  </a:srgbClr>
                </a:gs>
                <a:gs pos="100000">
                  <a:srgbClr val="00BF63">
                    <a:alpha val="100000"/>
                  </a:srgbClr>
                </a:gs>
              </a:gsLst>
              <a:lin ang="0"/>
            </a:gradFill>
            <a:prstDash val="solid"/>
            <a:headEnd type="none" w="sm" len="sm"/>
            <a:tailEnd type="arrow" w="med" len="sm"/>
          </a:ln>
        </p:spPr>
      </p:sp>
      <p:graphicFrame>
        <p:nvGraphicFramePr>
          <p:cNvPr id="7" name="Table 7"/>
          <p:cNvGraphicFramePr>
            <a:graphicFrameLocks noGrp="1"/>
          </p:cNvGraphicFramePr>
          <p:nvPr/>
        </p:nvGraphicFramePr>
        <p:xfrm>
          <a:off x="7392948" y="3433754"/>
          <a:ext cx="1373864" cy="1823584"/>
        </p:xfrm>
        <a:graphic>
          <a:graphicData uri="http://schemas.openxmlformats.org/drawingml/2006/table">
            <a:tbl>
              <a:tblPr/>
              <a:tblGrid>
                <a:gridCol w="343466">
                  <a:extLst>
                    <a:ext uri="{9D8B030D-6E8A-4147-A177-3AD203B41FA5}">
                      <a16:colId xmlns:a16="http://schemas.microsoft.com/office/drawing/2014/main" val="20000"/>
                    </a:ext>
                  </a:extLst>
                </a:gridCol>
                <a:gridCol w="343466">
                  <a:extLst>
                    <a:ext uri="{9D8B030D-6E8A-4147-A177-3AD203B41FA5}">
                      <a16:colId xmlns:a16="http://schemas.microsoft.com/office/drawing/2014/main" val="20001"/>
                    </a:ext>
                  </a:extLst>
                </a:gridCol>
                <a:gridCol w="343466">
                  <a:extLst>
                    <a:ext uri="{9D8B030D-6E8A-4147-A177-3AD203B41FA5}">
                      <a16:colId xmlns:a16="http://schemas.microsoft.com/office/drawing/2014/main" val="20002"/>
                    </a:ext>
                  </a:extLst>
                </a:gridCol>
                <a:gridCol w="343466">
                  <a:extLst>
                    <a:ext uri="{9D8B030D-6E8A-4147-A177-3AD203B41FA5}">
                      <a16:colId xmlns:a16="http://schemas.microsoft.com/office/drawing/2014/main" val="20003"/>
                    </a:ext>
                  </a:extLst>
                </a:gridCol>
              </a:tblGrid>
              <a:tr h="260512">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38B6FF"/>
                    </a:solidFill>
                  </a:tcPr>
                </a:tc>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38B6FF"/>
                    </a:solidFill>
                  </a:tcPr>
                </a:tc>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38B6FF"/>
                    </a:solidFill>
                  </a:tcPr>
                </a:tc>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38B6FF"/>
                    </a:solidFill>
                  </a:tcPr>
                </a:tc>
                <a:extLst>
                  <a:ext uri="{0D108BD9-81ED-4DB2-BD59-A6C34878D82A}">
                    <a16:rowId xmlns:a16="http://schemas.microsoft.com/office/drawing/2014/main" val="10000"/>
                  </a:ext>
                </a:extLst>
              </a:tr>
              <a:tr h="260512">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38B6FF"/>
                    </a:solidFill>
                  </a:tcPr>
                </a:tc>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00BF63"/>
                    </a:solidFill>
                  </a:tcPr>
                </a:tc>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00BF63"/>
                    </a:solidFill>
                  </a:tcPr>
                </a:tc>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00BF63"/>
                    </a:solidFill>
                  </a:tcPr>
                </a:tc>
                <a:extLst>
                  <a:ext uri="{0D108BD9-81ED-4DB2-BD59-A6C34878D82A}">
                    <a16:rowId xmlns:a16="http://schemas.microsoft.com/office/drawing/2014/main" val="10001"/>
                  </a:ext>
                </a:extLst>
              </a:tr>
              <a:tr h="260512">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38B6FF"/>
                    </a:solidFill>
                  </a:tcPr>
                </a:tc>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00BF63"/>
                    </a:solidFill>
                  </a:tcPr>
                </a:tc>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00BF63"/>
                    </a:solidFill>
                  </a:tcPr>
                </a:tc>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00BF63"/>
                    </a:solidFill>
                  </a:tcPr>
                </a:tc>
                <a:extLst>
                  <a:ext uri="{0D108BD9-81ED-4DB2-BD59-A6C34878D82A}">
                    <a16:rowId xmlns:a16="http://schemas.microsoft.com/office/drawing/2014/main" val="10002"/>
                  </a:ext>
                </a:extLst>
              </a:tr>
              <a:tr h="260512">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38B6FF"/>
                    </a:solidFill>
                  </a:tcPr>
                </a:tc>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00BF63"/>
                    </a:solidFill>
                  </a:tcPr>
                </a:tc>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00BF63"/>
                    </a:solidFill>
                  </a:tcPr>
                </a:tc>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00BF63"/>
                    </a:solidFill>
                  </a:tcPr>
                </a:tc>
                <a:extLst>
                  <a:ext uri="{0D108BD9-81ED-4DB2-BD59-A6C34878D82A}">
                    <a16:rowId xmlns:a16="http://schemas.microsoft.com/office/drawing/2014/main" val="10003"/>
                  </a:ext>
                </a:extLst>
              </a:tr>
              <a:tr h="260512">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38B6FF"/>
                    </a:solidFill>
                  </a:tcPr>
                </a:tc>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FF751F"/>
                    </a:solidFill>
                  </a:tcPr>
                </a:tc>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FF751F"/>
                    </a:solidFill>
                  </a:tcPr>
                </a:tc>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FF751F"/>
                    </a:solidFill>
                  </a:tcPr>
                </a:tc>
                <a:extLst>
                  <a:ext uri="{0D108BD9-81ED-4DB2-BD59-A6C34878D82A}">
                    <a16:rowId xmlns:a16="http://schemas.microsoft.com/office/drawing/2014/main" val="10004"/>
                  </a:ext>
                </a:extLst>
              </a:tr>
              <a:tr h="260512">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38B6FF"/>
                    </a:solidFill>
                  </a:tcPr>
                </a:tc>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FF751F"/>
                    </a:solidFill>
                  </a:tcPr>
                </a:tc>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FF751F"/>
                    </a:solidFill>
                  </a:tcPr>
                </a:tc>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FF751F"/>
                    </a:solidFill>
                  </a:tcPr>
                </a:tc>
                <a:extLst>
                  <a:ext uri="{0D108BD9-81ED-4DB2-BD59-A6C34878D82A}">
                    <a16:rowId xmlns:a16="http://schemas.microsoft.com/office/drawing/2014/main" val="10005"/>
                  </a:ext>
                </a:extLst>
              </a:tr>
              <a:tr h="260512">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38B6FF"/>
                    </a:solidFill>
                  </a:tcPr>
                </a:tc>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FF751F"/>
                    </a:solidFill>
                  </a:tcPr>
                </a:tc>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FF751F"/>
                    </a:solidFill>
                  </a:tcPr>
                </a:tc>
                <a:tc>
                  <a:txBody>
                    <a:bodyPr/>
                    <a:lstStyle/>
                    <a:p>
                      <a:pPr algn="ctr">
                        <a:lnSpc>
                          <a:spcPts val="1542"/>
                        </a:lnSpc>
                        <a:defRPr/>
                      </a:pPr>
                      <a:endParaRPr lang="en-US" sz="1100"/>
                    </a:p>
                  </a:txBody>
                  <a:tcPr marL="0" marR="0" marT="0" marB="0" anchor="ctr">
                    <a:lnL w="23357" cap="flat" cmpd="sng" algn="ctr">
                      <a:solidFill>
                        <a:srgbClr val="000000"/>
                      </a:solidFill>
                      <a:prstDash val="solid"/>
                      <a:round/>
                      <a:headEnd type="none" w="med" len="med"/>
                      <a:tailEnd type="none" w="med" len="med"/>
                    </a:lnL>
                    <a:lnR w="23357" cap="flat" cmpd="sng" algn="ctr">
                      <a:solidFill>
                        <a:srgbClr val="000000"/>
                      </a:solidFill>
                      <a:prstDash val="solid"/>
                      <a:round/>
                      <a:headEnd type="none" w="med" len="med"/>
                      <a:tailEnd type="none" w="med" len="med"/>
                    </a:lnR>
                    <a:lnT w="23357" cap="flat" cmpd="sng" algn="ctr">
                      <a:solidFill>
                        <a:srgbClr val="000000"/>
                      </a:solidFill>
                      <a:prstDash val="solid"/>
                      <a:round/>
                      <a:headEnd type="none" w="med" len="med"/>
                      <a:tailEnd type="none" w="med" len="med"/>
                    </a:lnT>
                    <a:lnB w="23357" cap="flat" cmpd="sng" algn="ctr">
                      <a:solidFill>
                        <a:srgbClr val="000000"/>
                      </a:solidFill>
                      <a:prstDash val="solid"/>
                      <a:round/>
                      <a:headEnd type="none" w="med" len="med"/>
                      <a:tailEnd type="none" w="med" len="med"/>
                    </a:lnB>
                    <a:solidFill>
                      <a:srgbClr val="FF751F"/>
                    </a:solidFill>
                  </a:tcPr>
                </a:tc>
                <a:extLst>
                  <a:ext uri="{0D108BD9-81ED-4DB2-BD59-A6C34878D82A}">
                    <a16:rowId xmlns:a16="http://schemas.microsoft.com/office/drawing/2014/main" val="10006"/>
                  </a:ext>
                </a:extLst>
              </a:tr>
            </a:tbl>
          </a:graphicData>
        </a:graphic>
      </p:graphicFrame>
      <p:graphicFrame>
        <p:nvGraphicFramePr>
          <p:cNvPr id="8" name="Table 8"/>
          <p:cNvGraphicFramePr>
            <a:graphicFrameLocks noGrp="1"/>
          </p:cNvGraphicFramePr>
          <p:nvPr/>
        </p:nvGraphicFramePr>
        <p:xfrm>
          <a:off x="4840657" y="7599227"/>
          <a:ext cx="1436285" cy="1327031"/>
        </p:xfrm>
        <a:graphic>
          <a:graphicData uri="http://schemas.openxmlformats.org/drawingml/2006/table">
            <a:tbl>
              <a:tblPr/>
              <a:tblGrid>
                <a:gridCol w="312209">
                  <a:extLst>
                    <a:ext uri="{9D8B030D-6E8A-4147-A177-3AD203B41FA5}">
                      <a16:colId xmlns:a16="http://schemas.microsoft.com/office/drawing/2014/main" val="20000"/>
                    </a:ext>
                  </a:extLst>
                </a:gridCol>
                <a:gridCol w="1124076">
                  <a:extLst>
                    <a:ext uri="{9D8B030D-6E8A-4147-A177-3AD203B41FA5}">
                      <a16:colId xmlns:a16="http://schemas.microsoft.com/office/drawing/2014/main" val="20001"/>
                    </a:ext>
                  </a:extLst>
                </a:gridCol>
              </a:tblGrid>
              <a:tr h="253686">
                <a:tc>
                  <a:txBody>
                    <a:bodyPr/>
                    <a:lstStyle/>
                    <a:p>
                      <a:pPr algn="ctr">
                        <a:lnSpc>
                          <a:spcPts val="731"/>
                        </a:lnSpc>
                        <a:defRPr/>
                      </a:pPr>
                      <a:endParaRPr lang="en-US" sz="1100"/>
                    </a:p>
                  </a:txBody>
                  <a:tcPr marL="63609" marR="63609" marT="63609" marB="63609" anchor="ctr">
                    <a:lnL w="12722" cap="flat" cmpd="sng" algn="ctr">
                      <a:solidFill>
                        <a:srgbClr val="000000"/>
                      </a:solidFill>
                      <a:prstDash val="solid"/>
                      <a:round/>
                      <a:headEnd type="none" w="med" len="med"/>
                      <a:tailEnd type="none" w="med" len="med"/>
                    </a:lnL>
                    <a:lnR w="12722" cap="flat" cmpd="sng" algn="ctr">
                      <a:solidFill>
                        <a:srgbClr val="000000"/>
                      </a:solidFill>
                      <a:prstDash val="solid"/>
                      <a:round/>
                      <a:headEnd type="none" w="med" len="med"/>
                      <a:tailEnd type="none" w="med" len="med"/>
                    </a:lnR>
                    <a:lnT w="12722" cap="flat" cmpd="sng" algn="ctr">
                      <a:solidFill>
                        <a:srgbClr val="000000"/>
                      </a:solidFill>
                      <a:prstDash val="solid"/>
                      <a:round/>
                      <a:headEnd type="none" w="med" len="med"/>
                      <a:tailEnd type="none" w="med" len="med"/>
                    </a:lnT>
                    <a:lnB w="12722" cap="flat" cmpd="sng" algn="ctr">
                      <a:solidFill>
                        <a:srgbClr val="000000"/>
                      </a:solidFill>
                      <a:prstDash val="solid"/>
                      <a:round/>
                      <a:headEnd type="none" w="med" len="med"/>
                      <a:tailEnd type="none" w="med" len="med"/>
                    </a:lnB>
                    <a:solidFill>
                      <a:srgbClr val="0CC0DF"/>
                    </a:solidFill>
                  </a:tcPr>
                </a:tc>
                <a:tc>
                  <a:txBody>
                    <a:bodyPr/>
                    <a:lstStyle/>
                    <a:p>
                      <a:pPr algn="ctr">
                        <a:lnSpc>
                          <a:spcPts val="731"/>
                        </a:lnSpc>
                        <a:defRPr/>
                      </a:pPr>
                      <a:endParaRPr lang="en-US" sz="1100"/>
                    </a:p>
                  </a:txBody>
                  <a:tcPr marL="63609" marR="63609" marT="63609" marB="63609" anchor="ctr">
                    <a:lnL w="12722" cap="flat" cmpd="sng" algn="ctr">
                      <a:solidFill>
                        <a:srgbClr val="000000"/>
                      </a:solidFill>
                      <a:prstDash val="solid"/>
                      <a:round/>
                      <a:headEnd type="none" w="med" len="med"/>
                      <a:tailEnd type="none" w="med" len="med"/>
                    </a:lnL>
                    <a:lnR w="12722" cap="flat" cmpd="sng" algn="ctr">
                      <a:solidFill>
                        <a:srgbClr val="000000"/>
                      </a:solidFill>
                      <a:prstDash val="solid"/>
                      <a:round/>
                      <a:headEnd type="none" w="med" len="med"/>
                      <a:tailEnd type="none" w="med" len="med"/>
                    </a:lnR>
                    <a:lnT w="12722" cap="flat" cmpd="sng" algn="ctr">
                      <a:solidFill>
                        <a:srgbClr val="000000"/>
                      </a:solidFill>
                      <a:prstDash val="solid"/>
                      <a:round/>
                      <a:headEnd type="none" w="med" len="med"/>
                      <a:tailEnd type="none" w="med" len="med"/>
                    </a:lnT>
                    <a:lnB w="12722" cap="flat" cmpd="sng" algn="ctr">
                      <a:solidFill>
                        <a:srgbClr val="000000"/>
                      </a:solidFill>
                      <a:prstDash val="solid"/>
                      <a:round/>
                      <a:headEnd type="none" w="med" len="med"/>
                      <a:tailEnd type="none" w="med" len="med"/>
                    </a:lnB>
                    <a:solidFill>
                      <a:srgbClr val="0CC0DF"/>
                    </a:solidFill>
                  </a:tcPr>
                </a:tc>
                <a:extLst>
                  <a:ext uri="{0D108BD9-81ED-4DB2-BD59-A6C34878D82A}">
                    <a16:rowId xmlns:a16="http://schemas.microsoft.com/office/drawing/2014/main" val="10000"/>
                  </a:ext>
                </a:extLst>
              </a:tr>
              <a:tr h="1073345">
                <a:tc>
                  <a:txBody>
                    <a:bodyPr/>
                    <a:lstStyle/>
                    <a:p>
                      <a:pPr algn="ctr">
                        <a:lnSpc>
                          <a:spcPts val="731"/>
                        </a:lnSpc>
                        <a:defRPr/>
                      </a:pPr>
                      <a:endParaRPr lang="en-US" sz="1100"/>
                    </a:p>
                  </a:txBody>
                  <a:tcPr marL="63609" marR="63609" marT="63609" marB="63609" anchor="ctr">
                    <a:lnL w="12722" cap="flat" cmpd="sng" algn="ctr">
                      <a:solidFill>
                        <a:srgbClr val="000000"/>
                      </a:solidFill>
                      <a:prstDash val="solid"/>
                      <a:round/>
                      <a:headEnd type="none" w="med" len="med"/>
                      <a:tailEnd type="none" w="med" len="med"/>
                    </a:lnL>
                    <a:lnR w="12722" cap="flat" cmpd="sng" algn="ctr">
                      <a:solidFill>
                        <a:srgbClr val="000000"/>
                      </a:solidFill>
                      <a:prstDash val="solid"/>
                      <a:round/>
                      <a:headEnd type="none" w="med" len="med"/>
                      <a:tailEnd type="none" w="med" len="med"/>
                    </a:lnR>
                    <a:lnT w="12722" cap="flat" cmpd="sng" algn="ctr">
                      <a:solidFill>
                        <a:srgbClr val="000000"/>
                      </a:solidFill>
                      <a:prstDash val="solid"/>
                      <a:round/>
                      <a:headEnd type="none" w="med" len="med"/>
                      <a:tailEnd type="none" w="med" len="med"/>
                    </a:lnT>
                    <a:lnB w="12722" cap="flat" cmpd="sng" algn="ctr">
                      <a:solidFill>
                        <a:srgbClr val="000000"/>
                      </a:solidFill>
                      <a:prstDash val="solid"/>
                      <a:round/>
                      <a:headEnd type="none" w="med" len="med"/>
                      <a:tailEnd type="none" w="med" len="med"/>
                    </a:lnB>
                    <a:solidFill>
                      <a:srgbClr val="EFFCFF"/>
                    </a:solidFill>
                  </a:tcPr>
                </a:tc>
                <a:tc>
                  <a:txBody>
                    <a:bodyPr/>
                    <a:lstStyle/>
                    <a:p>
                      <a:pPr algn="ctr">
                        <a:lnSpc>
                          <a:spcPts val="731"/>
                        </a:lnSpc>
                        <a:defRPr/>
                      </a:pPr>
                      <a:endParaRPr lang="en-US" sz="1100"/>
                    </a:p>
                  </a:txBody>
                  <a:tcPr marL="63609" marR="63609" marT="63609" marB="63609" anchor="ctr">
                    <a:lnL w="12722" cap="flat" cmpd="sng" algn="ctr">
                      <a:solidFill>
                        <a:srgbClr val="000000"/>
                      </a:solidFill>
                      <a:prstDash val="solid"/>
                      <a:round/>
                      <a:headEnd type="none" w="med" len="med"/>
                      <a:tailEnd type="none" w="med" len="med"/>
                    </a:lnL>
                    <a:lnR w="12722" cap="flat" cmpd="sng" algn="ctr">
                      <a:solidFill>
                        <a:srgbClr val="000000"/>
                      </a:solidFill>
                      <a:prstDash val="solid"/>
                      <a:round/>
                      <a:headEnd type="none" w="med" len="med"/>
                      <a:tailEnd type="none" w="med" len="med"/>
                    </a:lnR>
                    <a:lnT w="12722" cap="flat" cmpd="sng" algn="ctr">
                      <a:solidFill>
                        <a:srgbClr val="000000"/>
                      </a:solidFill>
                      <a:prstDash val="solid"/>
                      <a:round/>
                      <a:headEnd type="none" w="med" len="med"/>
                      <a:tailEnd type="none" w="med" len="med"/>
                    </a:lnT>
                    <a:lnB w="12722" cap="flat" cmpd="sng" algn="ctr">
                      <a:solidFill>
                        <a:srgbClr val="000000"/>
                      </a:solidFill>
                      <a:prstDash val="solid"/>
                      <a:round/>
                      <a:headEnd type="none" w="med" len="med"/>
                      <a:tailEnd type="none" w="med" len="med"/>
                    </a:lnB>
                    <a:solidFill>
                      <a:srgbClr val="EFFCFF"/>
                    </a:solidFill>
                  </a:tcPr>
                </a:tc>
                <a:extLst>
                  <a:ext uri="{0D108BD9-81ED-4DB2-BD59-A6C34878D82A}">
                    <a16:rowId xmlns:a16="http://schemas.microsoft.com/office/drawing/2014/main" val="10001"/>
                  </a:ext>
                </a:extLst>
              </a:tr>
            </a:tbl>
          </a:graphicData>
        </a:graphic>
      </p:graphicFrame>
      <p:grpSp>
        <p:nvGrpSpPr>
          <p:cNvPr id="9" name="Group 9"/>
          <p:cNvGrpSpPr/>
          <p:nvPr/>
        </p:nvGrpSpPr>
        <p:grpSpPr>
          <a:xfrm>
            <a:off x="4929126" y="7932449"/>
            <a:ext cx="161031" cy="169613"/>
            <a:chOff x="0" y="0"/>
            <a:chExt cx="127017" cy="133787"/>
          </a:xfrm>
        </p:grpSpPr>
        <p:sp>
          <p:nvSpPr>
            <p:cNvPr id="10" name="Freeform 10"/>
            <p:cNvSpPr/>
            <p:nvPr/>
          </p:nvSpPr>
          <p:spPr>
            <a:xfrm>
              <a:off x="0" y="0"/>
              <a:ext cx="127017" cy="133787"/>
            </a:xfrm>
            <a:custGeom>
              <a:avLst/>
              <a:gdLst/>
              <a:ahLst/>
              <a:cxnLst/>
              <a:rect l="l" t="t" r="r" b="b"/>
              <a:pathLst>
                <a:path w="127017" h="133787">
                  <a:moveTo>
                    <a:pt x="0" y="0"/>
                  </a:moveTo>
                  <a:lnTo>
                    <a:pt x="127017" y="0"/>
                  </a:lnTo>
                  <a:lnTo>
                    <a:pt x="127017" y="133787"/>
                  </a:lnTo>
                  <a:lnTo>
                    <a:pt x="0" y="133787"/>
                  </a:lnTo>
                  <a:close/>
                </a:path>
              </a:pathLst>
            </a:custGeom>
            <a:solidFill>
              <a:srgbClr val="FF3131"/>
            </a:solidFill>
          </p:spPr>
        </p:sp>
        <p:sp>
          <p:nvSpPr>
            <p:cNvPr id="11" name="TextBox 11"/>
            <p:cNvSpPr txBox="1"/>
            <p:nvPr/>
          </p:nvSpPr>
          <p:spPr>
            <a:xfrm>
              <a:off x="0" y="0"/>
              <a:ext cx="127017" cy="133787"/>
            </a:xfrm>
            <a:prstGeom prst="rect">
              <a:avLst/>
            </a:prstGeom>
          </p:spPr>
          <p:txBody>
            <a:bodyPr lIns="50800" tIns="50800" rIns="50800" bIns="50800" rtlCol="0" anchor="ctr"/>
            <a:lstStyle/>
            <a:p>
              <a:pPr algn="ctr">
                <a:lnSpc>
                  <a:spcPts val="1829"/>
                </a:lnSpc>
              </a:pPr>
              <a:endParaRPr/>
            </a:p>
          </p:txBody>
        </p:sp>
      </p:grpSp>
      <p:grpSp>
        <p:nvGrpSpPr>
          <p:cNvPr id="12" name="Group 12"/>
          <p:cNvGrpSpPr/>
          <p:nvPr/>
        </p:nvGrpSpPr>
        <p:grpSpPr>
          <a:xfrm>
            <a:off x="4929126" y="8177936"/>
            <a:ext cx="161031" cy="169613"/>
            <a:chOff x="0" y="0"/>
            <a:chExt cx="127017" cy="133787"/>
          </a:xfrm>
        </p:grpSpPr>
        <p:sp>
          <p:nvSpPr>
            <p:cNvPr id="13" name="Freeform 13"/>
            <p:cNvSpPr/>
            <p:nvPr/>
          </p:nvSpPr>
          <p:spPr>
            <a:xfrm>
              <a:off x="0" y="0"/>
              <a:ext cx="127017" cy="133787"/>
            </a:xfrm>
            <a:custGeom>
              <a:avLst/>
              <a:gdLst/>
              <a:ahLst/>
              <a:cxnLst/>
              <a:rect l="l" t="t" r="r" b="b"/>
              <a:pathLst>
                <a:path w="127017" h="133787">
                  <a:moveTo>
                    <a:pt x="0" y="0"/>
                  </a:moveTo>
                  <a:lnTo>
                    <a:pt x="127017" y="0"/>
                  </a:lnTo>
                  <a:lnTo>
                    <a:pt x="127017" y="133787"/>
                  </a:lnTo>
                  <a:lnTo>
                    <a:pt x="0" y="133787"/>
                  </a:lnTo>
                  <a:close/>
                </a:path>
              </a:pathLst>
            </a:custGeom>
            <a:solidFill>
              <a:srgbClr val="31FF52"/>
            </a:solidFill>
          </p:spPr>
        </p:sp>
        <p:sp>
          <p:nvSpPr>
            <p:cNvPr id="14" name="TextBox 14"/>
            <p:cNvSpPr txBox="1"/>
            <p:nvPr/>
          </p:nvSpPr>
          <p:spPr>
            <a:xfrm>
              <a:off x="0" y="0"/>
              <a:ext cx="127017" cy="133787"/>
            </a:xfrm>
            <a:prstGeom prst="rect">
              <a:avLst/>
            </a:prstGeom>
          </p:spPr>
          <p:txBody>
            <a:bodyPr lIns="50800" tIns="50800" rIns="50800" bIns="50800" rtlCol="0" anchor="ctr"/>
            <a:lstStyle/>
            <a:p>
              <a:pPr algn="ctr">
                <a:lnSpc>
                  <a:spcPts val="1829"/>
                </a:lnSpc>
              </a:pPr>
              <a:endParaRPr/>
            </a:p>
          </p:txBody>
        </p:sp>
      </p:grpSp>
      <p:grpSp>
        <p:nvGrpSpPr>
          <p:cNvPr id="15" name="Group 15"/>
          <p:cNvGrpSpPr/>
          <p:nvPr/>
        </p:nvGrpSpPr>
        <p:grpSpPr>
          <a:xfrm>
            <a:off x="4929126" y="8423879"/>
            <a:ext cx="161031" cy="169613"/>
            <a:chOff x="0" y="0"/>
            <a:chExt cx="127017" cy="133787"/>
          </a:xfrm>
        </p:grpSpPr>
        <p:sp>
          <p:nvSpPr>
            <p:cNvPr id="16" name="Freeform 16"/>
            <p:cNvSpPr/>
            <p:nvPr/>
          </p:nvSpPr>
          <p:spPr>
            <a:xfrm>
              <a:off x="0" y="0"/>
              <a:ext cx="127017" cy="133787"/>
            </a:xfrm>
            <a:custGeom>
              <a:avLst/>
              <a:gdLst/>
              <a:ahLst/>
              <a:cxnLst/>
              <a:rect l="l" t="t" r="r" b="b"/>
              <a:pathLst>
                <a:path w="127017" h="133787">
                  <a:moveTo>
                    <a:pt x="0" y="0"/>
                  </a:moveTo>
                  <a:lnTo>
                    <a:pt x="127017" y="0"/>
                  </a:lnTo>
                  <a:lnTo>
                    <a:pt x="127017" y="133787"/>
                  </a:lnTo>
                  <a:lnTo>
                    <a:pt x="0" y="133787"/>
                  </a:lnTo>
                  <a:close/>
                </a:path>
              </a:pathLst>
            </a:custGeom>
            <a:solidFill>
              <a:srgbClr val="FFDE59"/>
            </a:solidFill>
          </p:spPr>
        </p:sp>
        <p:sp>
          <p:nvSpPr>
            <p:cNvPr id="17" name="TextBox 17"/>
            <p:cNvSpPr txBox="1"/>
            <p:nvPr/>
          </p:nvSpPr>
          <p:spPr>
            <a:xfrm>
              <a:off x="0" y="0"/>
              <a:ext cx="127017" cy="133787"/>
            </a:xfrm>
            <a:prstGeom prst="rect">
              <a:avLst/>
            </a:prstGeom>
          </p:spPr>
          <p:txBody>
            <a:bodyPr lIns="50800" tIns="50800" rIns="50800" bIns="50800" rtlCol="0" anchor="ctr"/>
            <a:lstStyle/>
            <a:p>
              <a:pPr algn="ctr">
                <a:lnSpc>
                  <a:spcPts val="1829"/>
                </a:lnSpc>
              </a:pPr>
              <a:endParaRPr/>
            </a:p>
          </p:txBody>
        </p:sp>
      </p:grpSp>
      <p:grpSp>
        <p:nvGrpSpPr>
          <p:cNvPr id="18" name="Group 18"/>
          <p:cNvGrpSpPr/>
          <p:nvPr/>
        </p:nvGrpSpPr>
        <p:grpSpPr>
          <a:xfrm>
            <a:off x="4929126" y="8669823"/>
            <a:ext cx="161031" cy="169613"/>
            <a:chOff x="0" y="0"/>
            <a:chExt cx="127017" cy="133787"/>
          </a:xfrm>
        </p:grpSpPr>
        <p:sp>
          <p:nvSpPr>
            <p:cNvPr id="19" name="Freeform 19"/>
            <p:cNvSpPr/>
            <p:nvPr/>
          </p:nvSpPr>
          <p:spPr>
            <a:xfrm>
              <a:off x="0" y="0"/>
              <a:ext cx="127017" cy="133787"/>
            </a:xfrm>
            <a:custGeom>
              <a:avLst/>
              <a:gdLst/>
              <a:ahLst/>
              <a:cxnLst/>
              <a:rect l="l" t="t" r="r" b="b"/>
              <a:pathLst>
                <a:path w="127017" h="133787">
                  <a:moveTo>
                    <a:pt x="0" y="0"/>
                  </a:moveTo>
                  <a:lnTo>
                    <a:pt x="127017" y="0"/>
                  </a:lnTo>
                  <a:lnTo>
                    <a:pt x="127017" y="133787"/>
                  </a:lnTo>
                  <a:lnTo>
                    <a:pt x="0" y="133787"/>
                  </a:lnTo>
                  <a:close/>
                </a:path>
              </a:pathLst>
            </a:custGeom>
            <a:solidFill>
              <a:srgbClr val="5170FF"/>
            </a:solidFill>
          </p:spPr>
        </p:sp>
        <p:sp>
          <p:nvSpPr>
            <p:cNvPr id="20" name="TextBox 20"/>
            <p:cNvSpPr txBox="1"/>
            <p:nvPr/>
          </p:nvSpPr>
          <p:spPr>
            <a:xfrm>
              <a:off x="0" y="0"/>
              <a:ext cx="127017" cy="133787"/>
            </a:xfrm>
            <a:prstGeom prst="rect">
              <a:avLst/>
            </a:prstGeom>
          </p:spPr>
          <p:txBody>
            <a:bodyPr lIns="50800" tIns="50800" rIns="50800" bIns="50800" rtlCol="0" anchor="ctr"/>
            <a:lstStyle/>
            <a:p>
              <a:pPr algn="ctr">
                <a:lnSpc>
                  <a:spcPts val="1829"/>
                </a:lnSpc>
              </a:pPr>
              <a:endParaRPr/>
            </a:p>
          </p:txBody>
        </p:sp>
      </p:grpSp>
      <p:grpSp>
        <p:nvGrpSpPr>
          <p:cNvPr id="21" name="Group 21"/>
          <p:cNvGrpSpPr/>
          <p:nvPr/>
        </p:nvGrpSpPr>
        <p:grpSpPr>
          <a:xfrm>
            <a:off x="5224992" y="7956911"/>
            <a:ext cx="880261" cy="120688"/>
            <a:chOff x="0" y="0"/>
            <a:chExt cx="694328" cy="95195"/>
          </a:xfrm>
        </p:grpSpPr>
        <p:sp>
          <p:nvSpPr>
            <p:cNvPr id="22" name="Freeform 22"/>
            <p:cNvSpPr/>
            <p:nvPr/>
          </p:nvSpPr>
          <p:spPr>
            <a:xfrm>
              <a:off x="0" y="0"/>
              <a:ext cx="694328" cy="95195"/>
            </a:xfrm>
            <a:custGeom>
              <a:avLst/>
              <a:gdLst/>
              <a:ahLst/>
              <a:cxnLst/>
              <a:rect l="l" t="t" r="r" b="b"/>
              <a:pathLst>
                <a:path w="694328" h="95195">
                  <a:moveTo>
                    <a:pt x="0" y="0"/>
                  </a:moveTo>
                  <a:lnTo>
                    <a:pt x="694328" y="0"/>
                  </a:lnTo>
                  <a:lnTo>
                    <a:pt x="694328" y="95195"/>
                  </a:lnTo>
                  <a:lnTo>
                    <a:pt x="0" y="95195"/>
                  </a:lnTo>
                  <a:close/>
                </a:path>
              </a:pathLst>
            </a:custGeom>
            <a:solidFill>
              <a:srgbClr val="B4B4B4"/>
            </a:solidFill>
          </p:spPr>
        </p:sp>
        <p:sp>
          <p:nvSpPr>
            <p:cNvPr id="23" name="TextBox 23"/>
            <p:cNvSpPr txBox="1"/>
            <p:nvPr/>
          </p:nvSpPr>
          <p:spPr>
            <a:xfrm>
              <a:off x="0" y="0"/>
              <a:ext cx="694328" cy="95195"/>
            </a:xfrm>
            <a:prstGeom prst="rect">
              <a:avLst/>
            </a:prstGeom>
          </p:spPr>
          <p:txBody>
            <a:bodyPr lIns="50800" tIns="50800" rIns="50800" bIns="50800" rtlCol="0" anchor="ctr"/>
            <a:lstStyle/>
            <a:p>
              <a:pPr algn="ctr">
                <a:lnSpc>
                  <a:spcPts val="1829"/>
                </a:lnSpc>
              </a:pPr>
              <a:endParaRPr/>
            </a:p>
          </p:txBody>
        </p:sp>
      </p:grpSp>
      <p:grpSp>
        <p:nvGrpSpPr>
          <p:cNvPr id="24" name="Group 24"/>
          <p:cNvGrpSpPr/>
          <p:nvPr/>
        </p:nvGrpSpPr>
        <p:grpSpPr>
          <a:xfrm>
            <a:off x="5229968" y="8202398"/>
            <a:ext cx="566991" cy="124979"/>
            <a:chOff x="0" y="0"/>
            <a:chExt cx="447228" cy="98580"/>
          </a:xfrm>
        </p:grpSpPr>
        <p:sp>
          <p:nvSpPr>
            <p:cNvPr id="25" name="Freeform 25"/>
            <p:cNvSpPr/>
            <p:nvPr/>
          </p:nvSpPr>
          <p:spPr>
            <a:xfrm>
              <a:off x="0" y="0"/>
              <a:ext cx="447228" cy="98580"/>
            </a:xfrm>
            <a:custGeom>
              <a:avLst/>
              <a:gdLst/>
              <a:ahLst/>
              <a:cxnLst/>
              <a:rect l="l" t="t" r="r" b="b"/>
              <a:pathLst>
                <a:path w="447228" h="98580">
                  <a:moveTo>
                    <a:pt x="0" y="0"/>
                  </a:moveTo>
                  <a:lnTo>
                    <a:pt x="447228" y="0"/>
                  </a:lnTo>
                  <a:lnTo>
                    <a:pt x="447228" y="98580"/>
                  </a:lnTo>
                  <a:lnTo>
                    <a:pt x="0" y="98580"/>
                  </a:lnTo>
                  <a:close/>
                </a:path>
              </a:pathLst>
            </a:custGeom>
            <a:solidFill>
              <a:srgbClr val="B4B4B4"/>
            </a:solidFill>
          </p:spPr>
        </p:sp>
        <p:sp>
          <p:nvSpPr>
            <p:cNvPr id="26" name="TextBox 26"/>
            <p:cNvSpPr txBox="1"/>
            <p:nvPr/>
          </p:nvSpPr>
          <p:spPr>
            <a:xfrm>
              <a:off x="0" y="0"/>
              <a:ext cx="447228" cy="98580"/>
            </a:xfrm>
            <a:prstGeom prst="rect">
              <a:avLst/>
            </a:prstGeom>
          </p:spPr>
          <p:txBody>
            <a:bodyPr lIns="50800" tIns="50800" rIns="50800" bIns="50800" rtlCol="0" anchor="ctr"/>
            <a:lstStyle/>
            <a:p>
              <a:pPr algn="ctr">
                <a:lnSpc>
                  <a:spcPts val="1829"/>
                </a:lnSpc>
              </a:pPr>
              <a:endParaRPr/>
            </a:p>
          </p:txBody>
        </p:sp>
      </p:grpSp>
      <p:grpSp>
        <p:nvGrpSpPr>
          <p:cNvPr id="27" name="Group 27"/>
          <p:cNvGrpSpPr/>
          <p:nvPr/>
        </p:nvGrpSpPr>
        <p:grpSpPr>
          <a:xfrm>
            <a:off x="5229968" y="8448342"/>
            <a:ext cx="742792" cy="118609"/>
            <a:chOff x="0" y="0"/>
            <a:chExt cx="585896" cy="93556"/>
          </a:xfrm>
        </p:grpSpPr>
        <p:sp>
          <p:nvSpPr>
            <p:cNvPr id="28" name="Freeform 28"/>
            <p:cNvSpPr/>
            <p:nvPr/>
          </p:nvSpPr>
          <p:spPr>
            <a:xfrm>
              <a:off x="0" y="0"/>
              <a:ext cx="585896" cy="93556"/>
            </a:xfrm>
            <a:custGeom>
              <a:avLst/>
              <a:gdLst/>
              <a:ahLst/>
              <a:cxnLst/>
              <a:rect l="l" t="t" r="r" b="b"/>
              <a:pathLst>
                <a:path w="585896" h="93556">
                  <a:moveTo>
                    <a:pt x="0" y="0"/>
                  </a:moveTo>
                  <a:lnTo>
                    <a:pt x="585896" y="0"/>
                  </a:lnTo>
                  <a:lnTo>
                    <a:pt x="585896" y="93556"/>
                  </a:lnTo>
                  <a:lnTo>
                    <a:pt x="0" y="93556"/>
                  </a:lnTo>
                  <a:close/>
                </a:path>
              </a:pathLst>
            </a:custGeom>
            <a:solidFill>
              <a:srgbClr val="B4B4B4"/>
            </a:solidFill>
          </p:spPr>
        </p:sp>
        <p:sp>
          <p:nvSpPr>
            <p:cNvPr id="29" name="TextBox 29"/>
            <p:cNvSpPr txBox="1"/>
            <p:nvPr/>
          </p:nvSpPr>
          <p:spPr>
            <a:xfrm>
              <a:off x="0" y="0"/>
              <a:ext cx="585896" cy="93556"/>
            </a:xfrm>
            <a:prstGeom prst="rect">
              <a:avLst/>
            </a:prstGeom>
          </p:spPr>
          <p:txBody>
            <a:bodyPr lIns="50800" tIns="50800" rIns="50800" bIns="50800" rtlCol="0" anchor="ctr"/>
            <a:lstStyle/>
            <a:p>
              <a:pPr algn="ctr">
                <a:lnSpc>
                  <a:spcPts val="1829"/>
                </a:lnSpc>
              </a:pPr>
              <a:endParaRPr/>
            </a:p>
          </p:txBody>
        </p:sp>
      </p:grpSp>
      <p:grpSp>
        <p:nvGrpSpPr>
          <p:cNvPr id="30" name="Group 30"/>
          <p:cNvGrpSpPr/>
          <p:nvPr/>
        </p:nvGrpSpPr>
        <p:grpSpPr>
          <a:xfrm>
            <a:off x="5229968" y="8694286"/>
            <a:ext cx="681336" cy="120688"/>
            <a:chOff x="0" y="0"/>
            <a:chExt cx="537421" cy="95195"/>
          </a:xfrm>
        </p:grpSpPr>
        <p:sp>
          <p:nvSpPr>
            <p:cNvPr id="31" name="Freeform 31"/>
            <p:cNvSpPr/>
            <p:nvPr/>
          </p:nvSpPr>
          <p:spPr>
            <a:xfrm>
              <a:off x="0" y="0"/>
              <a:ext cx="537421" cy="95195"/>
            </a:xfrm>
            <a:custGeom>
              <a:avLst/>
              <a:gdLst/>
              <a:ahLst/>
              <a:cxnLst/>
              <a:rect l="l" t="t" r="r" b="b"/>
              <a:pathLst>
                <a:path w="537421" h="95195">
                  <a:moveTo>
                    <a:pt x="0" y="0"/>
                  </a:moveTo>
                  <a:lnTo>
                    <a:pt x="537421" y="0"/>
                  </a:lnTo>
                  <a:lnTo>
                    <a:pt x="537421" y="95195"/>
                  </a:lnTo>
                  <a:lnTo>
                    <a:pt x="0" y="95195"/>
                  </a:lnTo>
                  <a:close/>
                </a:path>
              </a:pathLst>
            </a:custGeom>
            <a:solidFill>
              <a:srgbClr val="B4B4B4"/>
            </a:solidFill>
          </p:spPr>
        </p:sp>
        <p:sp>
          <p:nvSpPr>
            <p:cNvPr id="32" name="TextBox 32"/>
            <p:cNvSpPr txBox="1"/>
            <p:nvPr/>
          </p:nvSpPr>
          <p:spPr>
            <a:xfrm>
              <a:off x="0" y="0"/>
              <a:ext cx="537421" cy="95195"/>
            </a:xfrm>
            <a:prstGeom prst="rect">
              <a:avLst/>
            </a:prstGeom>
          </p:spPr>
          <p:txBody>
            <a:bodyPr lIns="50800" tIns="50800" rIns="50800" bIns="50800" rtlCol="0" anchor="ctr"/>
            <a:lstStyle/>
            <a:p>
              <a:pPr algn="ctr">
                <a:lnSpc>
                  <a:spcPts val="1829"/>
                </a:lnSpc>
              </a:pPr>
              <a:endParaRPr/>
            </a:p>
          </p:txBody>
        </p:sp>
      </p:grpSp>
      <p:grpSp>
        <p:nvGrpSpPr>
          <p:cNvPr id="33" name="Group 33"/>
          <p:cNvGrpSpPr/>
          <p:nvPr/>
        </p:nvGrpSpPr>
        <p:grpSpPr>
          <a:xfrm>
            <a:off x="7300257" y="7759237"/>
            <a:ext cx="981794" cy="1012439"/>
            <a:chOff x="0" y="0"/>
            <a:chExt cx="258580" cy="266651"/>
          </a:xfrm>
        </p:grpSpPr>
        <p:sp>
          <p:nvSpPr>
            <p:cNvPr id="34" name="Freeform 34"/>
            <p:cNvSpPr/>
            <p:nvPr/>
          </p:nvSpPr>
          <p:spPr>
            <a:xfrm>
              <a:off x="0" y="0"/>
              <a:ext cx="258580" cy="266651"/>
            </a:xfrm>
            <a:custGeom>
              <a:avLst/>
              <a:gdLst/>
              <a:ahLst/>
              <a:cxnLst/>
              <a:rect l="l" t="t" r="r" b="b"/>
              <a:pathLst>
                <a:path w="258580" h="266651">
                  <a:moveTo>
                    <a:pt x="129290" y="0"/>
                  </a:moveTo>
                  <a:lnTo>
                    <a:pt x="129290" y="0"/>
                  </a:lnTo>
                  <a:cubicBezTo>
                    <a:pt x="163580" y="0"/>
                    <a:pt x="196465" y="13622"/>
                    <a:pt x="220711" y="37868"/>
                  </a:cubicBezTo>
                  <a:cubicBezTo>
                    <a:pt x="244958" y="62115"/>
                    <a:pt x="258580" y="95000"/>
                    <a:pt x="258580" y="129290"/>
                  </a:cubicBezTo>
                  <a:lnTo>
                    <a:pt x="258580" y="137361"/>
                  </a:lnTo>
                  <a:cubicBezTo>
                    <a:pt x="258580" y="208766"/>
                    <a:pt x="200695" y="266651"/>
                    <a:pt x="129290" y="266651"/>
                  </a:cubicBezTo>
                  <a:lnTo>
                    <a:pt x="129290" y="266651"/>
                  </a:lnTo>
                  <a:cubicBezTo>
                    <a:pt x="57885" y="266651"/>
                    <a:pt x="0" y="208766"/>
                    <a:pt x="0" y="137361"/>
                  </a:cubicBezTo>
                  <a:lnTo>
                    <a:pt x="0" y="129290"/>
                  </a:lnTo>
                  <a:cubicBezTo>
                    <a:pt x="0" y="57885"/>
                    <a:pt x="57885" y="0"/>
                    <a:pt x="129290" y="0"/>
                  </a:cubicBezTo>
                  <a:close/>
                </a:path>
              </a:pathLst>
            </a:custGeom>
            <a:solidFill>
              <a:srgbClr val="38B6FF"/>
            </a:solidFill>
            <a:ln w="19050" cap="sq">
              <a:solidFill>
                <a:srgbClr val="000000"/>
              </a:solidFill>
              <a:prstDash val="solid"/>
              <a:miter/>
            </a:ln>
          </p:spPr>
        </p:sp>
        <p:sp>
          <p:nvSpPr>
            <p:cNvPr id="35" name="TextBox 35"/>
            <p:cNvSpPr txBox="1"/>
            <p:nvPr/>
          </p:nvSpPr>
          <p:spPr>
            <a:xfrm>
              <a:off x="0" y="0"/>
              <a:ext cx="258580" cy="266651"/>
            </a:xfrm>
            <a:prstGeom prst="rect">
              <a:avLst/>
            </a:prstGeom>
          </p:spPr>
          <p:txBody>
            <a:bodyPr lIns="50800" tIns="50800" rIns="50800" bIns="50800" rtlCol="0" anchor="ctr"/>
            <a:lstStyle/>
            <a:p>
              <a:pPr algn="ctr">
                <a:lnSpc>
                  <a:spcPts val="1829"/>
                </a:lnSpc>
              </a:pPr>
              <a:endParaRPr/>
            </a:p>
          </p:txBody>
        </p:sp>
      </p:grpSp>
      <p:grpSp>
        <p:nvGrpSpPr>
          <p:cNvPr id="36" name="Group 36"/>
          <p:cNvGrpSpPr/>
          <p:nvPr/>
        </p:nvGrpSpPr>
        <p:grpSpPr>
          <a:xfrm>
            <a:off x="7374140" y="7828757"/>
            <a:ext cx="825803" cy="867971"/>
            <a:chOff x="0" y="0"/>
            <a:chExt cx="217495" cy="228601"/>
          </a:xfrm>
        </p:grpSpPr>
        <p:sp>
          <p:nvSpPr>
            <p:cNvPr id="37" name="Freeform 37"/>
            <p:cNvSpPr/>
            <p:nvPr/>
          </p:nvSpPr>
          <p:spPr>
            <a:xfrm>
              <a:off x="0" y="0"/>
              <a:ext cx="217495" cy="228601"/>
            </a:xfrm>
            <a:custGeom>
              <a:avLst/>
              <a:gdLst/>
              <a:ahLst/>
              <a:cxnLst/>
              <a:rect l="l" t="t" r="r" b="b"/>
              <a:pathLst>
                <a:path w="217495" h="228601">
                  <a:moveTo>
                    <a:pt x="108748" y="0"/>
                  </a:moveTo>
                  <a:lnTo>
                    <a:pt x="108748" y="0"/>
                  </a:lnTo>
                  <a:cubicBezTo>
                    <a:pt x="137589" y="0"/>
                    <a:pt x="165250" y="11457"/>
                    <a:pt x="185644" y="31851"/>
                  </a:cubicBezTo>
                  <a:cubicBezTo>
                    <a:pt x="206038" y="52246"/>
                    <a:pt x="217495" y="79906"/>
                    <a:pt x="217495" y="108748"/>
                  </a:cubicBezTo>
                  <a:lnTo>
                    <a:pt x="217495" y="119854"/>
                  </a:lnTo>
                  <a:cubicBezTo>
                    <a:pt x="217495" y="179913"/>
                    <a:pt x="168807" y="228601"/>
                    <a:pt x="108748" y="228601"/>
                  </a:cubicBezTo>
                  <a:lnTo>
                    <a:pt x="108748" y="228601"/>
                  </a:lnTo>
                  <a:cubicBezTo>
                    <a:pt x="79906" y="228601"/>
                    <a:pt x="52246" y="217144"/>
                    <a:pt x="31851" y="196750"/>
                  </a:cubicBezTo>
                  <a:cubicBezTo>
                    <a:pt x="11457" y="176356"/>
                    <a:pt x="0" y="148695"/>
                    <a:pt x="0" y="119854"/>
                  </a:cubicBezTo>
                  <a:lnTo>
                    <a:pt x="0" y="108748"/>
                  </a:lnTo>
                  <a:cubicBezTo>
                    <a:pt x="0" y="48688"/>
                    <a:pt x="48688" y="0"/>
                    <a:pt x="108748" y="0"/>
                  </a:cubicBezTo>
                  <a:close/>
                </a:path>
              </a:pathLst>
            </a:custGeom>
            <a:gradFill rotWithShape="1">
              <a:gsLst>
                <a:gs pos="0">
                  <a:srgbClr val="0CC0DF">
                    <a:alpha val="100000"/>
                  </a:srgbClr>
                </a:gs>
                <a:gs pos="100000">
                  <a:srgbClr val="FFDE59">
                    <a:alpha val="100000"/>
                  </a:srgbClr>
                </a:gs>
              </a:gsLst>
              <a:lin ang="0"/>
            </a:gradFill>
            <a:ln w="19050" cap="sq">
              <a:solidFill>
                <a:srgbClr val="000000"/>
              </a:solidFill>
              <a:prstDash val="solid"/>
              <a:miter/>
            </a:ln>
          </p:spPr>
        </p:sp>
        <p:sp>
          <p:nvSpPr>
            <p:cNvPr id="38" name="TextBox 38"/>
            <p:cNvSpPr txBox="1"/>
            <p:nvPr/>
          </p:nvSpPr>
          <p:spPr>
            <a:xfrm>
              <a:off x="0" y="0"/>
              <a:ext cx="217495" cy="228601"/>
            </a:xfrm>
            <a:prstGeom prst="rect">
              <a:avLst/>
            </a:prstGeom>
          </p:spPr>
          <p:txBody>
            <a:bodyPr lIns="50800" tIns="50800" rIns="50800" bIns="50800" rtlCol="0" anchor="ctr"/>
            <a:lstStyle/>
            <a:p>
              <a:pPr algn="ctr">
                <a:lnSpc>
                  <a:spcPts val="1829"/>
                </a:lnSpc>
              </a:pPr>
              <a:endParaRPr/>
            </a:p>
          </p:txBody>
        </p:sp>
      </p:grpSp>
      <p:sp>
        <p:nvSpPr>
          <p:cNvPr id="39" name="Freeform 39"/>
          <p:cNvSpPr/>
          <p:nvPr/>
        </p:nvSpPr>
        <p:spPr>
          <a:xfrm>
            <a:off x="7529754" y="7888843"/>
            <a:ext cx="565548" cy="754064"/>
          </a:xfrm>
          <a:custGeom>
            <a:avLst/>
            <a:gdLst/>
            <a:ahLst/>
            <a:cxnLst/>
            <a:rect l="l" t="t" r="r" b="b"/>
            <a:pathLst>
              <a:path w="565548" h="754064">
                <a:moveTo>
                  <a:pt x="0" y="0"/>
                </a:moveTo>
                <a:lnTo>
                  <a:pt x="565549" y="0"/>
                </a:lnTo>
                <a:lnTo>
                  <a:pt x="565549" y="754064"/>
                </a:lnTo>
                <a:lnTo>
                  <a:pt x="0" y="754064"/>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40" name="AutoShape 40"/>
          <p:cNvSpPr/>
          <p:nvPr/>
        </p:nvSpPr>
        <p:spPr>
          <a:xfrm>
            <a:off x="6480202" y="8265457"/>
            <a:ext cx="684844" cy="0"/>
          </a:xfrm>
          <a:prstGeom prst="line">
            <a:avLst/>
          </a:prstGeom>
          <a:ln w="95250" cap="flat">
            <a:gradFill>
              <a:gsLst>
                <a:gs pos="0">
                  <a:srgbClr val="8C52FF">
                    <a:alpha val="100000"/>
                  </a:srgbClr>
                </a:gs>
                <a:gs pos="100000">
                  <a:srgbClr val="00BF63">
                    <a:alpha val="100000"/>
                  </a:srgbClr>
                </a:gs>
              </a:gsLst>
              <a:lin ang="0"/>
            </a:gradFill>
            <a:prstDash val="solid"/>
            <a:headEnd type="none" w="sm" len="sm"/>
            <a:tailEnd type="triangle" w="lg" len="med"/>
          </a:ln>
        </p:spPr>
      </p:sp>
      <p:sp>
        <p:nvSpPr>
          <p:cNvPr id="41" name="AutoShape 41"/>
          <p:cNvSpPr/>
          <p:nvPr/>
        </p:nvSpPr>
        <p:spPr>
          <a:xfrm>
            <a:off x="8415401" y="8262742"/>
            <a:ext cx="684844" cy="0"/>
          </a:xfrm>
          <a:prstGeom prst="line">
            <a:avLst/>
          </a:prstGeom>
          <a:ln w="95250" cap="flat">
            <a:gradFill>
              <a:gsLst>
                <a:gs pos="0">
                  <a:srgbClr val="8C52FF">
                    <a:alpha val="100000"/>
                  </a:srgbClr>
                </a:gs>
                <a:gs pos="100000">
                  <a:srgbClr val="00BF63">
                    <a:alpha val="100000"/>
                  </a:srgbClr>
                </a:gs>
              </a:gsLst>
              <a:lin ang="0"/>
            </a:gradFill>
            <a:prstDash val="solid"/>
            <a:headEnd type="none" w="sm" len="sm"/>
            <a:tailEnd type="triangle" w="lg" len="med"/>
          </a:ln>
        </p:spPr>
      </p:sp>
      <p:graphicFrame>
        <p:nvGraphicFramePr>
          <p:cNvPr id="42" name="Table 42"/>
          <p:cNvGraphicFramePr>
            <a:graphicFrameLocks noGrp="1"/>
          </p:cNvGraphicFramePr>
          <p:nvPr/>
        </p:nvGraphicFramePr>
        <p:xfrm>
          <a:off x="9424095" y="7308718"/>
          <a:ext cx="270261" cy="1726509"/>
        </p:xfrm>
        <a:graphic>
          <a:graphicData uri="http://schemas.openxmlformats.org/drawingml/2006/table">
            <a:tbl>
              <a:tblPr/>
              <a:tblGrid>
                <a:gridCol w="270261">
                  <a:extLst>
                    <a:ext uri="{9D8B030D-6E8A-4147-A177-3AD203B41FA5}">
                      <a16:colId xmlns:a16="http://schemas.microsoft.com/office/drawing/2014/main" val="20000"/>
                    </a:ext>
                  </a:extLst>
                </a:gridCol>
              </a:tblGrid>
              <a:tr h="335656">
                <a:tc>
                  <a:txBody>
                    <a:bodyPr/>
                    <a:lstStyle/>
                    <a:p>
                      <a:pPr algn="ctr">
                        <a:lnSpc>
                          <a:spcPts val="1709"/>
                        </a:lnSpc>
                        <a:defRPr/>
                      </a:pPr>
                      <a:r>
                        <a:rPr lang="en-US" sz="1220" b="1">
                          <a:solidFill>
                            <a:srgbClr val="FFFFFF"/>
                          </a:solidFill>
                          <a:latin typeface="Proxima Nova Bold"/>
                          <a:ea typeface="Proxima Nova Bold"/>
                          <a:cs typeface="Proxima Nova Bold"/>
                          <a:sym typeface="Proxima Nova Bold"/>
                        </a:rPr>
                        <a:t>0</a:t>
                      </a:r>
                      <a:endParaRPr lang="en-US" sz="1100"/>
                    </a:p>
                  </a:txBody>
                  <a:tcPr marL="0" marR="0" marT="0" marB="0" anchor="ctr">
                    <a:lnL w="26368" cap="flat" cmpd="sng" algn="ctr">
                      <a:solidFill>
                        <a:srgbClr val="000000"/>
                      </a:solidFill>
                      <a:prstDash val="solid"/>
                      <a:round/>
                      <a:headEnd type="none" w="med" len="med"/>
                      <a:tailEnd type="none" w="med" len="med"/>
                    </a:lnL>
                    <a:lnR w="26368" cap="flat" cmpd="sng" algn="ctr">
                      <a:solidFill>
                        <a:srgbClr val="000000"/>
                      </a:solidFill>
                      <a:prstDash val="solid"/>
                      <a:round/>
                      <a:headEnd type="none" w="med" len="med"/>
                      <a:tailEnd type="none" w="med" len="med"/>
                    </a:lnR>
                    <a:lnT w="26368" cap="flat" cmpd="sng" algn="ctr">
                      <a:solidFill>
                        <a:srgbClr val="000000"/>
                      </a:solidFill>
                      <a:prstDash val="solid"/>
                      <a:round/>
                      <a:headEnd type="none" w="med" len="med"/>
                      <a:tailEnd type="none" w="med" len="med"/>
                    </a:lnT>
                    <a:lnB w="26368" cap="flat" cmpd="sng" algn="ctr">
                      <a:solidFill>
                        <a:srgbClr val="000000"/>
                      </a:solidFill>
                      <a:prstDash val="solid"/>
                      <a:round/>
                      <a:headEnd type="none" w="med" len="med"/>
                      <a:tailEnd type="none" w="med" len="med"/>
                    </a:lnB>
                    <a:solidFill>
                      <a:srgbClr val="0CC0DF"/>
                    </a:solidFill>
                  </a:tcPr>
                </a:tc>
                <a:extLst>
                  <a:ext uri="{0D108BD9-81ED-4DB2-BD59-A6C34878D82A}">
                    <a16:rowId xmlns:a16="http://schemas.microsoft.com/office/drawing/2014/main" val="10000"/>
                  </a:ext>
                </a:extLst>
              </a:tr>
              <a:tr h="335656">
                <a:tc>
                  <a:txBody>
                    <a:bodyPr/>
                    <a:lstStyle/>
                    <a:p>
                      <a:pPr algn="ctr">
                        <a:lnSpc>
                          <a:spcPts val="1709"/>
                        </a:lnSpc>
                        <a:defRPr/>
                      </a:pPr>
                      <a:r>
                        <a:rPr lang="en-US" sz="1220">
                          <a:solidFill>
                            <a:srgbClr val="FFFFFF"/>
                          </a:solidFill>
                          <a:latin typeface="Proxima Nova"/>
                          <a:ea typeface="Proxima Nova"/>
                          <a:cs typeface="Proxima Nova"/>
                          <a:sym typeface="Proxima Nova"/>
                        </a:rPr>
                        <a:t>0</a:t>
                      </a:r>
                      <a:endParaRPr lang="en-US" sz="1100"/>
                    </a:p>
                  </a:txBody>
                  <a:tcPr marL="0" marR="0" marT="0" marB="0" anchor="ctr">
                    <a:lnL w="26368" cap="flat" cmpd="sng" algn="ctr">
                      <a:solidFill>
                        <a:srgbClr val="000000"/>
                      </a:solidFill>
                      <a:prstDash val="solid"/>
                      <a:round/>
                      <a:headEnd type="none" w="med" len="med"/>
                      <a:tailEnd type="none" w="med" len="med"/>
                    </a:lnL>
                    <a:lnR w="26368" cap="flat" cmpd="sng" algn="ctr">
                      <a:solidFill>
                        <a:srgbClr val="000000"/>
                      </a:solidFill>
                      <a:prstDash val="solid"/>
                      <a:round/>
                      <a:headEnd type="none" w="med" len="med"/>
                      <a:tailEnd type="none" w="med" len="med"/>
                    </a:lnR>
                    <a:lnT w="26368" cap="flat" cmpd="sng" algn="ctr">
                      <a:solidFill>
                        <a:srgbClr val="000000"/>
                      </a:solidFill>
                      <a:prstDash val="solid"/>
                      <a:round/>
                      <a:headEnd type="none" w="med" len="med"/>
                      <a:tailEnd type="none" w="med" len="med"/>
                    </a:lnT>
                    <a:lnB w="26368" cap="flat" cmpd="sng" algn="ctr">
                      <a:solidFill>
                        <a:srgbClr val="000000"/>
                      </a:solidFill>
                      <a:prstDash val="solid"/>
                      <a:round/>
                      <a:headEnd type="none" w="med" len="med"/>
                      <a:tailEnd type="none" w="med" len="med"/>
                    </a:lnB>
                    <a:solidFill>
                      <a:srgbClr val="0CC0DF"/>
                    </a:solidFill>
                  </a:tcPr>
                </a:tc>
                <a:extLst>
                  <a:ext uri="{0D108BD9-81ED-4DB2-BD59-A6C34878D82A}">
                    <a16:rowId xmlns:a16="http://schemas.microsoft.com/office/drawing/2014/main" val="10001"/>
                  </a:ext>
                </a:extLst>
              </a:tr>
              <a:tr h="716295">
                <a:tc>
                  <a:txBody>
                    <a:bodyPr/>
                    <a:lstStyle/>
                    <a:p>
                      <a:pPr algn="ctr">
                        <a:lnSpc>
                          <a:spcPts val="1709"/>
                        </a:lnSpc>
                        <a:defRPr/>
                      </a:pPr>
                      <a:r>
                        <a:rPr lang="en-US" sz="1220" b="1">
                          <a:solidFill>
                            <a:srgbClr val="000000"/>
                          </a:solidFill>
                          <a:latin typeface="Proxima Nova Bold"/>
                          <a:ea typeface="Proxima Nova Bold"/>
                          <a:cs typeface="Proxima Nova Bold"/>
                          <a:sym typeface="Proxima Nova Bold"/>
                        </a:rPr>
                        <a:t>.</a:t>
                      </a:r>
                      <a:endParaRPr lang="en-US" sz="1100"/>
                    </a:p>
                    <a:p>
                      <a:pPr algn="ctr">
                        <a:lnSpc>
                          <a:spcPts val="1709"/>
                        </a:lnSpc>
                      </a:pPr>
                      <a:r>
                        <a:rPr lang="en-US" sz="1220" b="1">
                          <a:solidFill>
                            <a:srgbClr val="000000"/>
                          </a:solidFill>
                          <a:latin typeface="Proxima Nova Bold"/>
                          <a:ea typeface="Proxima Nova Bold"/>
                          <a:cs typeface="Proxima Nova Bold"/>
                          <a:sym typeface="Proxima Nova Bold"/>
                        </a:rPr>
                        <a:t>.</a:t>
                      </a:r>
                    </a:p>
                    <a:p>
                      <a:pPr algn="ctr">
                        <a:lnSpc>
                          <a:spcPts val="1709"/>
                        </a:lnSpc>
                      </a:pPr>
                      <a:r>
                        <a:rPr lang="en-US" sz="1220" b="1">
                          <a:solidFill>
                            <a:srgbClr val="000000"/>
                          </a:solidFill>
                          <a:latin typeface="Proxima Nova Bold"/>
                          <a:ea typeface="Proxima Nova Bold"/>
                          <a:cs typeface="Proxima Nova Bold"/>
                          <a:sym typeface="Proxima Nova Bold"/>
                        </a:rPr>
                        <a:t>.</a:t>
                      </a:r>
                    </a:p>
                  </a:txBody>
                  <a:tcPr marL="0" marR="0" marT="0" marB="0" anchor="ctr">
                    <a:lnL w="26368" cap="flat" cmpd="sng" algn="ctr">
                      <a:solidFill>
                        <a:srgbClr val="000000"/>
                      </a:solidFill>
                      <a:prstDash val="solid"/>
                      <a:round/>
                      <a:headEnd type="none" w="med" len="med"/>
                      <a:tailEnd type="none" w="med" len="med"/>
                    </a:lnL>
                    <a:lnR w="26368" cap="flat" cmpd="sng" algn="ctr">
                      <a:solidFill>
                        <a:srgbClr val="000000"/>
                      </a:solidFill>
                      <a:prstDash val="solid"/>
                      <a:round/>
                      <a:headEnd type="none" w="med" len="med"/>
                      <a:tailEnd type="none" w="med" len="med"/>
                    </a:lnR>
                    <a:lnT w="26368" cap="flat" cmpd="sng" algn="ctr">
                      <a:solidFill>
                        <a:srgbClr val="000000"/>
                      </a:solidFill>
                      <a:prstDash val="solid"/>
                      <a:round/>
                      <a:headEnd type="none" w="med" len="med"/>
                      <a:tailEnd type="none" w="med" len="med"/>
                    </a:lnT>
                    <a:lnB w="26368" cap="flat" cmpd="sng" algn="ctr">
                      <a:solidFill>
                        <a:srgbClr val="000000"/>
                      </a:solidFill>
                      <a:prstDash val="solid"/>
                      <a:round/>
                      <a:headEnd type="none" w="med" len="med"/>
                      <a:tailEnd type="none" w="med" len="med"/>
                    </a:lnB>
                    <a:solidFill>
                      <a:srgbClr val="0CC0DF"/>
                    </a:solidFill>
                  </a:tcPr>
                </a:tc>
                <a:extLst>
                  <a:ext uri="{0D108BD9-81ED-4DB2-BD59-A6C34878D82A}">
                    <a16:rowId xmlns:a16="http://schemas.microsoft.com/office/drawing/2014/main" val="10002"/>
                  </a:ext>
                </a:extLst>
              </a:tr>
              <a:tr h="338902">
                <a:tc>
                  <a:txBody>
                    <a:bodyPr/>
                    <a:lstStyle/>
                    <a:p>
                      <a:pPr algn="ctr">
                        <a:lnSpc>
                          <a:spcPts val="1902"/>
                        </a:lnSpc>
                        <a:defRPr/>
                      </a:pPr>
                      <a:r>
                        <a:rPr lang="en-US" sz="1359">
                          <a:solidFill>
                            <a:srgbClr val="FFFFFF"/>
                          </a:solidFill>
                          <a:latin typeface="Proxima Nova"/>
                          <a:ea typeface="Proxima Nova"/>
                          <a:cs typeface="Proxima Nova"/>
                          <a:sym typeface="Proxima Nova"/>
                        </a:rPr>
                        <a:t>1</a:t>
                      </a:r>
                      <a:endParaRPr lang="en-US" sz="1100"/>
                    </a:p>
                  </a:txBody>
                  <a:tcPr marL="0" marR="0" marT="0" marB="0" anchor="ctr">
                    <a:lnL w="26368" cap="flat" cmpd="sng" algn="ctr">
                      <a:solidFill>
                        <a:srgbClr val="000000"/>
                      </a:solidFill>
                      <a:prstDash val="solid"/>
                      <a:round/>
                      <a:headEnd type="none" w="med" len="med"/>
                      <a:tailEnd type="none" w="med" len="med"/>
                    </a:lnL>
                    <a:lnR w="26368" cap="flat" cmpd="sng" algn="ctr">
                      <a:solidFill>
                        <a:srgbClr val="000000"/>
                      </a:solidFill>
                      <a:prstDash val="solid"/>
                      <a:round/>
                      <a:headEnd type="none" w="med" len="med"/>
                      <a:tailEnd type="none" w="med" len="med"/>
                    </a:lnR>
                    <a:lnT w="26368" cap="flat" cmpd="sng" algn="ctr">
                      <a:solidFill>
                        <a:srgbClr val="000000"/>
                      </a:solidFill>
                      <a:prstDash val="solid"/>
                      <a:round/>
                      <a:headEnd type="none" w="med" len="med"/>
                      <a:tailEnd type="none" w="med" len="med"/>
                    </a:lnT>
                    <a:lnB w="26368" cap="flat" cmpd="sng" algn="ctr">
                      <a:solidFill>
                        <a:srgbClr val="000000"/>
                      </a:solidFill>
                      <a:prstDash val="solid"/>
                      <a:round/>
                      <a:headEnd type="none" w="med" len="med"/>
                      <a:tailEnd type="none" w="med" len="med"/>
                    </a:lnB>
                    <a:solidFill>
                      <a:srgbClr val="0CC0DF"/>
                    </a:solidFill>
                  </a:tcPr>
                </a:tc>
                <a:extLst>
                  <a:ext uri="{0D108BD9-81ED-4DB2-BD59-A6C34878D82A}">
                    <a16:rowId xmlns:a16="http://schemas.microsoft.com/office/drawing/2014/main" val="10003"/>
                  </a:ext>
                </a:extLst>
              </a:tr>
            </a:tbl>
          </a:graphicData>
        </a:graphic>
      </p:graphicFrame>
      <p:graphicFrame>
        <p:nvGraphicFramePr>
          <p:cNvPr id="43" name="Table 43"/>
          <p:cNvGraphicFramePr>
            <a:graphicFrameLocks noGrp="1"/>
          </p:cNvGraphicFramePr>
          <p:nvPr/>
        </p:nvGraphicFramePr>
        <p:xfrm>
          <a:off x="9854011" y="7308718"/>
          <a:ext cx="270261" cy="1726509"/>
        </p:xfrm>
        <a:graphic>
          <a:graphicData uri="http://schemas.openxmlformats.org/drawingml/2006/table">
            <a:tbl>
              <a:tblPr/>
              <a:tblGrid>
                <a:gridCol w="270261">
                  <a:extLst>
                    <a:ext uri="{9D8B030D-6E8A-4147-A177-3AD203B41FA5}">
                      <a16:colId xmlns:a16="http://schemas.microsoft.com/office/drawing/2014/main" val="20000"/>
                    </a:ext>
                  </a:extLst>
                </a:gridCol>
              </a:tblGrid>
              <a:tr h="335656">
                <a:tc>
                  <a:txBody>
                    <a:bodyPr/>
                    <a:lstStyle/>
                    <a:p>
                      <a:pPr algn="ctr">
                        <a:lnSpc>
                          <a:spcPts val="1709"/>
                        </a:lnSpc>
                        <a:defRPr/>
                      </a:pPr>
                      <a:r>
                        <a:rPr lang="en-US" sz="1220" b="1">
                          <a:solidFill>
                            <a:srgbClr val="FFFFFF"/>
                          </a:solidFill>
                          <a:latin typeface="Proxima Nova Bold"/>
                          <a:ea typeface="Proxima Nova Bold"/>
                          <a:cs typeface="Proxima Nova Bold"/>
                          <a:sym typeface="Proxima Nova Bold"/>
                        </a:rPr>
                        <a:t>1</a:t>
                      </a:r>
                      <a:endParaRPr lang="en-US" sz="1100"/>
                    </a:p>
                  </a:txBody>
                  <a:tcPr marL="0" marR="0" marT="0" marB="0" anchor="ctr">
                    <a:lnL w="26368" cap="flat" cmpd="sng" algn="ctr">
                      <a:solidFill>
                        <a:srgbClr val="000000"/>
                      </a:solidFill>
                      <a:prstDash val="solid"/>
                      <a:round/>
                      <a:headEnd type="none" w="med" len="med"/>
                      <a:tailEnd type="none" w="med" len="med"/>
                    </a:lnL>
                    <a:lnR w="26368" cap="flat" cmpd="sng" algn="ctr">
                      <a:solidFill>
                        <a:srgbClr val="000000"/>
                      </a:solidFill>
                      <a:prstDash val="solid"/>
                      <a:round/>
                      <a:headEnd type="none" w="med" len="med"/>
                      <a:tailEnd type="none" w="med" len="med"/>
                    </a:lnR>
                    <a:lnT w="26368" cap="flat" cmpd="sng" algn="ctr">
                      <a:solidFill>
                        <a:srgbClr val="000000"/>
                      </a:solidFill>
                      <a:prstDash val="solid"/>
                      <a:round/>
                      <a:headEnd type="none" w="med" len="med"/>
                      <a:tailEnd type="none" w="med" len="med"/>
                    </a:lnT>
                    <a:lnB w="26368" cap="flat" cmpd="sng" algn="ctr">
                      <a:solidFill>
                        <a:srgbClr val="000000"/>
                      </a:solidFill>
                      <a:prstDash val="solid"/>
                      <a:round/>
                      <a:headEnd type="none" w="med" len="med"/>
                      <a:tailEnd type="none" w="med" len="med"/>
                    </a:lnB>
                    <a:solidFill>
                      <a:srgbClr val="7ED957"/>
                    </a:solidFill>
                  </a:tcPr>
                </a:tc>
                <a:extLst>
                  <a:ext uri="{0D108BD9-81ED-4DB2-BD59-A6C34878D82A}">
                    <a16:rowId xmlns:a16="http://schemas.microsoft.com/office/drawing/2014/main" val="10000"/>
                  </a:ext>
                </a:extLst>
              </a:tr>
              <a:tr h="335656">
                <a:tc>
                  <a:txBody>
                    <a:bodyPr/>
                    <a:lstStyle/>
                    <a:p>
                      <a:pPr algn="ctr">
                        <a:lnSpc>
                          <a:spcPts val="1709"/>
                        </a:lnSpc>
                        <a:defRPr/>
                      </a:pPr>
                      <a:r>
                        <a:rPr lang="en-US" sz="1220">
                          <a:solidFill>
                            <a:srgbClr val="FFFFFF"/>
                          </a:solidFill>
                          <a:latin typeface="Proxima Nova"/>
                          <a:ea typeface="Proxima Nova"/>
                          <a:cs typeface="Proxima Nova"/>
                          <a:sym typeface="Proxima Nova"/>
                        </a:rPr>
                        <a:t>0</a:t>
                      </a:r>
                      <a:endParaRPr lang="en-US" sz="1100"/>
                    </a:p>
                  </a:txBody>
                  <a:tcPr marL="0" marR="0" marT="0" marB="0" anchor="ctr">
                    <a:lnL w="26368" cap="flat" cmpd="sng" algn="ctr">
                      <a:solidFill>
                        <a:srgbClr val="000000"/>
                      </a:solidFill>
                      <a:prstDash val="solid"/>
                      <a:round/>
                      <a:headEnd type="none" w="med" len="med"/>
                      <a:tailEnd type="none" w="med" len="med"/>
                    </a:lnL>
                    <a:lnR w="26368" cap="flat" cmpd="sng" algn="ctr">
                      <a:solidFill>
                        <a:srgbClr val="000000"/>
                      </a:solidFill>
                      <a:prstDash val="solid"/>
                      <a:round/>
                      <a:headEnd type="none" w="med" len="med"/>
                      <a:tailEnd type="none" w="med" len="med"/>
                    </a:lnR>
                    <a:lnT w="26368" cap="flat" cmpd="sng" algn="ctr">
                      <a:solidFill>
                        <a:srgbClr val="000000"/>
                      </a:solidFill>
                      <a:prstDash val="solid"/>
                      <a:round/>
                      <a:headEnd type="none" w="med" len="med"/>
                      <a:tailEnd type="none" w="med" len="med"/>
                    </a:lnT>
                    <a:lnB w="26368" cap="flat" cmpd="sng" algn="ctr">
                      <a:solidFill>
                        <a:srgbClr val="000000"/>
                      </a:solidFill>
                      <a:prstDash val="solid"/>
                      <a:round/>
                      <a:headEnd type="none" w="med" len="med"/>
                      <a:tailEnd type="none" w="med" len="med"/>
                    </a:lnB>
                    <a:solidFill>
                      <a:srgbClr val="7ED957"/>
                    </a:solidFill>
                  </a:tcPr>
                </a:tc>
                <a:extLst>
                  <a:ext uri="{0D108BD9-81ED-4DB2-BD59-A6C34878D82A}">
                    <a16:rowId xmlns:a16="http://schemas.microsoft.com/office/drawing/2014/main" val="10001"/>
                  </a:ext>
                </a:extLst>
              </a:tr>
              <a:tr h="716295">
                <a:tc>
                  <a:txBody>
                    <a:bodyPr/>
                    <a:lstStyle/>
                    <a:p>
                      <a:pPr algn="ctr">
                        <a:lnSpc>
                          <a:spcPts val="1709"/>
                        </a:lnSpc>
                        <a:defRPr/>
                      </a:pPr>
                      <a:r>
                        <a:rPr lang="en-US" sz="1220" b="1">
                          <a:solidFill>
                            <a:srgbClr val="000000"/>
                          </a:solidFill>
                          <a:latin typeface="Proxima Nova Bold"/>
                          <a:ea typeface="Proxima Nova Bold"/>
                          <a:cs typeface="Proxima Nova Bold"/>
                          <a:sym typeface="Proxima Nova Bold"/>
                        </a:rPr>
                        <a:t>.</a:t>
                      </a:r>
                      <a:endParaRPr lang="en-US" sz="1100"/>
                    </a:p>
                    <a:p>
                      <a:pPr algn="ctr">
                        <a:lnSpc>
                          <a:spcPts val="1709"/>
                        </a:lnSpc>
                      </a:pPr>
                      <a:r>
                        <a:rPr lang="en-US" sz="1220" b="1">
                          <a:solidFill>
                            <a:srgbClr val="000000"/>
                          </a:solidFill>
                          <a:latin typeface="Proxima Nova Bold"/>
                          <a:ea typeface="Proxima Nova Bold"/>
                          <a:cs typeface="Proxima Nova Bold"/>
                          <a:sym typeface="Proxima Nova Bold"/>
                        </a:rPr>
                        <a:t>.</a:t>
                      </a:r>
                    </a:p>
                    <a:p>
                      <a:pPr algn="ctr">
                        <a:lnSpc>
                          <a:spcPts val="1709"/>
                        </a:lnSpc>
                      </a:pPr>
                      <a:r>
                        <a:rPr lang="en-US" sz="1220" b="1">
                          <a:solidFill>
                            <a:srgbClr val="000000"/>
                          </a:solidFill>
                          <a:latin typeface="Proxima Nova Bold"/>
                          <a:ea typeface="Proxima Nova Bold"/>
                          <a:cs typeface="Proxima Nova Bold"/>
                          <a:sym typeface="Proxima Nova Bold"/>
                        </a:rPr>
                        <a:t>.</a:t>
                      </a:r>
                    </a:p>
                  </a:txBody>
                  <a:tcPr marL="0" marR="0" marT="0" marB="0" anchor="ctr">
                    <a:lnL w="26368" cap="flat" cmpd="sng" algn="ctr">
                      <a:solidFill>
                        <a:srgbClr val="000000"/>
                      </a:solidFill>
                      <a:prstDash val="solid"/>
                      <a:round/>
                      <a:headEnd type="none" w="med" len="med"/>
                      <a:tailEnd type="none" w="med" len="med"/>
                    </a:lnL>
                    <a:lnR w="26368" cap="flat" cmpd="sng" algn="ctr">
                      <a:solidFill>
                        <a:srgbClr val="000000"/>
                      </a:solidFill>
                      <a:prstDash val="solid"/>
                      <a:round/>
                      <a:headEnd type="none" w="med" len="med"/>
                      <a:tailEnd type="none" w="med" len="med"/>
                    </a:lnR>
                    <a:lnT w="26368" cap="flat" cmpd="sng" algn="ctr">
                      <a:solidFill>
                        <a:srgbClr val="000000"/>
                      </a:solidFill>
                      <a:prstDash val="solid"/>
                      <a:round/>
                      <a:headEnd type="none" w="med" len="med"/>
                      <a:tailEnd type="none" w="med" len="med"/>
                    </a:lnT>
                    <a:lnB w="26368" cap="flat" cmpd="sng" algn="ctr">
                      <a:solidFill>
                        <a:srgbClr val="000000"/>
                      </a:solidFill>
                      <a:prstDash val="solid"/>
                      <a:round/>
                      <a:headEnd type="none" w="med" len="med"/>
                      <a:tailEnd type="none" w="med" len="med"/>
                    </a:lnB>
                    <a:solidFill>
                      <a:srgbClr val="7ED957"/>
                    </a:solidFill>
                  </a:tcPr>
                </a:tc>
                <a:extLst>
                  <a:ext uri="{0D108BD9-81ED-4DB2-BD59-A6C34878D82A}">
                    <a16:rowId xmlns:a16="http://schemas.microsoft.com/office/drawing/2014/main" val="10002"/>
                  </a:ext>
                </a:extLst>
              </a:tr>
              <a:tr h="338902">
                <a:tc>
                  <a:txBody>
                    <a:bodyPr/>
                    <a:lstStyle/>
                    <a:p>
                      <a:pPr algn="ctr">
                        <a:lnSpc>
                          <a:spcPts val="1902"/>
                        </a:lnSpc>
                        <a:defRPr/>
                      </a:pPr>
                      <a:r>
                        <a:rPr lang="en-US" sz="1359">
                          <a:solidFill>
                            <a:srgbClr val="FFFFFF"/>
                          </a:solidFill>
                          <a:latin typeface="Proxima Nova"/>
                          <a:ea typeface="Proxima Nova"/>
                          <a:cs typeface="Proxima Nova"/>
                          <a:sym typeface="Proxima Nova"/>
                        </a:rPr>
                        <a:t>1</a:t>
                      </a:r>
                      <a:endParaRPr lang="en-US" sz="1100"/>
                    </a:p>
                  </a:txBody>
                  <a:tcPr marL="0" marR="0" marT="0" marB="0" anchor="ctr">
                    <a:lnL w="26368" cap="flat" cmpd="sng" algn="ctr">
                      <a:solidFill>
                        <a:srgbClr val="000000"/>
                      </a:solidFill>
                      <a:prstDash val="solid"/>
                      <a:round/>
                      <a:headEnd type="none" w="med" len="med"/>
                      <a:tailEnd type="none" w="med" len="med"/>
                    </a:lnL>
                    <a:lnR w="26368" cap="flat" cmpd="sng" algn="ctr">
                      <a:solidFill>
                        <a:srgbClr val="000000"/>
                      </a:solidFill>
                      <a:prstDash val="solid"/>
                      <a:round/>
                      <a:headEnd type="none" w="med" len="med"/>
                      <a:tailEnd type="none" w="med" len="med"/>
                    </a:lnR>
                    <a:lnT w="26368" cap="flat" cmpd="sng" algn="ctr">
                      <a:solidFill>
                        <a:srgbClr val="000000"/>
                      </a:solidFill>
                      <a:prstDash val="solid"/>
                      <a:round/>
                      <a:headEnd type="none" w="med" len="med"/>
                      <a:tailEnd type="none" w="med" len="med"/>
                    </a:lnT>
                    <a:lnB w="26368" cap="flat" cmpd="sng" algn="ctr">
                      <a:solidFill>
                        <a:srgbClr val="000000"/>
                      </a:solidFill>
                      <a:prstDash val="solid"/>
                      <a:round/>
                      <a:headEnd type="none" w="med" len="med"/>
                      <a:tailEnd type="none" w="med" len="med"/>
                    </a:lnB>
                    <a:solidFill>
                      <a:srgbClr val="7ED957"/>
                    </a:solidFill>
                  </a:tcPr>
                </a:tc>
                <a:extLst>
                  <a:ext uri="{0D108BD9-81ED-4DB2-BD59-A6C34878D82A}">
                    <a16:rowId xmlns:a16="http://schemas.microsoft.com/office/drawing/2014/main" val="10003"/>
                  </a:ext>
                </a:extLst>
              </a:tr>
            </a:tbl>
          </a:graphicData>
        </a:graphic>
      </p:graphicFrame>
      <p:graphicFrame>
        <p:nvGraphicFramePr>
          <p:cNvPr id="44" name="Table 44"/>
          <p:cNvGraphicFramePr>
            <a:graphicFrameLocks noGrp="1"/>
          </p:cNvGraphicFramePr>
          <p:nvPr/>
        </p:nvGraphicFramePr>
        <p:xfrm>
          <a:off x="10523476" y="7308718"/>
          <a:ext cx="270261" cy="1723314"/>
        </p:xfrm>
        <a:graphic>
          <a:graphicData uri="http://schemas.openxmlformats.org/drawingml/2006/table">
            <a:tbl>
              <a:tblPr/>
              <a:tblGrid>
                <a:gridCol w="270261">
                  <a:extLst>
                    <a:ext uri="{9D8B030D-6E8A-4147-A177-3AD203B41FA5}">
                      <a16:colId xmlns:a16="http://schemas.microsoft.com/office/drawing/2014/main" val="20000"/>
                    </a:ext>
                  </a:extLst>
                </a:gridCol>
              </a:tblGrid>
              <a:tr h="335666">
                <a:tc>
                  <a:txBody>
                    <a:bodyPr/>
                    <a:lstStyle/>
                    <a:p>
                      <a:pPr algn="ctr">
                        <a:lnSpc>
                          <a:spcPts val="1709"/>
                        </a:lnSpc>
                        <a:defRPr/>
                      </a:pPr>
                      <a:r>
                        <a:rPr lang="en-US" sz="1220" b="1">
                          <a:solidFill>
                            <a:srgbClr val="FFFFFF"/>
                          </a:solidFill>
                          <a:latin typeface="Proxima Nova Bold"/>
                          <a:ea typeface="Proxima Nova Bold"/>
                          <a:cs typeface="Proxima Nova Bold"/>
                          <a:sym typeface="Proxima Nova Bold"/>
                        </a:rPr>
                        <a:t>0</a:t>
                      </a:r>
                      <a:endParaRPr lang="en-US" sz="1100"/>
                    </a:p>
                  </a:txBody>
                  <a:tcPr marL="0" marR="0" marT="0" marB="0" anchor="ctr">
                    <a:lnL w="26368" cap="flat" cmpd="sng" algn="ctr">
                      <a:solidFill>
                        <a:srgbClr val="000000"/>
                      </a:solidFill>
                      <a:prstDash val="solid"/>
                      <a:round/>
                      <a:headEnd type="none" w="med" len="med"/>
                      <a:tailEnd type="none" w="med" len="med"/>
                    </a:lnL>
                    <a:lnR w="26368" cap="flat" cmpd="sng" algn="ctr">
                      <a:solidFill>
                        <a:srgbClr val="000000"/>
                      </a:solidFill>
                      <a:prstDash val="solid"/>
                      <a:round/>
                      <a:headEnd type="none" w="med" len="med"/>
                      <a:tailEnd type="none" w="med" len="med"/>
                    </a:lnR>
                    <a:lnT w="26368" cap="flat" cmpd="sng" algn="ctr">
                      <a:solidFill>
                        <a:srgbClr val="000000"/>
                      </a:solidFill>
                      <a:prstDash val="solid"/>
                      <a:round/>
                      <a:headEnd type="none" w="med" len="med"/>
                      <a:tailEnd type="none" w="med" len="med"/>
                    </a:lnT>
                    <a:lnB w="26368" cap="flat" cmpd="sng" algn="ctr">
                      <a:solidFill>
                        <a:srgbClr val="000000"/>
                      </a:solidFill>
                      <a:prstDash val="solid"/>
                      <a:round/>
                      <a:headEnd type="none" w="med" len="med"/>
                      <a:tailEnd type="none" w="med" len="med"/>
                    </a:lnB>
                    <a:solidFill>
                      <a:srgbClr val="0CC0DF"/>
                    </a:solidFill>
                  </a:tcPr>
                </a:tc>
                <a:extLst>
                  <a:ext uri="{0D108BD9-81ED-4DB2-BD59-A6C34878D82A}">
                    <a16:rowId xmlns:a16="http://schemas.microsoft.com/office/drawing/2014/main" val="10000"/>
                  </a:ext>
                </a:extLst>
              </a:tr>
              <a:tr h="335666">
                <a:tc>
                  <a:txBody>
                    <a:bodyPr/>
                    <a:lstStyle/>
                    <a:p>
                      <a:pPr algn="ctr">
                        <a:lnSpc>
                          <a:spcPts val="1709"/>
                        </a:lnSpc>
                        <a:defRPr/>
                      </a:pPr>
                      <a:r>
                        <a:rPr lang="en-US" sz="1220">
                          <a:solidFill>
                            <a:srgbClr val="FFFFFF"/>
                          </a:solidFill>
                          <a:latin typeface="Proxima Nova"/>
                          <a:ea typeface="Proxima Nova"/>
                          <a:cs typeface="Proxima Nova"/>
                          <a:sym typeface="Proxima Nova"/>
                        </a:rPr>
                        <a:t>0</a:t>
                      </a:r>
                      <a:endParaRPr lang="en-US" sz="1100"/>
                    </a:p>
                  </a:txBody>
                  <a:tcPr marL="0" marR="0" marT="0" marB="0" anchor="ctr">
                    <a:lnL w="26368" cap="flat" cmpd="sng" algn="ctr">
                      <a:solidFill>
                        <a:srgbClr val="000000"/>
                      </a:solidFill>
                      <a:prstDash val="solid"/>
                      <a:round/>
                      <a:headEnd type="none" w="med" len="med"/>
                      <a:tailEnd type="none" w="med" len="med"/>
                    </a:lnL>
                    <a:lnR w="26368" cap="flat" cmpd="sng" algn="ctr">
                      <a:solidFill>
                        <a:srgbClr val="000000"/>
                      </a:solidFill>
                      <a:prstDash val="solid"/>
                      <a:round/>
                      <a:headEnd type="none" w="med" len="med"/>
                      <a:tailEnd type="none" w="med" len="med"/>
                    </a:lnR>
                    <a:lnT w="26368" cap="flat" cmpd="sng" algn="ctr">
                      <a:solidFill>
                        <a:srgbClr val="000000"/>
                      </a:solidFill>
                      <a:prstDash val="solid"/>
                      <a:round/>
                      <a:headEnd type="none" w="med" len="med"/>
                      <a:tailEnd type="none" w="med" len="med"/>
                    </a:lnT>
                    <a:lnB w="26368" cap="flat" cmpd="sng" algn="ctr">
                      <a:solidFill>
                        <a:srgbClr val="000000"/>
                      </a:solidFill>
                      <a:prstDash val="solid"/>
                      <a:round/>
                      <a:headEnd type="none" w="med" len="med"/>
                      <a:tailEnd type="none" w="med" len="med"/>
                    </a:lnB>
                    <a:solidFill>
                      <a:srgbClr val="0CC0DF"/>
                    </a:solidFill>
                  </a:tcPr>
                </a:tc>
                <a:extLst>
                  <a:ext uri="{0D108BD9-81ED-4DB2-BD59-A6C34878D82A}">
                    <a16:rowId xmlns:a16="http://schemas.microsoft.com/office/drawing/2014/main" val="10001"/>
                  </a:ext>
                </a:extLst>
              </a:tr>
              <a:tr h="716316">
                <a:tc>
                  <a:txBody>
                    <a:bodyPr/>
                    <a:lstStyle/>
                    <a:p>
                      <a:pPr algn="ctr">
                        <a:lnSpc>
                          <a:spcPts val="1709"/>
                        </a:lnSpc>
                        <a:defRPr/>
                      </a:pPr>
                      <a:r>
                        <a:rPr lang="en-US" sz="1220" b="1">
                          <a:solidFill>
                            <a:srgbClr val="11090B"/>
                          </a:solidFill>
                          <a:latin typeface="Proxima Nova Bold"/>
                          <a:ea typeface="Proxima Nova Bold"/>
                          <a:cs typeface="Proxima Nova Bold"/>
                          <a:sym typeface="Proxima Nova Bold"/>
                        </a:rPr>
                        <a:t>.</a:t>
                      </a:r>
                      <a:endParaRPr lang="en-US" sz="1100"/>
                    </a:p>
                    <a:p>
                      <a:pPr algn="ctr">
                        <a:lnSpc>
                          <a:spcPts val="1709"/>
                        </a:lnSpc>
                      </a:pPr>
                      <a:r>
                        <a:rPr lang="en-US" sz="1220" b="1">
                          <a:solidFill>
                            <a:srgbClr val="11090B"/>
                          </a:solidFill>
                          <a:latin typeface="Proxima Nova Bold"/>
                          <a:ea typeface="Proxima Nova Bold"/>
                          <a:cs typeface="Proxima Nova Bold"/>
                          <a:sym typeface="Proxima Nova Bold"/>
                        </a:rPr>
                        <a:t>.</a:t>
                      </a:r>
                    </a:p>
                    <a:p>
                      <a:pPr algn="ctr">
                        <a:lnSpc>
                          <a:spcPts val="1709"/>
                        </a:lnSpc>
                      </a:pPr>
                      <a:r>
                        <a:rPr lang="en-US" sz="1220" b="1">
                          <a:solidFill>
                            <a:srgbClr val="11090B"/>
                          </a:solidFill>
                          <a:latin typeface="Proxima Nova Bold"/>
                          <a:ea typeface="Proxima Nova Bold"/>
                          <a:cs typeface="Proxima Nova Bold"/>
                          <a:sym typeface="Proxima Nova Bold"/>
                        </a:rPr>
                        <a:t>.</a:t>
                      </a:r>
                    </a:p>
                  </a:txBody>
                  <a:tcPr marL="0" marR="0" marT="0" marB="0" anchor="ctr">
                    <a:lnL w="26368" cap="flat" cmpd="sng" algn="ctr">
                      <a:solidFill>
                        <a:srgbClr val="000000"/>
                      </a:solidFill>
                      <a:prstDash val="solid"/>
                      <a:round/>
                      <a:headEnd type="none" w="med" len="med"/>
                      <a:tailEnd type="none" w="med" len="med"/>
                    </a:lnL>
                    <a:lnR w="26368" cap="flat" cmpd="sng" algn="ctr">
                      <a:solidFill>
                        <a:srgbClr val="000000"/>
                      </a:solidFill>
                      <a:prstDash val="solid"/>
                      <a:round/>
                      <a:headEnd type="none" w="med" len="med"/>
                      <a:tailEnd type="none" w="med" len="med"/>
                    </a:lnR>
                    <a:lnT w="26368" cap="flat" cmpd="sng" algn="ctr">
                      <a:solidFill>
                        <a:srgbClr val="000000"/>
                      </a:solidFill>
                      <a:prstDash val="solid"/>
                      <a:round/>
                      <a:headEnd type="none" w="med" len="med"/>
                      <a:tailEnd type="none" w="med" len="med"/>
                    </a:lnT>
                    <a:lnB w="26368" cap="flat" cmpd="sng" algn="ctr">
                      <a:solidFill>
                        <a:srgbClr val="000000"/>
                      </a:solidFill>
                      <a:prstDash val="solid"/>
                      <a:round/>
                      <a:headEnd type="none" w="med" len="med"/>
                      <a:tailEnd type="none" w="med" len="med"/>
                    </a:lnB>
                    <a:solidFill>
                      <a:srgbClr val="0CC0DF"/>
                    </a:solidFill>
                  </a:tcPr>
                </a:tc>
                <a:extLst>
                  <a:ext uri="{0D108BD9-81ED-4DB2-BD59-A6C34878D82A}">
                    <a16:rowId xmlns:a16="http://schemas.microsoft.com/office/drawing/2014/main" val="10002"/>
                  </a:ext>
                </a:extLst>
              </a:tr>
              <a:tr h="335666">
                <a:tc>
                  <a:txBody>
                    <a:bodyPr/>
                    <a:lstStyle/>
                    <a:p>
                      <a:pPr algn="ctr">
                        <a:lnSpc>
                          <a:spcPts val="1902"/>
                        </a:lnSpc>
                        <a:defRPr/>
                      </a:pPr>
                      <a:r>
                        <a:rPr lang="en-US" sz="1359">
                          <a:solidFill>
                            <a:srgbClr val="FFFFFF"/>
                          </a:solidFill>
                          <a:latin typeface="Proxima Nova"/>
                          <a:ea typeface="Proxima Nova"/>
                          <a:cs typeface="Proxima Nova"/>
                          <a:sym typeface="Proxima Nova"/>
                        </a:rPr>
                        <a:t>1</a:t>
                      </a:r>
                      <a:endParaRPr lang="en-US" sz="1100"/>
                    </a:p>
                  </a:txBody>
                  <a:tcPr marL="0" marR="0" marT="0" marB="0" anchor="ctr">
                    <a:lnL w="26368" cap="flat" cmpd="sng" algn="ctr">
                      <a:solidFill>
                        <a:srgbClr val="000000"/>
                      </a:solidFill>
                      <a:prstDash val="solid"/>
                      <a:round/>
                      <a:headEnd type="none" w="med" len="med"/>
                      <a:tailEnd type="none" w="med" len="med"/>
                    </a:lnL>
                    <a:lnR w="26368" cap="flat" cmpd="sng" algn="ctr">
                      <a:solidFill>
                        <a:srgbClr val="000000"/>
                      </a:solidFill>
                      <a:prstDash val="solid"/>
                      <a:round/>
                      <a:headEnd type="none" w="med" len="med"/>
                      <a:tailEnd type="none" w="med" len="med"/>
                    </a:lnR>
                    <a:lnT w="26368" cap="flat" cmpd="sng" algn="ctr">
                      <a:solidFill>
                        <a:srgbClr val="000000"/>
                      </a:solidFill>
                      <a:prstDash val="solid"/>
                      <a:round/>
                      <a:headEnd type="none" w="med" len="med"/>
                      <a:tailEnd type="none" w="med" len="med"/>
                    </a:lnT>
                    <a:lnB w="26368" cap="flat" cmpd="sng" algn="ctr">
                      <a:solidFill>
                        <a:srgbClr val="000000"/>
                      </a:solidFill>
                      <a:prstDash val="solid"/>
                      <a:round/>
                      <a:headEnd type="none" w="med" len="med"/>
                      <a:tailEnd type="none" w="med" len="med"/>
                    </a:lnB>
                    <a:solidFill>
                      <a:srgbClr val="0CC0DF"/>
                    </a:solidFill>
                  </a:tcPr>
                </a:tc>
                <a:extLst>
                  <a:ext uri="{0D108BD9-81ED-4DB2-BD59-A6C34878D82A}">
                    <a16:rowId xmlns:a16="http://schemas.microsoft.com/office/drawing/2014/main" val="10003"/>
                  </a:ext>
                </a:extLst>
              </a:tr>
            </a:tbl>
          </a:graphicData>
        </a:graphic>
      </p:graphicFrame>
      <p:graphicFrame>
        <p:nvGraphicFramePr>
          <p:cNvPr id="45" name="Table 45"/>
          <p:cNvGraphicFramePr>
            <a:graphicFrameLocks noGrp="1"/>
          </p:cNvGraphicFramePr>
          <p:nvPr/>
        </p:nvGraphicFramePr>
        <p:xfrm>
          <a:off x="10985654" y="7308718"/>
          <a:ext cx="270261" cy="1723314"/>
        </p:xfrm>
        <a:graphic>
          <a:graphicData uri="http://schemas.openxmlformats.org/drawingml/2006/table">
            <a:tbl>
              <a:tblPr/>
              <a:tblGrid>
                <a:gridCol w="270261">
                  <a:extLst>
                    <a:ext uri="{9D8B030D-6E8A-4147-A177-3AD203B41FA5}">
                      <a16:colId xmlns:a16="http://schemas.microsoft.com/office/drawing/2014/main" val="20000"/>
                    </a:ext>
                  </a:extLst>
                </a:gridCol>
              </a:tblGrid>
              <a:tr h="335666">
                <a:tc>
                  <a:txBody>
                    <a:bodyPr/>
                    <a:lstStyle/>
                    <a:p>
                      <a:pPr algn="ctr">
                        <a:lnSpc>
                          <a:spcPts val="1709"/>
                        </a:lnSpc>
                        <a:defRPr/>
                      </a:pPr>
                      <a:r>
                        <a:rPr lang="en-US" sz="1220" b="1">
                          <a:solidFill>
                            <a:srgbClr val="FFFFFF"/>
                          </a:solidFill>
                          <a:latin typeface="Proxima Nova Bold"/>
                          <a:ea typeface="Proxima Nova Bold"/>
                          <a:cs typeface="Proxima Nova Bold"/>
                          <a:sym typeface="Proxima Nova Bold"/>
                        </a:rPr>
                        <a:t>1</a:t>
                      </a:r>
                      <a:endParaRPr lang="en-US" sz="1100"/>
                    </a:p>
                  </a:txBody>
                  <a:tcPr marL="0" marR="0" marT="0" marB="0" anchor="ctr">
                    <a:lnL w="26368" cap="flat" cmpd="sng" algn="ctr">
                      <a:solidFill>
                        <a:srgbClr val="000000"/>
                      </a:solidFill>
                      <a:prstDash val="solid"/>
                      <a:round/>
                      <a:headEnd type="none" w="med" len="med"/>
                      <a:tailEnd type="none" w="med" len="med"/>
                    </a:lnL>
                    <a:lnR w="26368" cap="flat" cmpd="sng" algn="ctr">
                      <a:solidFill>
                        <a:srgbClr val="000000"/>
                      </a:solidFill>
                      <a:prstDash val="solid"/>
                      <a:round/>
                      <a:headEnd type="none" w="med" len="med"/>
                      <a:tailEnd type="none" w="med" len="med"/>
                    </a:lnR>
                    <a:lnT w="26368" cap="flat" cmpd="sng" algn="ctr">
                      <a:solidFill>
                        <a:srgbClr val="000000"/>
                      </a:solidFill>
                      <a:prstDash val="solid"/>
                      <a:round/>
                      <a:headEnd type="none" w="med" len="med"/>
                      <a:tailEnd type="none" w="med" len="med"/>
                    </a:lnT>
                    <a:lnB w="26368" cap="flat" cmpd="sng" algn="ctr">
                      <a:solidFill>
                        <a:srgbClr val="000000"/>
                      </a:solidFill>
                      <a:prstDash val="solid"/>
                      <a:round/>
                      <a:headEnd type="none" w="med" len="med"/>
                      <a:tailEnd type="none" w="med" len="med"/>
                    </a:lnB>
                    <a:solidFill>
                      <a:srgbClr val="7ED957"/>
                    </a:solidFill>
                  </a:tcPr>
                </a:tc>
                <a:extLst>
                  <a:ext uri="{0D108BD9-81ED-4DB2-BD59-A6C34878D82A}">
                    <a16:rowId xmlns:a16="http://schemas.microsoft.com/office/drawing/2014/main" val="10000"/>
                  </a:ext>
                </a:extLst>
              </a:tr>
              <a:tr h="335666">
                <a:tc>
                  <a:txBody>
                    <a:bodyPr/>
                    <a:lstStyle/>
                    <a:p>
                      <a:pPr algn="ctr">
                        <a:lnSpc>
                          <a:spcPts val="1709"/>
                        </a:lnSpc>
                        <a:defRPr/>
                      </a:pPr>
                      <a:r>
                        <a:rPr lang="en-US" sz="1220">
                          <a:solidFill>
                            <a:srgbClr val="FFFFFF"/>
                          </a:solidFill>
                          <a:latin typeface="Proxima Nova"/>
                          <a:ea typeface="Proxima Nova"/>
                          <a:cs typeface="Proxima Nova"/>
                          <a:sym typeface="Proxima Nova"/>
                        </a:rPr>
                        <a:t>0</a:t>
                      </a:r>
                      <a:endParaRPr lang="en-US" sz="1100"/>
                    </a:p>
                  </a:txBody>
                  <a:tcPr marL="0" marR="0" marT="0" marB="0" anchor="ctr">
                    <a:lnL w="26368" cap="flat" cmpd="sng" algn="ctr">
                      <a:solidFill>
                        <a:srgbClr val="000000"/>
                      </a:solidFill>
                      <a:prstDash val="solid"/>
                      <a:round/>
                      <a:headEnd type="none" w="med" len="med"/>
                      <a:tailEnd type="none" w="med" len="med"/>
                    </a:lnL>
                    <a:lnR w="26368" cap="flat" cmpd="sng" algn="ctr">
                      <a:solidFill>
                        <a:srgbClr val="000000"/>
                      </a:solidFill>
                      <a:prstDash val="solid"/>
                      <a:round/>
                      <a:headEnd type="none" w="med" len="med"/>
                      <a:tailEnd type="none" w="med" len="med"/>
                    </a:lnR>
                    <a:lnT w="26368" cap="flat" cmpd="sng" algn="ctr">
                      <a:solidFill>
                        <a:srgbClr val="000000"/>
                      </a:solidFill>
                      <a:prstDash val="solid"/>
                      <a:round/>
                      <a:headEnd type="none" w="med" len="med"/>
                      <a:tailEnd type="none" w="med" len="med"/>
                    </a:lnT>
                    <a:lnB w="26368" cap="flat" cmpd="sng" algn="ctr">
                      <a:solidFill>
                        <a:srgbClr val="000000"/>
                      </a:solidFill>
                      <a:prstDash val="solid"/>
                      <a:round/>
                      <a:headEnd type="none" w="med" len="med"/>
                      <a:tailEnd type="none" w="med" len="med"/>
                    </a:lnB>
                    <a:solidFill>
                      <a:srgbClr val="7ED957"/>
                    </a:solidFill>
                  </a:tcPr>
                </a:tc>
                <a:extLst>
                  <a:ext uri="{0D108BD9-81ED-4DB2-BD59-A6C34878D82A}">
                    <a16:rowId xmlns:a16="http://schemas.microsoft.com/office/drawing/2014/main" val="10001"/>
                  </a:ext>
                </a:extLst>
              </a:tr>
              <a:tr h="716316">
                <a:tc>
                  <a:txBody>
                    <a:bodyPr/>
                    <a:lstStyle/>
                    <a:p>
                      <a:pPr algn="ctr">
                        <a:lnSpc>
                          <a:spcPts val="1709"/>
                        </a:lnSpc>
                        <a:defRPr/>
                      </a:pPr>
                      <a:r>
                        <a:rPr lang="en-US" sz="1220" b="1">
                          <a:solidFill>
                            <a:srgbClr val="11090B"/>
                          </a:solidFill>
                          <a:latin typeface="Proxima Nova Bold"/>
                          <a:ea typeface="Proxima Nova Bold"/>
                          <a:cs typeface="Proxima Nova Bold"/>
                          <a:sym typeface="Proxima Nova Bold"/>
                        </a:rPr>
                        <a:t>.</a:t>
                      </a:r>
                      <a:endParaRPr lang="en-US" sz="1100"/>
                    </a:p>
                    <a:p>
                      <a:pPr algn="ctr">
                        <a:lnSpc>
                          <a:spcPts val="1709"/>
                        </a:lnSpc>
                      </a:pPr>
                      <a:r>
                        <a:rPr lang="en-US" sz="1220" b="1">
                          <a:solidFill>
                            <a:srgbClr val="11090B"/>
                          </a:solidFill>
                          <a:latin typeface="Proxima Nova Bold"/>
                          <a:ea typeface="Proxima Nova Bold"/>
                          <a:cs typeface="Proxima Nova Bold"/>
                          <a:sym typeface="Proxima Nova Bold"/>
                        </a:rPr>
                        <a:t>.</a:t>
                      </a:r>
                    </a:p>
                    <a:p>
                      <a:pPr algn="ctr">
                        <a:lnSpc>
                          <a:spcPts val="1709"/>
                        </a:lnSpc>
                      </a:pPr>
                      <a:r>
                        <a:rPr lang="en-US" sz="1220" b="1">
                          <a:solidFill>
                            <a:srgbClr val="11090B"/>
                          </a:solidFill>
                          <a:latin typeface="Proxima Nova Bold"/>
                          <a:ea typeface="Proxima Nova Bold"/>
                          <a:cs typeface="Proxima Nova Bold"/>
                          <a:sym typeface="Proxima Nova Bold"/>
                        </a:rPr>
                        <a:t>.</a:t>
                      </a:r>
                    </a:p>
                  </a:txBody>
                  <a:tcPr marL="0" marR="0" marT="0" marB="0" anchor="ctr">
                    <a:lnL w="26368" cap="flat" cmpd="sng" algn="ctr">
                      <a:solidFill>
                        <a:srgbClr val="000000"/>
                      </a:solidFill>
                      <a:prstDash val="solid"/>
                      <a:round/>
                      <a:headEnd type="none" w="med" len="med"/>
                      <a:tailEnd type="none" w="med" len="med"/>
                    </a:lnL>
                    <a:lnR w="26368" cap="flat" cmpd="sng" algn="ctr">
                      <a:solidFill>
                        <a:srgbClr val="000000"/>
                      </a:solidFill>
                      <a:prstDash val="solid"/>
                      <a:round/>
                      <a:headEnd type="none" w="med" len="med"/>
                      <a:tailEnd type="none" w="med" len="med"/>
                    </a:lnR>
                    <a:lnT w="26368" cap="flat" cmpd="sng" algn="ctr">
                      <a:solidFill>
                        <a:srgbClr val="000000"/>
                      </a:solidFill>
                      <a:prstDash val="solid"/>
                      <a:round/>
                      <a:headEnd type="none" w="med" len="med"/>
                      <a:tailEnd type="none" w="med" len="med"/>
                    </a:lnT>
                    <a:lnB w="26368" cap="flat" cmpd="sng" algn="ctr">
                      <a:solidFill>
                        <a:srgbClr val="000000"/>
                      </a:solidFill>
                      <a:prstDash val="solid"/>
                      <a:round/>
                      <a:headEnd type="none" w="med" len="med"/>
                      <a:tailEnd type="none" w="med" len="med"/>
                    </a:lnB>
                    <a:solidFill>
                      <a:srgbClr val="7ED957"/>
                    </a:solidFill>
                  </a:tcPr>
                </a:tc>
                <a:extLst>
                  <a:ext uri="{0D108BD9-81ED-4DB2-BD59-A6C34878D82A}">
                    <a16:rowId xmlns:a16="http://schemas.microsoft.com/office/drawing/2014/main" val="10002"/>
                  </a:ext>
                </a:extLst>
              </a:tr>
              <a:tr h="335666">
                <a:tc>
                  <a:txBody>
                    <a:bodyPr/>
                    <a:lstStyle/>
                    <a:p>
                      <a:pPr algn="ctr">
                        <a:lnSpc>
                          <a:spcPts val="1902"/>
                        </a:lnSpc>
                        <a:defRPr/>
                      </a:pPr>
                      <a:r>
                        <a:rPr lang="en-US" sz="1359">
                          <a:solidFill>
                            <a:srgbClr val="FFFFFF"/>
                          </a:solidFill>
                          <a:latin typeface="Proxima Nova"/>
                          <a:ea typeface="Proxima Nova"/>
                          <a:cs typeface="Proxima Nova"/>
                          <a:sym typeface="Proxima Nova"/>
                        </a:rPr>
                        <a:t>1</a:t>
                      </a:r>
                      <a:endParaRPr lang="en-US" sz="1100"/>
                    </a:p>
                  </a:txBody>
                  <a:tcPr marL="0" marR="0" marT="0" marB="0" anchor="ctr">
                    <a:lnL w="26368" cap="flat" cmpd="sng" algn="ctr">
                      <a:solidFill>
                        <a:srgbClr val="000000"/>
                      </a:solidFill>
                      <a:prstDash val="solid"/>
                      <a:round/>
                      <a:headEnd type="none" w="med" len="med"/>
                      <a:tailEnd type="none" w="med" len="med"/>
                    </a:lnL>
                    <a:lnR w="26368" cap="flat" cmpd="sng" algn="ctr">
                      <a:solidFill>
                        <a:srgbClr val="000000"/>
                      </a:solidFill>
                      <a:prstDash val="solid"/>
                      <a:round/>
                      <a:headEnd type="none" w="med" len="med"/>
                      <a:tailEnd type="none" w="med" len="med"/>
                    </a:lnR>
                    <a:lnT w="26368" cap="flat" cmpd="sng" algn="ctr">
                      <a:solidFill>
                        <a:srgbClr val="000000"/>
                      </a:solidFill>
                      <a:prstDash val="solid"/>
                      <a:round/>
                      <a:headEnd type="none" w="med" len="med"/>
                      <a:tailEnd type="none" w="med" len="med"/>
                    </a:lnT>
                    <a:lnB w="26368" cap="flat" cmpd="sng" algn="ctr">
                      <a:solidFill>
                        <a:srgbClr val="000000"/>
                      </a:solidFill>
                      <a:prstDash val="solid"/>
                      <a:round/>
                      <a:headEnd type="none" w="med" len="med"/>
                      <a:tailEnd type="none" w="med" len="med"/>
                    </a:lnB>
                    <a:solidFill>
                      <a:srgbClr val="7ED957"/>
                    </a:solidFill>
                  </a:tcPr>
                </a:tc>
                <a:extLst>
                  <a:ext uri="{0D108BD9-81ED-4DB2-BD59-A6C34878D82A}">
                    <a16:rowId xmlns:a16="http://schemas.microsoft.com/office/drawing/2014/main" val="10003"/>
                  </a:ext>
                </a:extLst>
              </a:tr>
            </a:tbl>
          </a:graphicData>
        </a:graphic>
      </p:graphicFrame>
      <p:sp>
        <p:nvSpPr>
          <p:cNvPr id="46" name="AutoShape 46"/>
          <p:cNvSpPr/>
          <p:nvPr/>
        </p:nvSpPr>
        <p:spPr>
          <a:xfrm flipV="1">
            <a:off x="4332702" y="1197256"/>
            <a:ext cx="0" cy="8896714"/>
          </a:xfrm>
          <a:prstGeom prst="line">
            <a:avLst/>
          </a:prstGeom>
          <a:ln w="28575" cap="flat">
            <a:gradFill>
              <a:gsLst>
                <a:gs pos="0">
                  <a:srgbClr val="8C52FF">
                    <a:alpha val="100000"/>
                  </a:srgbClr>
                </a:gs>
                <a:gs pos="100000">
                  <a:srgbClr val="00BF63">
                    <a:alpha val="100000"/>
                  </a:srgbClr>
                </a:gs>
              </a:gsLst>
              <a:lin ang="0"/>
            </a:gradFill>
            <a:prstDash val="lgDash"/>
            <a:headEnd type="none" w="sm" len="sm"/>
            <a:tailEnd type="none" w="sm" len="sm"/>
          </a:ln>
        </p:spPr>
      </p:sp>
      <p:sp>
        <p:nvSpPr>
          <p:cNvPr id="47" name="AutoShape 47"/>
          <p:cNvSpPr/>
          <p:nvPr/>
        </p:nvSpPr>
        <p:spPr>
          <a:xfrm flipV="1">
            <a:off x="11639173" y="1200970"/>
            <a:ext cx="0" cy="8896714"/>
          </a:xfrm>
          <a:prstGeom prst="line">
            <a:avLst/>
          </a:prstGeom>
          <a:ln w="28575" cap="flat">
            <a:gradFill>
              <a:gsLst>
                <a:gs pos="0">
                  <a:srgbClr val="8C52FF">
                    <a:alpha val="100000"/>
                  </a:srgbClr>
                </a:gs>
                <a:gs pos="100000">
                  <a:srgbClr val="00BF63">
                    <a:alpha val="100000"/>
                  </a:srgbClr>
                </a:gs>
              </a:gsLst>
              <a:lin ang="0"/>
            </a:gradFill>
            <a:prstDash val="lgDash"/>
            <a:headEnd type="none" w="sm" len="sm"/>
            <a:tailEnd type="none" w="sm" len="sm"/>
          </a:ln>
        </p:spPr>
      </p:sp>
      <p:sp>
        <p:nvSpPr>
          <p:cNvPr id="48" name="AutoShape 48"/>
          <p:cNvSpPr/>
          <p:nvPr/>
        </p:nvSpPr>
        <p:spPr>
          <a:xfrm>
            <a:off x="11863011" y="3012969"/>
            <a:ext cx="1907811" cy="0"/>
          </a:xfrm>
          <a:prstGeom prst="line">
            <a:avLst/>
          </a:prstGeom>
          <a:ln w="19050" cap="flat">
            <a:solidFill>
              <a:srgbClr val="11090B"/>
            </a:solidFill>
            <a:prstDash val="solid"/>
            <a:headEnd type="none" w="sm" len="sm"/>
            <a:tailEnd type="none" w="sm" len="sm"/>
          </a:ln>
        </p:spPr>
      </p:sp>
      <p:sp>
        <p:nvSpPr>
          <p:cNvPr id="49" name="AutoShape 49"/>
          <p:cNvSpPr/>
          <p:nvPr/>
        </p:nvSpPr>
        <p:spPr>
          <a:xfrm>
            <a:off x="16077933" y="3012969"/>
            <a:ext cx="2003494" cy="0"/>
          </a:xfrm>
          <a:prstGeom prst="line">
            <a:avLst/>
          </a:prstGeom>
          <a:ln w="19050" cap="flat">
            <a:solidFill>
              <a:srgbClr val="11090B"/>
            </a:solidFill>
            <a:prstDash val="solid"/>
            <a:headEnd type="none" w="sm" len="sm"/>
            <a:tailEnd type="none" w="sm" len="sm"/>
          </a:ln>
        </p:spPr>
      </p:sp>
      <p:sp>
        <p:nvSpPr>
          <p:cNvPr id="50" name="AutoShape 50"/>
          <p:cNvSpPr/>
          <p:nvPr/>
        </p:nvSpPr>
        <p:spPr>
          <a:xfrm>
            <a:off x="11872536" y="3012969"/>
            <a:ext cx="0" cy="246545"/>
          </a:xfrm>
          <a:prstGeom prst="line">
            <a:avLst/>
          </a:prstGeom>
          <a:ln w="19050" cap="flat">
            <a:solidFill>
              <a:srgbClr val="11090B"/>
            </a:solidFill>
            <a:prstDash val="solid"/>
            <a:headEnd type="none" w="sm" len="sm"/>
            <a:tailEnd type="none" w="sm" len="sm"/>
          </a:ln>
        </p:spPr>
      </p:sp>
      <p:sp>
        <p:nvSpPr>
          <p:cNvPr id="51" name="AutoShape 51"/>
          <p:cNvSpPr/>
          <p:nvPr/>
        </p:nvSpPr>
        <p:spPr>
          <a:xfrm>
            <a:off x="18090953" y="3012969"/>
            <a:ext cx="0" cy="246545"/>
          </a:xfrm>
          <a:prstGeom prst="line">
            <a:avLst/>
          </a:prstGeom>
          <a:ln w="19050" cap="flat">
            <a:solidFill>
              <a:srgbClr val="11090B"/>
            </a:solidFill>
            <a:prstDash val="solid"/>
            <a:headEnd type="none" w="sm" len="sm"/>
            <a:tailEnd type="none" w="sm" len="sm"/>
          </a:ln>
        </p:spPr>
      </p:sp>
      <p:graphicFrame>
        <p:nvGraphicFramePr>
          <p:cNvPr id="52" name="Table 52"/>
          <p:cNvGraphicFramePr>
            <a:graphicFrameLocks noGrp="1"/>
          </p:cNvGraphicFramePr>
          <p:nvPr>
            <p:extLst>
              <p:ext uri="{D42A27DB-BD31-4B8C-83A1-F6EECF244321}">
                <p14:modId xmlns:p14="http://schemas.microsoft.com/office/powerpoint/2010/main" val="2309337342"/>
              </p:ext>
            </p:extLst>
          </p:nvPr>
        </p:nvGraphicFramePr>
        <p:xfrm>
          <a:off x="11859991" y="3309089"/>
          <a:ext cx="6227719" cy="615887"/>
        </p:xfrm>
        <a:graphic>
          <a:graphicData uri="http://schemas.openxmlformats.org/drawingml/2006/table">
            <a:tbl>
              <a:tblPr/>
              <a:tblGrid>
                <a:gridCol w="2809826">
                  <a:extLst>
                    <a:ext uri="{9D8B030D-6E8A-4147-A177-3AD203B41FA5}">
                      <a16:colId xmlns:a16="http://schemas.microsoft.com/office/drawing/2014/main" val="20000"/>
                    </a:ext>
                  </a:extLst>
                </a:gridCol>
                <a:gridCol w="1860092">
                  <a:extLst>
                    <a:ext uri="{9D8B030D-6E8A-4147-A177-3AD203B41FA5}">
                      <a16:colId xmlns:a16="http://schemas.microsoft.com/office/drawing/2014/main" val="20001"/>
                    </a:ext>
                  </a:extLst>
                </a:gridCol>
                <a:gridCol w="1557801">
                  <a:extLst>
                    <a:ext uri="{9D8B030D-6E8A-4147-A177-3AD203B41FA5}">
                      <a16:colId xmlns:a16="http://schemas.microsoft.com/office/drawing/2014/main" val="20002"/>
                    </a:ext>
                  </a:extLst>
                </a:gridCol>
              </a:tblGrid>
              <a:tr h="560966">
                <a:tc>
                  <a:txBody>
                    <a:bodyPr/>
                    <a:lstStyle/>
                    <a:p>
                      <a:pPr algn="ctr">
                        <a:lnSpc>
                          <a:spcPts val="2189"/>
                        </a:lnSpc>
                        <a:defRPr/>
                      </a:pPr>
                      <a:r>
                        <a:rPr lang="en-US" sz="1564" b="1">
                          <a:solidFill>
                            <a:srgbClr val="11090B"/>
                          </a:solidFill>
                          <a:latin typeface="Proxima Nova Bold"/>
                          <a:ea typeface="Proxima Nova Bold"/>
                          <a:cs typeface="Proxima Nova Bold"/>
                          <a:sym typeface="Proxima Nova Bold"/>
                        </a:rPr>
                        <a:t>TRAINING SET</a:t>
                      </a:r>
                    </a:p>
                    <a:p>
                      <a:pPr algn="ctr">
                        <a:lnSpc>
                          <a:spcPts val="2189"/>
                        </a:lnSpc>
                        <a:defRPr/>
                      </a:pPr>
                      <a:r>
                        <a:rPr lang="en-US" sz="1564" b="1">
                          <a:solidFill>
                            <a:srgbClr val="11090B"/>
                          </a:solidFill>
                          <a:latin typeface="Proxima Nova Bold"/>
                          <a:ea typeface="Proxima Nova Bold"/>
                          <a:cs typeface="Proxima Nova Bold"/>
                          <a:sym typeface="Proxima Nova Bold"/>
                        </a:rPr>
                        <a:t>( 50% ) </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7ED957"/>
                    </a:solidFill>
                  </a:tcPr>
                </a:tc>
                <a:tc>
                  <a:txBody>
                    <a:bodyPr/>
                    <a:lstStyle/>
                    <a:p>
                      <a:pPr algn="ctr">
                        <a:lnSpc>
                          <a:spcPts val="2189"/>
                        </a:lnSpc>
                        <a:defRPr/>
                      </a:pPr>
                      <a:r>
                        <a:rPr lang="en-US" sz="1564" b="1">
                          <a:solidFill>
                            <a:srgbClr val="000000"/>
                          </a:solidFill>
                          <a:latin typeface="Proxima Nova Bold"/>
                          <a:ea typeface="Proxima Nova Bold"/>
                          <a:cs typeface="Proxima Nova Bold"/>
                          <a:sym typeface="Proxima Nova Bold"/>
                        </a:rPr>
                        <a:t>VALIDATION SET</a:t>
                      </a:r>
                    </a:p>
                    <a:p>
                      <a:pPr algn="ctr">
                        <a:lnSpc>
                          <a:spcPts val="2189"/>
                        </a:lnSpc>
                        <a:defRPr/>
                      </a:pPr>
                      <a:r>
                        <a:rPr lang="en-US" sz="1564" b="1">
                          <a:solidFill>
                            <a:srgbClr val="000000"/>
                          </a:solidFill>
                          <a:latin typeface="Proxima Nova Bold"/>
                          <a:sym typeface="Proxima Nova Bold"/>
                        </a:rPr>
                        <a:t>( 0% )</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CE1E6"/>
                    </a:solidFill>
                  </a:tcPr>
                </a:tc>
                <a:tc>
                  <a:txBody>
                    <a:bodyPr/>
                    <a:lstStyle/>
                    <a:p>
                      <a:pPr algn="ctr">
                        <a:lnSpc>
                          <a:spcPts val="2189"/>
                        </a:lnSpc>
                        <a:defRPr/>
                      </a:pPr>
                      <a:r>
                        <a:rPr lang="en-US" sz="1564" b="1">
                          <a:solidFill>
                            <a:srgbClr val="000000"/>
                          </a:solidFill>
                          <a:latin typeface="Proxima Nova Bold"/>
                          <a:ea typeface="Proxima Nova Bold"/>
                          <a:cs typeface="Proxima Nova Bold"/>
                          <a:sym typeface="Proxima Nova Bold"/>
                        </a:rPr>
                        <a:t>TESTING SET</a:t>
                      </a:r>
                    </a:p>
                    <a:p>
                      <a:pPr algn="ctr">
                        <a:lnSpc>
                          <a:spcPts val="2189"/>
                        </a:lnSpc>
                        <a:defRPr/>
                      </a:pPr>
                      <a:r>
                        <a:rPr lang="en-US" sz="1564" b="1">
                          <a:solidFill>
                            <a:srgbClr val="000000"/>
                          </a:solidFill>
                          <a:latin typeface="Proxima Nova Bold"/>
                          <a:ea typeface="Proxima Nova Bold"/>
                          <a:cs typeface="Proxima Nova Bold"/>
                          <a:sym typeface="Proxima Nova Bold"/>
                        </a:rPr>
                        <a:t>( 50% ) </a:t>
                      </a:r>
                      <a:endParaRPr lang="en-US" sz="1100"/>
                    </a:p>
                  </a:txBody>
                  <a:tcPr marL="38100" marR="38100" marT="38100" marB="381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8E7AE"/>
                    </a:solidFill>
                  </a:tcPr>
                </a:tc>
                <a:extLst>
                  <a:ext uri="{0D108BD9-81ED-4DB2-BD59-A6C34878D82A}">
                    <a16:rowId xmlns:a16="http://schemas.microsoft.com/office/drawing/2014/main" val="10000"/>
                  </a:ext>
                </a:extLst>
              </a:tr>
            </a:tbl>
          </a:graphicData>
        </a:graphic>
      </p:graphicFrame>
      <p:sp>
        <p:nvSpPr>
          <p:cNvPr id="53" name="AutoShape 53"/>
          <p:cNvSpPr/>
          <p:nvPr/>
        </p:nvSpPr>
        <p:spPr>
          <a:xfrm>
            <a:off x="12994203" y="3831498"/>
            <a:ext cx="12852" cy="631164"/>
          </a:xfrm>
          <a:prstGeom prst="line">
            <a:avLst/>
          </a:prstGeom>
          <a:ln w="38100" cap="flat">
            <a:solidFill>
              <a:srgbClr val="00BF63"/>
            </a:solidFill>
            <a:prstDash val="solid"/>
            <a:headEnd type="none" w="sm" len="sm"/>
            <a:tailEnd type="arrow" w="med" len="sm"/>
          </a:ln>
        </p:spPr>
      </p:sp>
      <p:sp>
        <p:nvSpPr>
          <p:cNvPr id="54" name="AutoShape 54"/>
          <p:cNvSpPr/>
          <p:nvPr/>
        </p:nvSpPr>
        <p:spPr>
          <a:xfrm>
            <a:off x="15280529" y="3818646"/>
            <a:ext cx="12852" cy="644016"/>
          </a:xfrm>
          <a:prstGeom prst="line">
            <a:avLst/>
          </a:prstGeom>
          <a:ln w="38100" cap="flat">
            <a:solidFill>
              <a:srgbClr val="004AAD"/>
            </a:solidFill>
            <a:prstDash val="solid"/>
            <a:headEnd type="none" w="sm" len="sm"/>
            <a:tailEnd type="arrow" w="med" len="sm"/>
          </a:ln>
        </p:spPr>
      </p:sp>
      <p:sp>
        <p:nvSpPr>
          <p:cNvPr id="55" name="AutoShape 55"/>
          <p:cNvSpPr/>
          <p:nvPr/>
        </p:nvSpPr>
        <p:spPr>
          <a:xfrm>
            <a:off x="17297388" y="3870055"/>
            <a:ext cx="0" cy="628585"/>
          </a:xfrm>
          <a:prstGeom prst="line">
            <a:avLst/>
          </a:prstGeom>
          <a:ln w="38100" cap="flat">
            <a:solidFill>
              <a:srgbClr val="FF914D"/>
            </a:solidFill>
            <a:prstDash val="solid"/>
            <a:headEnd type="none" w="sm" len="sm"/>
            <a:tailEnd type="arrow" w="med" len="sm"/>
          </a:ln>
        </p:spPr>
      </p:sp>
      <p:sp>
        <p:nvSpPr>
          <p:cNvPr id="56" name="TextBox 56"/>
          <p:cNvSpPr txBox="1"/>
          <p:nvPr/>
        </p:nvSpPr>
        <p:spPr>
          <a:xfrm>
            <a:off x="14097000" y="5667375"/>
            <a:ext cx="1905000" cy="1047750"/>
          </a:xfrm>
          <a:prstGeom prst="rect">
            <a:avLst/>
          </a:prstGeom>
        </p:spPr>
        <p:txBody>
          <a:bodyPr lIns="0" tIns="0" rIns="0" bIns="0" rtlCol="0" anchor="t">
            <a:spAutoFit/>
          </a:bodyPr>
          <a:lstStyle/>
          <a:p>
            <a:pPr marL="336099" lvl="1" indent="-168050" algn="l">
              <a:lnSpc>
                <a:spcPts val="1821"/>
              </a:lnSpc>
              <a:buFont typeface="Arial"/>
              <a:buChar char="•"/>
            </a:pPr>
            <a:r>
              <a:rPr lang="en-US" sz="1300">
                <a:solidFill>
                  <a:srgbClr val="000000"/>
                </a:solidFill>
                <a:latin typeface="Proxima Nova"/>
                <a:ea typeface="Proxima Nova"/>
                <a:cs typeface="Proxima Nova"/>
                <a:sym typeface="Proxima Nova"/>
              </a:rPr>
              <a:t>Fine-tune model settings</a:t>
            </a:r>
          </a:p>
          <a:p>
            <a:pPr marL="336099" lvl="1" indent="-168050" algn="l">
              <a:lnSpc>
                <a:spcPts val="1821"/>
              </a:lnSpc>
              <a:spcBef>
                <a:spcPct val="0"/>
              </a:spcBef>
              <a:buFont typeface="Arial"/>
              <a:buChar char="•"/>
            </a:pPr>
            <a:r>
              <a:rPr lang="en-US" sz="1300">
                <a:solidFill>
                  <a:srgbClr val="000000"/>
                </a:solidFill>
                <a:latin typeface="Proxima Nova"/>
                <a:ea typeface="Proxima Nova"/>
                <a:cs typeface="Proxima Nova"/>
                <a:sym typeface="Proxima Nova"/>
              </a:rPr>
              <a:t>Prevent overfitting</a:t>
            </a:r>
          </a:p>
        </p:txBody>
      </p:sp>
      <p:sp>
        <p:nvSpPr>
          <p:cNvPr id="57" name="AutoShape 57"/>
          <p:cNvSpPr/>
          <p:nvPr/>
        </p:nvSpPr>
        <p:spPr>
          <a:xfrm flipH="1" flipV="1">
            <a:off x="14070721" y="4718605"/>
            <a:ext cx="0" cy="2228725"/>
          </a:xfrm>
          <a:prstGeom prst="line">
            <a:avLst/>
          </a:prstGeom>
          <a:ln w="19050" cap="flat">
            <a:gradFill>
              <a:gsLst>
                <a:gs pos="0">
                  <a:srgbClr val="8C52FF">
                    <a:alpha val="100000"/>
                  </a:srgbClr>
                </a:gs>
                <a:gs pos="100000">
                  <a:srgbClr val="00BF63">
                    <a:alpha val="100000"/>
                  </a:srgbClr>
                </a:gs>
              </a:gsLst>
              <a:lin ang="0"/>
            </a:gradFill>
            <a:prstDash val="lgDash"/>
            <a:headEnd type="none" w="sm" len="sm"/>
            <a:tailEnd type="none" w="sm" len="sm"/>
          </a:ln>
        </p:spPr>
      </p:sp>
      <p:sp>
        <p:nvSpPr>
          <p:cNvPr id="58" name="AutoShape 58"/>
          <p:cNvSpPr/>
          <p:nvPr/>
        </p:nvSpPr>
        <p:spPr>
          <a:xfrm flipV="1">
            <a:off x="16150075" y="4718605"/>
            <a:ext cx="0" cy="2278143"/>
          </a:xfrm>
          <a:prstGeom prst="line">
            <a:avLst/>
          </a:prstGeom>
          <a:ln w="19050" cap="flat">
            <a:gradFill>
              <a:gsLst>
                <a:gs pos="0">
                  <a:srgbClr val="8C52FF">
                    <a:alpha val="100000"/>
                  </a:srgbClr>
                </a:gs>
                <a:gs pos="100000">
                  <a:srgbClr val="00BF63">
                    <a:alpha val="100000"/>
                  </a:srgbClr>
                </a:gs>
              </a:gsLst>
              <a:lin ang="0"/>
            </a:gradFill>
            <a:prstDash val="lgDash"/>
            <a:headEnd type="none" w="sm" len="sm"/>
            <a:tailEnd type="none" w="sm" len="sm"/>
          </a:ln>
        </p:spPr>
      </p:sp>
      <p:sp>
        <p:nvSpPr>
          <p:cNvPr id="59" name="TextBox 59"/>
          <p:cNvSpPr txBox="1"/>
          <p:nvPr/>
        </p:nvSpPr>
        <p:spPr>
          <a:xfrm>
            <a:off x="142875" y="1143000"/>
            <a:ext cx="4143375" cy="619125"/>
          </a:xfrm>
          <a:prstGeom prst="rect">
            <a:avLst/>
          </a:prstGeom>
        </p:spPr>
        <p:txBody>
          <a:bodyPr wrap="square" lIns="0" tIns="0" rIns="0" bIns="0" rtlCol="0" anchor="t">
            <a:spAutoFit/>
          </a:bodyPr>
          <a:lstStyle/>
          <a:p>
            <a:pPr algn="ctr">
              <a:lnSpc>
                <a:spcPts val="2748"/>
              </a:lnSpc>
              <a:spcBef>
                <a:spcPct val="0"/>
              </a:spcBef>
            </a:pPr>
            <a:r>
              <a:rPr lang="en-US" sz="2300" b="1" i="1" dirty="0">
                <a:gradFill>
                  <a:gsLst>
                    <a:gs pos="0">
                      <a:srgbClr val="8C52FF">
                        <a:alpha val="100000"/>
                      </a:srgbClr>
                    </a:gs>
                    <a:gs pos="100000">
                      <a:srgbClr val="00BF63">
                        <a:alpha val="100000"/>
                      </a:srgbClr>
                    </a:gs>
                  </a:gsLst>
                  <a:lin ang="0"/>
                </a:gradFill>
                <a:latin typeface="Proxima Nova Bold Italics"/>
                <a:ea typeface="Proxima Nova Bold Italics"/>
                <a:cs typeface="Proxima Nova Bold Italics"/>
                <a:sym typeface="Proxima Nova Bold Italics"/>
              </a:rPr>
              <a:t>Preprocessing model inputs</a:t>
            </a:r>
          </a:p>
        </p:txBody>
      </p:sp>
      <p:sp>
        <p:nvSpPr>
          <p:cNvPr id="60" name="TextBox 60"/>
          <p:cNvSpPr txBox="1"/>
          <p:nvPr/>
        </p:nvSpPr>
        <p:spPr>
          <a:xfrm>
            <a:off x="140747" y="1666875"/>
            <a:ext cx="4191955" cy="1333500"/>
          </a:xfrm>
          <a:prstGeom prst="rect">
            <a:avLst/>
          </a:prstGeom>
        </p:spPr>
        <p:txBody>
          <a:bodyPr lIns="0" tIns="0" rIns="0" bIns="0" rtlCol="0" anchor="t">
            <a:spAutoFit/>
          </a:bodyPr>
          <a:lstStyle/>
          <a:p>
            <a:pPr algn="l">
              <a:lnSpc>
                <a:spcPts val="1861"/>
              </a:lnSpc>
              <a:spcBef>
                <a:spcPct val="0"/>
              </a:spcBef>
            </a:pPr>
            <a:r>
              <a:rPr lang="en-US" sz="1300" b="1" i="1">
                <a:solidFill>
                  <a:srgbClr val="000000"/>
                </a:solidFill>
                <a:latin typeface="Proxima Nova Bold Italics"/>
                <a:ea typeface="Proxima Nova Bold Italics"/>
                <a:cs typeface="Proxima Nova Bold Italics"/>
                <a:sym typeface="Proxima Nova Bold Italics"/>
              </a:rPr>
              <a:t>The aforementioned preprocessing involves the following key steps:</a:t>
            </a:r>
          </a:p>
          <a:p>
            <a:pPr marL="343463" lvl="1" indent="-171732" algn="l">
              <a:lnSpc>
                <a:spcPts val="1861"/>
              </a:lnSpc>
              <a:spcBef>
                <a:spcPct val="0"/>
              </a:spcBef>
              <a:buFont typeface="Arial"/>
              <a:buChar char="•"/>
            </a:pPr>
            <a:r>
              <a:rPr lang="en-US" sz="1300" b="1" i="1">
                <a:solidFill>
                  <a:srgbClr val="000000"/>
                </a:solidFill>
                <a:latin typeface="Proxima Nova Bold Italics"/>
                <a:ea typeface="Proxima Nova Bold Italics"/>
                <a:cs typeface="Proxima Nova Bold Italics"/>
                <a:sym typeface="Proxima Nova Bold Italics"/>
              </a:rPr>
              <a:t>Step 1: Separate descriptive features and target features.</a:t>
            </a:r>
          </a:p>
          <a:p>
            <a:pPr marL="343463" lvl="1" indent="-171732" algn="l">
              <a:lnSpc>
                <a:spcPts val="1861"/>
              </a:lnSpc>
              <a:spcBef>
                <a:spcPct val="0"/>
              </a:spcBef>
              <a:buFont typeface="Arial"/>
              <a:buChar char="•"/>
            </a:pPr>
            <a:r>
              <a:rPr lang="en-US" sz="1300" b="1" i="1">
                <a:solidFill>
                  <a:srgbClr val="000000"/>
                </a:solidFill>
                <a:latin typeface="Proxima Nova Bold Italics"/>
                <a:ea typeface="Proxima Nova Bold Italics"/>
                <a:cs typeface="Proxima Nova Bold Italics"/>
                <a:sym typeface="Proxima Nova Bold Italics"/>
              </a:rPr>
              <a:t>Step 2: Train the model.</a:t>
            </a:r>
          </a:p>
          <a:p>
            <a:pPr marL="343463" lvl="1" indent="-171732" algn="l">
              <a:lnSpc>
                <a:spcPts val="1861"/>
              </a:lnSpc>
              <a:spcBef>
                <a:spcPct val="0"/>
              </a:spcBef>
              <a:buFont typeface="Arial"/>
              <a:buChar char="•"/>
            </a:pPr>
            <a:r>
              <a:rPr lang="en-US" sz="1300" b="1" i="1">
                <a:solidFill>
                  <a:srgbClr val="000000"/>
                </a:solidFill>
                <a:latin typeface="Proxima Nova Bold Italics"/>
                <a:ea typeface="Proxima Nova Bold Italics"/>
                <a:cs typeface="Proxima Nova Bold Italics"/>
                <a:sym typeface="Proxima Nova Bold Italics"/>
              </a:rPr>
              <a:t>Step 3: Perform predictions.</a:t>
            </a:r>
          </a:p>
        </p:txBody>
      </p:sp>
      <p:sp>
        <p:nvSpPr>
          <p:cNvPr id="61" name="TextBox 61"/>
          <p:cNvSpPr txBox="1"/>
          <p:nvPr/>
        </p:nvSpPr>
        <p:spPr>
          <a:xfrm>
            <a:off x="4476750" y="2952750"/>
            <a:ext cx="2143125" cy="285750"/>
          </a:xfrm>
          <a:prstGeom prst="rect">
            <a:avLst/>
          </a:prstGeom>
        </p:spPr>
        <p:txBody>
          <a:bodyPr lIns="0" tIns="0" rIns="0" bIns="0" rtlCol="0" anchor="t">
            <a:spAutoFit/>
          </a:bodyPr>
          <a:lstStyle/>
          <a:p>
            <a:pPr algn="l">
              <a:lnSpc>
                <a:spcPts val="1740"/>
              </a:lnSpc>
              <a:spcBef>
                <a:spcPct val="0"/>
              </a:spcBef>
            </a:pPr>
            <a:r>
              <a:rPr lang="en-US" sz="1500" b="1">
                <a:solidFill>
                  <a:srgbClr val="000000"/>
                </a:solidFill>
                <a:latin typeface="Proxima Nova Bold"/>
                <a:ea typeface="Proxima Nova Bold"/>
                <a:cs typeface="Proxima Nova Bold"/>
                <a:sym typeface="Proxima Nova Bold"/>
              </a:rPr>
              <a:t>TRAINING SET</a:t>
            </a:r>
          </a:p>
        </p:txBody>
      </p:sp>
      <p:sp>
        <p:nvSpPr>
          <p:cNvPr id="62" name="TextBox 62"/>
          <p:cNvSpPr txBox="1"/>
          <p:nvPr/>
        </p:nvSpPr>
        <p:spPr>
          <a:xfrm>
            <a:off x="4572000" y="5524500"/>
            <a:ext cx="2095500" cy="333375"/>
          </a:xfrm>
          <a:prstGeom prst="rect">
            <a:avLst/>
          </a:prstGeom>
        </p:spPr>
        <p:txBody>
          <a:bodyPr lIns="0" tIns="0" rIns="0" bIns="0" rtlCol="0" anchor="t">
            <a:spAutoFit/>
          </a:bodyPr>
          <a:lstStyle/>
          <a:p>
            <a:pPr algn="l">
              <a:lnSpc>
                <a:spcPts val="1740"/>
              </a:lnSpc>
              <a:spcBef>
                <a:spcPct val="0"/>
              </a:spcBef>
            </a:pPr>
            <a:r>
              <a:rPr lang="en-US" sz="1500" b="1">
                <a:solidFill>
                  <a:srgbClr val="000000"/>
                </a:solidFill>
                <a:latin typeface="Proxima Nova Bold"/>
                <a:ea typeface="Proxima Nova Bold"/>
                <a:cs typeface="Proxima Nova Bold"/>
                <a:sym typeface="Proxima Nova Bold"/>
              </a:rPr>
              <a:t>TESTING SET</a:t>
            </a:r>
          </a:p>
        </p:txBody>
      </p:sp>
      <p:sp>
        <p:nvSpPr>
          <p:cNvPr id="63" name="TextBox 63"/>
          <p:cNvSpPr txBox="1"/>
          <p:nvPr/>
        </p:nvSpPr>
        <p:spPr>
          <a:xfrm>
            <a:off x="7096125" y="5524500"/>
            <a:ext cx="2381250" cy="571500"/>
          </a:xfrm>
          <a:prstGeom prst="rect">
            <a:avLst/>
          </a:prstGeom>
        </p:spPr>
        <p:txBody>
          <a:bodyPr wrap="square" lIns="0" tIns="0" rIns="0" bIns="0" rtlCol="0" anchor="t">
            <a:spAutoFit/>
          </a:bodyPr>
          <a:lstStyle/>
          <a:p>
            <a:pPr algn="ctr">
              <a:lnSpc>
                <a:spcPts val="1795"/>
              </a:lnSpc>
              <a:spcBef>
                <a:spcPct val="0"/>
              </a:spcBef>
            </a:pPr>
            <a:r>
              <a:rPr lang="en-US" sz="1500" b="1" dirty="0">
                <a:solidFill>
                  <a:srgbClr val="000000"/>
                </a:solidFill>
                <a:latin typeface="Proxima Nova Bold"/>
                <a:ea typeface="Proxima Nova Bold"/>
                <a:cs typeface="Proxima Nova Bold"/>
                <a:sym typeface="Proxima Nova Bold"/>
              </a:rPr>
              <a:t>COMBINED DATAFRAME</a:t>
            </a:r>
          </a:p>
        </p:txBody>
      </p:sp>
      <p:sp>
        <p:nvSpPr>
          <p:cNvPr id="64" name="TextBox 64"/>
          <p:cNvSpPr txBox="1"/>
          <p:nvPr/>
        </p:nvSpPr>
        <p:spPr>
          <a:xfrm>
            <a:off x="8766811" y="3913295"/>
            <a:ext cx="2810450" cy="699195"/>
          </a:xfrm>
          <a:prstGeom prst="rect">
            <a:avLst/>
          </a:prstGeom>
        </p:spPr>
        <p:txBody>
          <a:bodyPr lIns="0" tIns="0" rIns="0" bIns="0" rtlCol="0" anchor="t">
            <a:spAutoFit/>
          </a:bodyPr>
          <a:lstStyle/>
          <a:p>
            <a:pPr marL="336165" lvl="1" indent="-168083" algn="l">
              <a:lnSpc>
                <a:spcPts val="1821"/>
              </a:lnSpc>
              <a:buFont typeface="Arial"/>
              <a:buChar char="•"/>
            </a:pPr>
            <a:r>
              <a:rPr lang="en-US" sz="1557" b="1" i="1">
                <a:solidFill>
                  <a:srgbClr val="000000"/>
                </a:solidFill>
                <a:latin typeface="Proxima Nova Bold Italics"/>
                <a:ea typeface="Proxima Nova Bold Italics"/>
                <a:cs typeface="Proxima Nova Bold Italics"/>
                <a:sym typeface="Proxima Nova Bold Italics"/>
              </a:rPr>
              <a:t>Merge  data temporarily</a:t>
            </a:r>
          </a:p>
          <a:p>
            <a:pPr marL="336165" lvl="1" indent="-168083" algn="l">
              <a:lnSpc>
                <a:spcPts val="1821"/>
              </a:lnSpc>
              <a:buFont typeface="Arial"/>
              <a:buChar char="•"/>
            </a:pPr>
            <a:r>
              <a:rPr lang="en-US" sz="1557" b="1" i="1">
                <a:solidFill>
                  <a:srgbClr val="000000"/>
                </a:solidFill>
                <a:latin typeface="Proxima Nova Bold Italics"/>
                <a:ea typeface="Proxima Nova Bold Italics"/>
                <a:cs typeface="Proxima Nova Bold Italics"/>
                <a:sym typeface="Proxima Nova Bold Italics"/>
              </a:rPr>
              <a:t>Ensure consistent encoding</a:t>
            </a:r>
          </a:p>
          <a:p>
            <a:pPr marL="336165" lvl="1" indent="-168083" algn="l">
              <a:lnSpc>
                <a:spcPts val="1821"/>
              </a:lnSpc>
              <a:spcBef>
                <a:spcPct val="0"/>
              </a:spcBef>
              <a:buFont typeface="Arial"/>
              <a:buChar char="•"/>
            </a:pPr>
            <a:r>
              <a:rPr lang="en-US" sz="1557" b="1" i="1">
                <a:solidFill>
                  <a:srgbClr val="000000"/>
                </a:solidFill>
                <a:latin typeface="Proxima Nova Bold Italics"/>
                <a:ea typeface="Proxima Nova Bold Italics"/>
                <a:cs typeface="Proxima Nova Bold Italics"/>
                <a:sym typeface="Proxima Nova Bold Italics"/>
              </a:rPr>
              <a:t>All categories recognized</a:t>
            </a:r>
          </a:p>
        </p:txBody>
      </p:sp>
      <p:sp>
        <p:nvSpPr>
          <p:cNvPr id="65" name="TextBox 65"/>
          <p:cNvSpPr txBox="1"/>
          <p:nvPr/>
        </p:nvSpPr>
        <p:spPr>
          <a:xfrm>
            <a:off x="10316273" y="7997238"/>
            <a:ext cx="121336" cy="189317"/>
          </a:xfrm>
          <a:prstGeom prst="rect">
            <a:avLst/>
          </a:prstGeom>
        </p:spPr>
        <p:txBody>
          <a:bodyPr lIns="0" tIns="0" rIns="0" bIns="0" rtlCol="0" anchor="t">
            <a:spAutoFit/>
          </a:bodyPr>
          <a:lstStyle/>
          <a:p>
            <a:pPr algn="l">
              <a:lnSpc>
                <a:spcPts val="1455"/>
              </a:lnSpc>
              <a:spcBef>
                <a:spcPct val="0"/>
              </a:spcBef>
            </a:pPr>
            <a:r>
              <a:rPr lang="en-US" sz="1243" b="1" i="1">
                <a:solidFill>
                  <a:srgbClr val="000000"/>
                </a:solidFill>
                <a:latin typeface="Proxima Nova Bold Italics"/>
                <a:ea typeface="Proxima Nova Bold Italics"/>
                <a:cs typeface="Proxima Nova Bold Italics"/>
                <a:sym typeface="Proxima Nova Bold Italics"/>
              </a:rPr>
              <a:t>...</a:t>
            </a:r>
          </a:p>
        </p:txBody>
      </p:sp>
      <p:sp>
        <p:nvSpPr>
          <p:cNvPr id="66" name="TextBox 66"/>
          <p:cNvSpPr txBox="1"/>
          <p:nvPr/>
        </p:nvSpPr>
        <p:spPr>
          <a:xfrm>
            <a:off x="4476750" y="9048750"/>
            <a:ext cx="2571750" cy="857250"/>
          </a:xfrm>
          <a:prstGeom prst="rect">
            <a:avLst/>
          </a:prstGeom>
        </p:spPr>
        <p:txBody>
          <a:bodyPr lIns="0" tIns="0" rIns="0" bIns="0" rtlCol="0" anchor="t">
            <a:spAutoFit/>
          </a:bodyPr>
          <a:lstStyle/>
          <a:p>
            <a:pPr algn="ctr">
              <a:lnSpc>
                <a:spcPts val="1703"/>
              </a:lnSpc>
            </a:pPr>
            <a:r>
              <a:rPr lang="en-US" sz="1400" b="1" i="1">
                <a:solidFill>
                  <a:srgbClr val="000000"/>
                </a:solidFill>
                <a:latin typeface="Proxima Nova Bold Italics"/>
                <a:ea typeface="Proxima Nova Bold Italics"/>
                <a:cs typeface="Proxima Nova Bold Italics"/>
                <a:sym typeface="Proxima Nova Bold Italics"/>
              </a:rPr>
              <a:t>CATEGORICAL FEATURE</a:t>
            </a:r>
          </a:p>
          <a:p>
            <a:pPr algn="ctr">
              <a:lnSpc>
                <a:spcPts val="1703"/>
              </a:lnSpc>
              <a:spcBef>
                <a:spcPct val="0"/>
              </a:spcBef>
            </a:pPr>
            <a:r>
              <a:rPr lang="en-US" sz="1400" b="1" i="1">
                <a:solidFill>
                  <a:srgbClr val="000000"/>
                </a:solidFill>
                <a:latin typeface="Proxima Nova Bold Italics"/>
                <a:ea typeface="Proxima Nova Bold Italics"/>
                <a:cs typeface="Proxima Nova Bold Italics"/>
                <a:sym typeface="Proxima Nova Bold Italics"/>
              </a:rPr>
              <a:t>(e.g. Neighborhood, ...</a:t>
            </a:r>
          </a:p>
        </p:txBody>
      </p:sp>
      <p:sp>
        <p:nvSpPr>
          <p:cNvPr id="67" name="TextBox 67"/>
          <p:cNvSpPr txBox="1"/>
          <p:nvPr/>
        </p:nvSpPr>
        <p:spPr>
          <a:xfrm>
            <a:off x="6612452" y="7260203"/>
            <a:ext cx="2357404" cy="422834"/>
          </a:xfrm>
          <a:prstGeom prst="rect">
            <a:avLst/>
          </a:prstGeom>
        </p:spPr>
        <p:txBody>
          <a:bodyPr lIns="0" tIns="0" rIns="0" bIns="0" rtlCol="0" anchor="t">
            <a:spAutoFit/>
          </a:bodyPr>
          <a:lstStyle/>
          <a:p>
            <a:pPr algn="ctr">
              <a:lnSpc>
                <a:spcPts val="1682"/>
              </a:lnSpc>
              <a:spcBef>
                <a:spcPct val="0"/>
              </a:spcBef>
            </a:pPr>
            <a:r>
              <a:rPr lang="en-US" sz="1438">
                <a:solidFill>
                  <a:srgbClr val="000000"/>
                </a:solidFill>
                <a:latin typeface="Proxima Nova"/>
                <a:ea typeface="Proxima Nova"/>
                <a:cs typeface="Proxima Nova"/>
                <a:sym typeface="Proxima Nova"/>
              </a:rPr>
              <a:t>Convert distinct categories into binary columns</a:t>
            </a:r>
          </a:p>
        </p:txBody>
      </p:sp>
      <p:sp>
        <p:nvSpPr>
          <p:cNvPr id="68" name="TextBox 68"/>
          <p:cNvSpPr txBox="1"/>
          <p:nvPr/>
        </p:nvSpPr>
        <p:spPr>
          <a:xfrm>
            <a:off x="7063305" y="8849084"/>
            <a:ext cx="1455698" cy="440098"/>
          </a:xfrm>
          <a:prstGeom prst="rect">
            <a:avLst/>
          </a:prstGeom>
        </p:spPr>
        <p:txBody>
          <a:bodyPr lIns="0" tIns="0" rIns="0" bIns="0" rtlCol="0" anchor="t">
            <a:spAutoFit/>
          </a:bodyPr>
          <a:lstStyle/>
          <a:p>
            <a:pPr algn="ctr">
              <a:lnSpc>
                <a:spcPts val="1712"/>
              </a:lnSpc>
              <a:spcBef>
                <a:spcPct val="0"/>
              </a:spcBef>
            </a:pPr>
            <a:r>
              <a:rPr lang="en-US" sz="1463">
                <a:solidFill>
                  <a:srgbClr val="000000"/>
                </a:solidFill>
                <a:latin typeface="Proxima Nova"/>
                <a:ea typeface="Proxima Nova"/>
                <a:cs typeface="Proxima Nova"/>
                <a:sym typeface="Proxima Nova"/>
              </a:rPr>
              <a:t>Drop original string columns</a:t>
            </a:r>
          </a:p>
        </p:txBody>
      </p:sp>
      <p:sp>
        <p:nvSpPr>
          <p:cNvPr id="69" name="TextBox 69"/>
          <p:cNvSpPr txBox="1"/>
          <p:nvPr/>
        </p:nvSpPr>
        <p:spPr>
          <a:xfrm>
            <a:off x="9239250" y="9048750"/>
            <a:ext cx="2286000" cy="809625"/>
          </a:xfrm>
          <a:prstGeom prst="rect">
            <a:avLst/>
          </a:prstGeom>
        </p:spPr>
        <p:txBody>
          <a:bodyPr lIns="0" tIns="0" rIns="0" bIns="0" rtlCol="0" anchor="t">
            <a:spAutoFit/>
          </a:bodyPr>
          <a:lstStyle/>
          <a:p>
            <a:pPr algn="ctr">
              <a:lnSpc>
                <a:spcPts val="1694"/>
              </a:lnSpc>
              <a:spcBef>
                <a:spcPct val="0"/>
              </a:spcBef>
            </a:pPr>
            <a:r>
              <a:rPr lang="en-US" sz="1500" b="1" i="1">
                <a:solidFill>
                  <a:srgbClr val="000000"/>
                </a:solidFill>
                <a:latin typeface="Proxima Nova Bold Italics"/>
                <a:ea typeface="Proxima Nova Bold Italics"/>
                <a:cs typeface="Proxima Nova Bold Italics"/>
                <a:sym typeface="Proxima Nova Bold Italics"/>
              </a:rPr>
              <a:t>BINARY INDICATOR FEATURES</a:t>
            </a:r>
          </a:p>
        </p:txBody>
      </p:sp>
      <p:sp>
        <p:nvSpPr>
          <p:cNvPr id="70" name="TextBox 70"/>
          <p:cNvSpPr txBox="1"/>
          <p:nvPr/>
        </p:nvSpPr>
        <p:spPr>
          <a:xfrm>
            <a:off x="6334125" y="1809750"/>
            <a:ext cx="4857750" cy="523875"/>
          </a:xfrm>
          <a:prstGeom prst="rect">
            <a:avLst/>
          </a:prstGeom>
        </p:spPr>
        <p:txBody>
          <a:bodyPr wrap="square" lIns="0" tIns="0" rIns="0" bIns="0" rtlCol="0" anchor="t">
            <a:spAutoFit/>
          </a:bodyPr>
          <a:lstStyle/>
          <a:p>
            <a:pPr algn="ctr">
              <a:lnSpc>
                <a:spcPts val="2988"/>
              </a:lnSpc>
              <a:spcBef>
                <a:spcPct val="0"/>
              </a:spcBef>
            </a:pPr>
            <a:r>
              <a:rPr lang="en-US" sz="2600" b="1" i="1" dirty="0">
                <a:gradFill>
                  <a:gsLst>
                    <a:gs pos="0">
                      <a:srgbClr val="8C52FF">
                        <a:alpha val="100000"/>
                      </a:srgbClr>
                    </a:gs>
                    <a:gs pos="100000">
                      <a:srgbClr val="00BF63">
                        <a:alpha val="100000"/>
                      </a:srgbClr>
                    </a:gs>
                  </a:gsLst>
                  <a:lin ang="0"/>
                </a:gradFill>
                <a:latin typeface="Proxima Nova Bold Italics"/>
                <a:ea typeface="Proxima Nova Bold Italics"/>
                <a:cs typeface="Proxima Nova Bold Italics"/>
                <a:sym typeface="Proxima Nova Bold Italics"/>
              </a:rPr>
              <a:t>FEATURE EXTRACTION</a:t>
            </a:r>
          </a:p>
        </p:txBody>
      </p:sp>
      <p:sp>
        <p:nvSpPr>
          <p:cNvPr id="71" name="TextBox 71"/>
          <p:cNvSpPr txBox="1"/>
          <p:nvPr/>
        </p:nvSpPr>
        <p:spPr>
          <a:xfrm>
            <a:off x="11811000" y="1809750"/>
            <a:ext cx="6191250" cy="857250"/>
          </a:xfrm>
          <a:prstGeom prst="rect">
            <a:avLst/>
          </a:prstGeom>
        </p:spPr>
        <p:txBody>
          <a:bodyPr wrap="square" lIns="0" tIns="0" rIns="0" bIns="0" rtlCol="0" anchor="t">
            <a:spAutoFit/>
          </a:bodyPr>
          <a:lstStyle/>
          <a:p>
            <a:pPr algn="ctr">
              <a:lnSpc>
                <a:spcPts val="2857"/>
              </a:lnSpc>
              <a:spcBef>
                <a:spcPct val="0"/>
              </a:spcBef>
            </a:pPr>
            <a:r>
              <a:rPr lang="en-US" sz="2400" b="1" dirty="0">
                <a:gradFill>
                  <a:gsLst>
                    <a:gs pos="0">
                      <a:srgbClr val="8C52FF">
                        <a:alpha val="100000"/>
                      </a:srgbClr>
                    </a:gs>
                    <a:gs pos="100000">
                      <a:srgbClr val="00BF63">
                        <a:alpha val="100000"/>
                      </a:srgbClr>
                    </a:gs>
                  </a:gsLst>
                  <a:lin ang="0"/>
                </a:gradFill>
                <a:latin typeface="Proxima Nova Bold"/>
                <a:ea typeface="Proxima Nova Bold"/>
                <a:cs typeface="Proxima Nova Bold"/>
                <a:sym typeface="Proxima Nova Bold"/>
              </a:rPr>
              <a:t>SPLIT INTO TRAINING AND TESTING SETS</a:t>
            </a:r>
          </a:p>
        </p:txBody>
      </p:sp>
      <p:sp>
        <p:nvSpPr>
          <p:cNvPr id="72" name="TextBox 72"/>
          <p:cNvSpPr txBox="1"/>
          <p:nvPr/>
        </p:nvSpPr>
        <p:spPr>
          <a:xfrm>
            <a:off x="4762500" y="2495550"/>
            <a:ext cx="4191000" cy="400050"/>
          </a:xfrm>
          <a:prstGeom prst="rect">
            <a:avLst/>
          </a:prstGeom>
        </p:spPr>
        <p:txBody>
          <a:bodyPr lIns="0" tIns="0" rIns="0" bIns="0" rtlCol="0" anchor="t">
            <a:spAutoFit/>
          </a:bodyPr>
          <a:lstStyle/>
          <a:p>
            <a:pPr marL="451666" lvl="1" indent="-225833" algn="l">
              <a:lnSpc>
                <a:spcPts val="2447"/>
              </a:lnSpc>
              <a:spcBef>
                <a:spcPct val="0"/>
              </a:spcBef>
              <a:buFont typeface="Arial"/>
              <a:buChar char="•"/>
            </a:pPr>
            <a:r>
              <a:rPr lang="en-US" sz="2200" b="1" i="1">
                <a:solidFill>
                  <a:srgbClr val="000000"/>
                </a:solidFill>
                <a:latin typeface="Proxima Nova Bold Italics"/>
                <a:ea typeface="Proxima Nova Bold Italics"/>
                <a:cs typeface="Proxima Nova Bold Italics"/>
                <a:sym typeface="Proxima Nova Bold Italics"/>
              </a:rPr>
              <a:t>Temporary concatenation</a:t>
            </a:r>
          </a:p>
        </p:txBody>
      </p:sp>
      <p:sp>
        <p:nvSpPr>
          <p:cNvPr id="73" name="TextBox 73"/>
          <p:cNvSpPr txBox="1"/>
          <p:nvPr/>
        </p:nvSpPr>
        <p:spPr>
          <a:xfrm>
            <a:off x="4896625" y="6799983"/>
            <a:ext cx="3627494" cy="304221"/>
          </a:xfrm>
          <a:prstGeom prst="rect">
            <a:avLst/>
          </a:prstGeom>
        </p:spPr>
        <p:txBody>
          <a:bodyPr lIns="0" tIns="0" rIns="0" bIns="0" rtlCol="0" anchor="t">
            <a:spAutoFit/>
          </a:bodyPr>
          <a:lstStyle/>
          <a:p>
            <a:pPr marL="451666" lvl="1" indent="-225833" algn="l">
              <a:lnSpc>
                <a:spcPts val="2447"/>
              </a:lnSpc>
              <a:spcBef>
                <a:spcPct val="0"/>
              </a:spcBef>
              <a:buFont typeface="Arial"/>
              <a:buChar char="•"/>
            </a:pPr>
            <a:r>
              <a:rPr lang="en-US" sz="2092" b="1" i="1">
                <a:solidFill>
                  <a:srgbClr val="000000"/>
                </a:solidFill>
                <a:latin typeface="Proxima Nova Bold Italics"/>
                <a:ea typeface="Proxima Nova Bold Italics"/>
                <a:cs typeface="Proxima Nova Bold Italics"/>
                <a:sym typeface="Proxima Nova Bold Italics"/>
              </a:rPr>
              <a:t>One-hot Encoding</a:t>
            </a:r>
          </a:p>
        </p:txBody>
      </p:sp>
      <p:sp>
        <p:nvSpPr>
          <p:cNvPr id="74" name="TextBox 74"/>
          <p:cNvSpPr txBox="1"/>
          <p:nvPr/>
        </p:nvSpPr>
        <p:spPr>
          <a:xfrm>
            <a:off x="13906500" y="2952750"/>
            <a:ext cx="2857500" cy="381000"/>
          </a:xfrm>
          <a:prstGeom prst="rect">
            <a:avLst/>
          </a:prstGeom>
        </p:spPr>
        <p:txBody>
          <a:bodyPr lIns="0" tIns="0" rIns="0" bIns="0" rtlCol="0" anchor="t">
            <a:spAutoFit/>
          </a:bodyPr>
          <a:lstStyle/>
          <a:p>
            <a:pPr algn="l">
              <a:lnSpc>
                <a:spcPts val="1959"/>
              </a:lnSpc>
              <a:spcBef>
                <a:spcPct val="0"/>
              </a:spcBef>
            </a:pPr>
            <a:r>
              <a:rPr lang="en-US" sz="1600" b="1" i="1">
                <a:solidFill>
                  <a:srgbClr val="000000"/>
                </a:solidFill>
                <a:latin typeface="Proxima Nova Bold Italics"/>
                <a:ea typeface="Proxima Nova Bold Italics"/>
                <a:cs typeface="Proxima Nova Bold Italics"/>
                <a:sym typeface="Proxima Nova Bold Italics"/>
              </a:rPr>
              <a:t>ORIGINAL DATASET</a:t>
            </a:r>
          </a:p>
        </p:txBody>
      </p:sp>
      <p:sp>
        <p:nvSpPr>
          <p:cNvPr id="75" name="TextBox 75"/>
          <p:cNvSpPr txBox="1"/>
          <p:nvPr/>
        </p:nvSpPr>
        <p:spPr>
          <a:xfrm>
            <a:off x="11906250" y="4857750"/>
            <a:ext cx="1952625" cy="619125"/>
          </a:xfrm>
          <a:prstGeom prst="rect">
            <a:avLst/>
          </a:prstGeom>
        </p:spPr>
        <p:txBody>
          <a:bodyPr lIns="0" tIns="0" rIns="0" bIns="0" rtlCol="0" anchor="t">
            <a:spAutoFit/>
          </a:bodyPr>
          <a:lstStyle/>
          <a:p>
            <a:pPr algn="ctr">
              <a:lnSpc>
                <a:spcPts val="1999"/>
              </a:lnSpc>
              <a:spcBef>
                <a:spcPct val="0"/>
              </a:spcBef>
            </a:pPr>
            <a:r>
              <a:rPr lang="en-US" sz="1700" b="1" i="1">
                <a:solidFill>
                  <a:srgbClr val="000000"/>
                </a:solidFill>
                <a:latin typeface="Proxima Nova Bold Italics"/>
                <a:ea typeface="Proxima Nova Bold Italics"/>
                <a:cs typeface="Proxima Nova Bold Italics"/>
                <a:sym typeface="Proxima Nova Bold Italics"/>
              </a:rPr>
              <a:t>CONSTRUCT MODEL</a:t>
            </a:r>
          </a:p>
        </p:txBody>
      </p:sp>
      <p:sp>
        <p:nvSpPr>
          <p:cNvPr id="76" name="TextBox 76"/>
          <p:cNvSpPr txBox="1"/>
          <p:nvPr/>
        </p:nvSpPr>
        <p:spPr>
          <a:xfrm>
            <a:off x="11811000" y="5667375"/>
            <a:ext cx="2095500" cy="952500"/>
          </a:xfrm>
          <a:prstGeom prst="rect">
            <a:avLst/>
          </a:prstGeom>
        </p:spPr>
        <p:txBody>
          <a:bodyPr lIns="0" tIns="0" rIns="0" bIns="0" rtlCol="0" anchor="t">
            <a:spAutoFit/>
          </a:bodyPr>
          <a:lstStyle/>
          <a:p>
            <a:pPr marL="347670" lvl="1" indent="-173835" algn="l">
              <a:lnSpc>
                <a:spcPts val="1884"/>
              </a:lnSpc>
              <a:spcBef>
                <a:spcPct val="0"/>
              </a:spcBef>
              <a:buFont typeface="Arial"/>
              <a:buChar char="•"/>
            </a:pPr>
            <a:r>
              <a:rPr lang="en-US" sz="1300">
                <a:solidFill>
                  <a:srgbClr val="000000"/>
                </a:solidFill>
                <a:latin typeface="Proxima Nova"/>
                <a:ea typeface="Proxima Nova"/>
                <a:cs typeface="Proxima Nova"/>
                <a:sym typeface="Proxima Nova"/>
              </a:rPr>
              <a:t>Train the algorithm on pattern recognition</a:t>
            </a:r>
          </a:p>
        </p:txBody>
      </p:sp>
      <p:sp>
        <p:nvSpPr>
          <p:cNvPr id="77" name="TextBox 77"/>
          <p:cNvSpPr txBox="1"/>
          <p:nvPr/>
        </p:nvSpPr>
        <p:spPr>
          <a:xfrm>
            <a:off x="14097000" y="4857750"/>
            <a:ext cx="1905000" cy="619125"/>
          </a:xfrm>
          <a:prstGeom prst="rect">
            <a:avLst/>
          </a:prstGeom>
        </p:spPr>
        <p:txBody>
          <a:bodyPr lIns="0" tIns="0" rIns="0" bIns="0" rtlCol="0" anchor="t">
            <a:spAutoFit/>
          </a:bodyPr>
          <a:lstStyle/>
          <a:p>
            <a:pPr algn="ctr">
              <a:lnSpc>
                <a:spcPts val="1890"/>
              </a:lnSpc>
              <a:spcBef>
                <a:spcPct val="0"/>
              </a:spcBef>
            </a:pPr>
            <a:r>
              <a:rPr lang="en-US" sz="1400" b="1" i="1">
                <a:solidFill>
                  <a:srgbClr val="000000"/>
                </a:solidFill>
                <a:latin typeface="Proxima Nova Bold Italics"/>
                <a:ea typeface="Proxima Nova Bold Italics"/>
                <a:cs typeface="Proxima Nova Bold Italics"/>
                <a:sym typeface="Proxima Nova Bold Italics"/>
              </a:rPr>
              <a:t>HYPERPARAMETER TUNING</a:t>
            </a:r>
          </a:p>
        </p:txBody>
      </p:sp>
      <p:sp>
        <p:nvSpPr>
          <p:cNvPr id="78" name="TextBox 78"/>
          <p:cNvSpPr txBox="1"/>
          <p:nvPr/>
        </p:nvSpPr>
        <p:spPr>
          <a:xfrm>
            <a:off x="16383000" y="4857750"/>
            <a:ext cx="1762125" cy="619125"/>
          </a:xfrm>
          <a:prstGeom prst="rect">
            <a:avLst/>
          </a:prstGeom>
        </p:spPr>
        <p:txBody>
          <a:bodyPr lIns="0" tIns="0" rIns="0" bIns="0" rtlCol="0" anchor="t">
            <a:spAutoFit/>
          </a:bodyPr>
          <a:lstStyle/>
          <a:p>
            <a:pPr algn="ctr">
              <a:lnSpc>
                <a:spcPts val="2109"/>
              </a:lnSpc>
              <a:spcBef>
                <a:spcPct val="0"/>
              </a:spcBef>
            </a:pPr>
            <a:r>
              <a:rPr lang="en-US" sz="1600" b="1" i="1">
                <a:solidFill>
                  <a:srgbClr val="000000"/>
                </a:solidFill>
                <a:latin typeface="Proxima Nova Bold Italics"/>
                <a:ea typeface="Proxima Nova Bold Italics"/>
                <a:cs typeface="Proxima Nova Bold Italics"/>
                <a:sym typeface="Proxima Nova Bold Italics"/>
              </a:rPr>
              <a:t>FINAL EVALUATION</a:t>
            </a:r>
          </a:p>
        </p:txBody>
      </p:sp>
      <p:sp>
        <p:nvSpPr>
          <p:cNvPr id="79" name="TextBox 79"/>
          <p:cNvSpPr txBox="1"/>
          <p:nvPr/>
        </p:nvSpPr>
        <p:spPr>
          <a:xfrm>
            <a:off x="16144875" y="5667375"/>
            <a:ext cx="2000250" cy="1428750"/>
          </a:xfrm>
          <a:prstGeom prst="rect">
            <a:avLst/>
          </a:prstGeom>
        </p:spPr>
        <p:txBody>
          <a:bodyPr lIns="0" tIns="0" rIns="0" bIns="0" rtlCol="0" anchor="t">
            <a:spAutoFit/>
          </a:bodyPr>
          <a:lstStyle/>
          <a:p>
            <a:pPr marL="318046" lvl="1" indent="-159023" algn="l">
              <a:lnSpc>
                <a:spcPts val="1723"/>
              </a:lnSpc>
              <a:buFont typeface="Arial"/>
              <a:buChar char="•"/>
            </a:pPr>
            <a:r>
              <a:rPr lang="en-US" sz="1300">
                <a:solidFill>
                  <a:srgbClr val="000000"/>
                </a:solidFill>
                <a:latin typeface="Proxima Nova"/>
                <a:ea typeface="Proxima Nova"/>
                <a:cs typeface="Proxima Nova"/>
                <a:sym typeface="Proxima Nova"/>
              </a:rPr>
              <a:t>Assess predictive capabilities</a:t>
            </a:r>
          </a:p>
          <a:p>
            <a:pPr marL="318046" lvl="1" indent="-159023" algn="l">
              <a:lnSpc>
                <a:spcPts val="1723"/>
              </a:lnSpc>
              <a:buFont typeface="Arial"/>
              <a:buChar char="•"/>
            </a:pPr>
            <a:r>
              <a:rPr lang="en-US" sz="1300">
                <a:solidFill>
                  <a:srgbClr val="000000"/>
                </a:solidFill>
                <a:latin typeface="Proxima Nova"/>
                <a:ea typeface="Proxima Nova"/>
                <a:cs typeface="Proxima Nova"/>
                <a:sym typeface="Proxima Nova"/>
              </a:rPr>
              <a:t>Measure generalization performance</a:t>
            </a:r>
          </a:p>
          <a:p>
            <a:pPr marL="318046" lvl="1" indent="-159023" algn="l">
              <a:lnSpc>
                <a:spcPts val="1723"/>
              </a:lnSpc>
              <a:spcBef>
                <a:spcPct val="0"/>
              </a:spcBef>
              <a:buFont typeface="Arial"/>
              <a:buChar char="•"/>
            </a:pPr>
            <a:r>
              <a:rPr lang="en-US" sz="1300">
                <a:solidFill>
                  <a:srgbClr val="000000"/>
                </a:solidFill>
                <a:latin typeface="Proxima Nova"/>
                <a:ea typeface="Proxima Nova"/>
                <a:cs typeface="Proxima Nova"/>
                <a:sym typeface="Proxima Nova"/>
              </a:rPr>
              <a:t>Unseen by the model during training</a:t>
            </a:r>
          </a:p>
        </p:txBody>
      </p:sp>
      <p:sp>
        <p:nvSpPr>
          <p:cNvPr id="80" name="AutoShape 80"/>
          <p:cNvSpPr/>
          <p:nvPr/>
        </p:nvSpPr>
        <p:spPr>
          <a:xfrm>
            <a:off x="7985938" y="5929436"/>
            <a:ext cx="0" cy="784821"/>
          </a:xfrm>
          <a:prstGeom prst="line">
            <a:avLst/>
          </a:prstGeom>
          <a:ln w="142875" cap="flat">
            <a:gradFill>
              <a:gsLst>
                <a:gs pos="0">
                  <a:srgbClr val="004AAD">
                    <a:alpha val="100000"/>
                  </a:srgbClr>
                </a:gs>
                <a:gs pos="100000">
                  <a:srgbClr val="CB6CE6">
                    <a:alpha val="100000"/>
                  </a:srgbClr>
                </a:gs>
              </a:gsLst>
              <a:lin ang="0"/>
            </a:gradFill>
            <a:prstDash val="solid"/>
            <a:headEnd type="none" w="sm" len="sm"/>
            <a:tailEnd type="arrow" w="med" len="sm"/>
          </a:ln>
        </p:spPr>
      </p:sp>
      <p:sp>
        <p:nvSpPr>
          <p:cNvPr id="83" name="TextBox 5">
            <a:extLst>
              <a:ext uri="{FF2B5EF4-FFF2-40B4-BE49-F238E27FC236}">
                <a16:creationId xmlns:a16="http://schemas.microsoft.com/office/drawing/2014/main" id="{2738FA24-FAD3-C00B-F860-A1390DA58F67}"/>
              </a:ext>
            </a:extLst>
          </p:cNvPr>
          <p:cNvSpPr txBox="1"/>
          <p:nvPr/>
        </p:nvSpPr>
        <p:spPr>
          <a:xfrm>
            <a:off x="5314415" y="19050"/>
            <a:ext cx="7487185" cy="872034"/>
          </a:xfrm>
          <a:prstGeom prst="rect">
            <a:avLst/>
          </a:prstGeom>
        </p:spPr>
        <p:txBody>
          <a:bodyPr wrap="square" lIns="0" tIns="0" rIns="0" bIns="0" rtlCol="0" anchor="t">
            <a:spAutoFit/>
          </a:bodyPr>
          <a:lstStyle/>
          <a:p>
            <a:pPr algn="l">
              <a:lnSpc>
                <a:spcPts val="6805"/>
              </a:lnSpc>
              <a:spcBef>
                <a:spcPct val="0"/>
              </a:spcBef>
            </a:pPr>
            <a:r>
              <a:rPr lang="en-US" sz="5816" dirty="0">
                <a:gradFill>
                  <a:gsLst>
                    <a:gs pos="0">
                      <a:srgbClr val="FF3131">
                        <a:alpha val="100000"/>
                      </a:srgbClr>
                    </a:gs>
                    <a:gs pos="100000">
                      <a:srgbClr val="FF914D">
                        <a:alpha val="100000"/>
                      </a:srgbClr>
                    </a:gs>
                  </a:gsLst>
                  <a:lin ang="0"/>
                </a:gradFill>
                <a:latin typeface="Calistoga"/>
                <a:ea typeface="Calistoga"/>
                <a:cs typeface="Calistoga"/>
                <a:sym typeface="Calistoga"/>
              </a:rPr>
              <a:t>5. Proposed Methods</a:t>
            </a:r>
          </a:p>
        </p:txBody>
      </p:sp>
      <p:sp>
        <p:nvSpPr>
          <p:cNvPr id="516" name="English ">
            <a:extLst>
              <a:ext uri="{FF2B5EF4-FFF2-40B4-BE49-F238E27FC236}">
                <a16:creationId xmlns:a16="http://schemas.microsoft.com/office/drawing/2014/main" id="{AE6A613E-5259-47FF-89CB-AB234A66B918}"/>
              </a:ext>
            </a:extLst>
          </p:cNvPr>
          <p:cNvSpPr>
            <a:spLocks noGrp="1"/>
          </p:cNvSpPr>
          <p:nvPr/>
        </p:nvSpPr>
        <p:spPr>
          <a:xfrm>
            <a:off x="190500" y="3238500"/>
            <a:ext cx="3952875" cy="523875"/>
          </a:xfrm>
          <a:prstGeom prst="roundRect">
            <a:avLst>
              <a:gd name="adj" fmla="val 14545"/>
            </a:avLst>
          </a:prstGeom>
          <a:solidFill>
            <a:srgbClr val="FFFFFF"/>
          </a:solidFill>
          <a:ln w="19050">
            <a:solidFill>
              <a:srgbClr val="9471CF"/>
            </a:solidFill>
          </a:ln>
        </p:spPr>
        <p:txBody>
          <a:bodyPr anchor="ctr"/>
          <a:lstStyle/>
          <a:p>
            <a:pPr algn="ctr">
              <a:defRPr sz="1500">
                <a:solidFill>
                  <a:srgbClr val="222222"/>
                </a:solidFill>
                <a:latin typeface="Arial"/>
                <a:ea typeface="Arial"/>
                <a:cs typeface="Arial"/>
              </a:defRPr>
            </a:pPr>
            <a:r>
              <a:rPr sz="1500">
                <a:solidFill>
                  <a:srgbClr val="222222"/>
                </a:solidFill>
                <a:latin typeface="Arial"/>
                <a:ea typeface="Arial"/>
                <a:cs typeface="Arial"/>
              </a:rPr>
              <a:t>Train.csv + Test.csv</a:t>
            </a:r>
          </a:p>
        </p:txBody>
      </p:sp>
      <p:sp>
        <p:nvSpPr>
          <p:cNvPr id="502" name="English ">
            <a:extLst>
              <a:ext uri="{FF2B5EF4-FFF2-40B4-BE49-F238E27FC236}">
                <a16:creationId xmlns:a16="http://schemas.microsoft.com/office/drawing/2014/main" id="{17EADE14-D61A-4345-8FF3-AB9C6081700C}"/>
              </a:ext>
            </a:extLst>
          </p:cNvPr>
          <p:cNvSpPr>
            <a:spLocks noGrp="1"/>
          </p:cNvSpPr>
          <p:nvPr/>
        </p:nvSpPr>
        <p:spPr>
          <a:xfrm>
            <a:off x="2076450" y="3800475"/>
            <a:ext cx="171450" cy="190500"/>
          </a:xfrm>
          <a:prstGeom prst="downArrow">
            <a:avLst/>
          </a:prstGeom>
          <a:solidFill>
            <a:srgbClr val="5A75B8"/>
          </a:solidFill>
          <a:ln w="0">
            <a:noFill/>
          </a:ln>
        </p:spPr>
      </p:sp>
      <p:sp>
        <p:nvSpPr>
          <p:cNvPr id="503" name="English ">
            <a:extLst>
              <a:ext uri="{FF2B5EF4-FFF2-40B4-BE49-F238E27FC236}">
                <a16:creationId xmlns:a16="http://schemas.microsoft.com/office/drawing/2014/main" id="{2F9A6755-F6F7-43CB-BA4A-4994C610BB32}"/>
              </a:ext>
            </a:extLst>
          </p:cNvPr>
          <p:cNvSpPr>
            <a:spLocks noGrp="1"/>
          </p:cNvSpPr>
          <p:nvPr/>
        </p:nvSpPr>
        <p:spPr>
          <a:xfrm>
            <a:off x="190500" y="3981450"/>
            <a:ext cx="3952875" cy="876300"/>
          </a:xfrm>
          <a:prstGeom prst="roundRect">
            <a:avLst>
              <a:gd name="adj" fmla="val 8696"/>
            </a:avLst>
          </a:prstGeom>
          <a:solidFill>
            <a:srgbClr val="FFFFFF"/>
          </a:solidFill>
          <a:ln w="19050">
            <a:solidFill>
              <a:srgbClr val="9471CF"/>
            </a:solidFill>
          </a:ln>
        </p:spPr>
        <p:txBody>
          <a:bodyPr anchor="ctr"/>
          <a:lstStyle/>
          <a:p>
            <a:pPr algn="ctr">
              <a:defRPr sz="1500">
                <a:solidFill>
                  <a:srgbClr val="222222"/>
                </a:solidFill>
                <a:latin typeface="Arial"/>
                <a:ea typeface="Arial"/>
                <a:cs typeface="Arial"/>
              </a:defRPr>
            </a:pPr>
            <a:r>
              <a:rPr sz="1500">
                <a:solidFill>
                  <a:srgbClr val="222222"/>
                </a:solidFill>
                <a:latin typeface="Arial"/>
                <a:ea typeface="Arial"/>
                <a:cs typeface="Arial"/>
              </a:rPr>
              <a:t>Impute missing values</a:t>
            </a:r>
          </a:p>
          <a:p>
            <a:pPr algn="ctr">
              <a:defRPr sz="1500">
                <a:solidFill>
                  <a:srgbClr val="222222"/>
                </a:solidFill>
                <a:latin typeface="Arial"/>
                <a:ea typeface="Arial"/>
                <a:cs typeface="Arial"/>
              </a:defRPr>
            </a:pPr>
            <a:r>
              <a:rPr sz="1500">
                <a:solidFill>
                  <a:srgbClr val="222222"/>
                </a:solidFill>
                <a:latin typeface="Arial"/>
                <a:ea typeface="Arial"/>
                <a:cs typeface="Arial"/>
              </a:rPr>
              <a:t>Categorical: mode</a:t>
            </a:r>
          </a:p>
          <a:p>
            <a:pPr algn="ctr">
              <a:defRPr sz="1500">
                <a:solidFill>
                  <a:srgbClr val="222222"/>
                </a:solidFill>
                <a:latin typeface="Arial"/>
                <a:ea typeface="Arial"/>
                <a:cs typeface="Arial"/>
              </a:defRPr>
            </a:pPr>
            <a:r>
              <a:rPr sz="1500">
                <a:solidFill>
                  <a:srgbClr val="222222"/>
                </a:solidFill>
                <a:latin typeface="Arial"/>
                <a:ea typeface="Arial"/>
                <a:cs typeface="Arial"/>
              </a:rPr>
              <a:t>Numerical: mean</a:t>
            </a:r>
          </a:p>
        </p:txBody>
      </p:sp>
      <p:sp>
        <p:nvSpPr>
          <p:cNvPr id="504" name="English ">
            <a:extLst>
              <a:ext uri="{FF2B5EF4-FFF2-40B4-BE49-F238E27FC236}">
                <a16:creationId xmlns:a16="http://schemas.microsoft.com/office/drawing/2014/main" id="{AD39B4CA-1557-41A3-B66B-5D6058F9894B}"/>
              </a:ext>
            </a:extLst>
          </p:cNvPr>
          <p:cNvSpPr>
            <a:spLocks noGrp="1"/>
          </p:cNvSpPr>
          <p:nvPr/>
        </p:nvSpPr>
        <p:spPr>
          <a:xfrm>
            <a:off x="2076450" y="4895850"/>
            <a:ext cx="171450" cy="190500"/>
          </a:xfrm>
          <a:prstGeom prst="downArrow">
            <a:avLst/>
          </a:prstGeom>
          <a:solidFill>
            <a:srgbClr val="5A75B8"/>
          </a:solidFill>
          <a:ln w="0">
            <a:noFill/>
          </a:ln>
        </p:spPr>
      </p:sp>
      <p:sp>
        <p:nvSpPr>
          <p:cNvPr id="505" name="English ">
            <a:extLst>
              <a:ext uri="{FF2B5EF4-FFF2-40B4-BE49-F238E27FC236}">
                <a16:creationId xmlns:a16="http://schemas.microsoft.com/office/drawing/2014/main" id="{08079702-FBF3-48CF-9CAC-2EDF78B5831B}"/>
              </a:ext>
            </a:extLst>
          </p:cNvPr>
          <p:cNvSpPr>
            <a:spLocks noGrp="1"/>
          </p:cNvSpPr>
          <p:nvPr/>
        </p:nvSpPr>
        <p:spPr>
          <a:xfrm>
            <a:off x="190500" y="5095875"/>
            <a:ext cx="3952875" cy="828675"/>
          </a:xfrm>
          <a:prstGeom prst="roundRect">
            <a:avLst>
              <a:gd name="adj" fmla="val 9195"/>
            </a:avLst>
          </a:prstGeom>
          <a:solidFill>
            <a:srgbClr val="FFFFFF"/>
          </a:solidFill>
          <a:ln w="19050">
            <a:solidFill>
              <a:srgbClr val="9471CF"/>
            </a:solidFill>
          </a:ln>
        </p:spPr>
        <p:txBody>
          <a:bodyPr anchor="ctr"/>
          <a:lstStyle/>
          <a:p>
            <a:pPr algn="ctr">
              <a:defRPr sz="1350">
                <a:solidFill>
                  <a:srgbClr val="222222"/>
                </a:solidFill>
                <a:latin typeface="Arial"/>
                <a:ea typeface="Arial"/>
                <a:cs typeface="Arial"/>
              </a:defRPr>
            </a:pPr>
            <a:r>
              <a:rPr sz="1350">
                <a:solidFill>
                  <a:srgbClr val="222222"/>
                </a:solidFill>
                <a:latin typeface="Arial"/>
                <a:ea typeface="Arial"/>
                <a:cs typeface="Arial"/>
              </a:rPr>
              <a:t>Drop columns</a:t>
            </a:r>
          </a:p>
          <a:p>
            <a:pPr algn="ctr">
              <a:defRPr sz="1350">
                <a:solidFill>
                  <a:srgbClr val="222222"/>
                </a:solidFill>
                <a:latin typeface="Arial"/>
                <a:ea typeface="Arial"/>
                <a:cs typeface="Arial"/>
              </a:defRPr>
            </a:pPr>
            <a:r>
              <a:rPr sz="1350">
                <a:solidFill>
                  <a:srgbClr val="222222"/>
                </a:solidFill>
                <a:latin typeface="Arial"/>
                <a:ea typeface="Arial"/>
                <a:cs typeface="Arial"/>
              </a:rPr>
              <a:t>Id, Alley, PoolQC, Fence, MiscFeature</a:t>
            </a:r>
          </a:p>
        </p:txBody>
      </p:sp>
      <p:sp>
        <p:nvSpPr>
          <p:cNvPr id="506" name="English ">
            <a:extLst>
              <a:ext uri="{FF2B5EF4-FFF2-40B4-BE49-F238E27FC236}">
                <a16:creationId xmlns:a16="http://schemas.microsoft.com/office/drawing/2014/main" id="{80722B97-0479-41BB-BD8C-9E888B6FB41F}"/>
              </a:ext>
            </a:extLst>
          </p:cNvPr>
          <p:cNvSpPr>
            <a:spLocks noGrp="1"/>
          </p:cNvSpPr>
          <p:nvPr/>
        </p:nvSpPr>
        <p:spPr>
          <a:xfrm>
            <a:off x="2076450" y="5962650"/>
            <a:ext cx="171450" cy="190500"/>
          </a:xfrm>
          <a:prstGeom prst="downArrow">
            <a:avLst/>
          </a:prstGeom>
          <a:solidFill>
            <a:srgbClr val="5A75B8"/>
          </a:solidFill>
          <a:ln w="0">
            <a:noFill/>
          </a:ln>
        </p:spPr>
      </p:sp>
      <p:sp>
        <p:nvSpPr>
          <p:cNvPr id="507" name="English ">
            <a:extLst>
              <a:ext uri="{FF2B5EF4-FFF2-40B4-BE49-F238E27FC236}">
                <a16:creationId xmlns:a16="http://schemas.microsoft.com/office/drawing/2014/main" id="{A44DB00E-59C7-4F0B-A4DF-BF8D76A5F009}"/>
              </a:ext>
            </a:extLst>
          </p:cNvPr>
          <p:cNvSpPr>
            <a:spLocks noGrp="1"/>
          </p:cNvSpPr>
          <p:nvPr/>
        </p:nvSpPr>
        <p:spPr>
          <a:xfrm>
            <a:off x="190500" y="6162675"/>
            <a:ext cx="3952875" cy="619125"/>
          </a:xfrm>
          <a:prstGeom prst="roundRect">
            <a:avLst>
              <a:gd name="adj" fmla="val 12308"/>
            </a:avLst>
          </a:prstGeom>
          <a:solidFill>
            <a:srgbClr val="FFFFFF"/>
          </a:solidFill>
          <a:ln w="19050">
            <a:solidFill>
              <a:srgbClr val="9471CF"/>
            </a:solidFill>
          </a:ln>
        </p:spPr>
        <p:txBody>
          <a:bodyPr anchor="ctr"/>
          <a:lstStyle/>
          <a:p>
            <a:pPr algn="ctr">
              <a:defRPr sz="1500">
                <a:solidFill>
                  <a:srgbClr val="222222"/>
                </a:solidFill>
                <a:latin typeface="Arial"/>
                <a:ea typeface="Arial"/>
                <a:cs typeface="Arial"/>
              </a:defRPr>
            </a:pPr>
            <a:r>
              <a:rPr sz="1500">
                <a:solidFill>
                  <a:srgbClr val="222222"/>
                </a:solidFill>
                <a:latin typeface="Arial"/>
                <a:ea typeface="Arial"/>
                <a:cs typeface="Arial"/>
              </a:rPr>
              <a:t>Temporarily combine train + test</a:t>
            </a:r>
          </a:p>
        </p:txBody>
      </p:sp>
      <p:sp>
        <p:nvSpPr>
          <p:cNvPr id="508" name="English ">
            <a:extLst>
              <a:ext uri="{FF2B5EF4-FFF2-40B4-BE49-F238E27FC236}">
                <a16:creationId xmlns:a16="http://schemas.microsoft.com/office/drawing/2014/main" id="{7B33AA41-374C-49DA-9933-CBA6BC5204CB}"/>
              </a:ext>
            </a:extLst>
          </p:cNvPr>
          <p:cNvSpPr>
            <a:spLocks noGrp="1"/>
          </p:cNvSpPr>
          <p:nvPr/>
        </p:nvSpPr>
        <p:spPr>
          <a:xfrm>
            <a:off x="2076450" y="6819900"/>
            <a:ext cx="171450" cy="190500"/>
          </a:xfrm>
          <a:prstGeom prst="downArrow">
            <a:avLst/>
          </a:prstGeom>
          <a:solidFill>
            <a:srgbClr val="5A75B8"/>
          </a:solidFill>
          <a:ln w="0">
            <a:noFill/>
          </a:ln>
        </p:spPr>
      </p:sp>
      <p:sp>
        <p:nvSpPr>
          <p:cNvPr id="509" name="English ">
            <a:extLst>
              <a:ext uri="{FF2B5EF4-FFF2-40B4-BE49-F238E27FC236}">
                <a16:creationId xmlns:a16="http://schemas.microsoft.com/office/drawing/2014/main" id="{999B13A4-E115-46AC-81B1-39E120F3D90E}"/>
              </a:ext>
            </a:extLst>
          </p:cNvPr>
          <p:cNvSpPr>
            <a:spLocks noGrp="1"/>
          </p:cNvSpPr>
          <p:nvPr/>
        </p:nvSpPr>
        <p:spPr>
          <a:xfrm>
            <a:off x="190500" y="7067550"/>
            <a:ext cx="3952875" cy="762000"/>
          </a:xfrm>
          <a:prstGeom prst="roundRect">
            <a:avLst>
              <a:gd name="adj" fmla="val 10000"/>
            </a:avLst>
          </a:prstGeom>
          <a:solidFill>
            <a:srgbClr val="FFFFFF"/>
          </a:solidFill>
          <a:ln w="19050">
            <a:solidFill>
              <a:srgbClr val="9471CF"/>
            </a:solidFill>
          </a:ln>
        </p:spPr>
        <p:txBody>
          <a:bodyPr anchor="ctr"/>
          <a:lstStyle/>
          <a:p>
            <a:pPr algn="ctr">
              <a:defRPr sz="1500">
                <a:solidFill>
                  <a:srgbClr val="222222"/>
                </a:solidFill>
                <a:latin typeface="Arial"/>
                <a:ea typeface="Arial"/>
                <a:cs typeface="Arial"/>
              </a:defRPr>
            </a:pPr>
            <a:r>
              <a:rPr sz="1500">
                <a:solidFill>
                  <a:srgbClr val="222222"/>
                </a:solidFill>
                <a:latin typeface="Arial"/>
                <a:ea typeface="Arial"/>
                <a:cs typeface="Arial"/>
              </a:rPr>
              <a:t>One-hot encoding</a:t>
            </a:r>
          </a:p>
          <a:p>
            <a:pPr algn="ctr">
              <a:defRPr sz="1500">
                <a:solidFill>
                  <a:srgbClr val="222222"/>
                </a:solidFill>
                <a:latin typeface="Arial"/>
                <a:ea typeface="Arial"/>
                <a:cs typeface="Arial"/>
              </a:defRPr>
            </a:pPr>
            <a:r>
              <a:rPr sz="1500">
                <a:solidFill>
                  <a:srgbClr val="222222"/>
                </a:solidFill>
                <a:latin typeface="Arial"/>
                <a:ea typeface="Arial"/>
                <a:cs typeface="Arial"/>
              </a:rPr>
              <a:t>pd.get_dummies(drop_first=True)</a:t>
            </a:r>
          </a:p>
        </p:txBody>
      </p:sp>
      <p:sp>
        <p:nvSpPr>
          <p:cNvPr id="510" name="English ">
            <a:extLst>
              <a:ext uri="{FF2B5EF4-FFF2-40B4-BE49-F238E27FC236}">
                <a16:creationId xmlns:a16="http://schemas.microsoft.com/office/drawing/2014/main" id="{482204B1-96B6-408A-89F5-9D8100A1CFE6}"/>
              </a:ext>
            </a:extLst>
          </p:cNvPr>
          <p:cNvSpPr>
            <a:spLocks noGrp="1"/>
          </p:cNvSpPr>
          <p:nvPr/>
        </p:nvSpPr>
        <p:spPr>
          <a:xfrm>
            <a:off x="2076450" y="7867650"/>
            <a:ext cx="171450" cy="190500"/>
          </a:xfrm>
          <a:prstGeom prst="downArrow">
            <a:avLst/>
          </a:prstGeom>
          <a:solidFill>
            <a:srgbClr val="5A75B8"/>
          </a:solidFill>
          <a:ln w="0">
            <a:noFill/>
          </a:ln>
        </p:spPr>
      </p:sp>
      <p:sp>
        <p:nvSpPr>
          <p:cNvPr id="511" name="English ">
            <a:extLst>
              <a:ext uri="{FF2B5EF4-FFF2-40B4-BE49-F238E27FC236}">
                <a16:creationId xmlns:a16="http://schemas.microsoft.com/office/drawing/2014/main" id="{5C62C29F-8A1C-4F0C-8428-3F136E0EABF5}"/>
              </a:ext>
            </a:extLst>
          </p:cNvPr>
          <p:cNvSpPr>
            <a:spLocks noGrp="1"/>
          </p:cNvSpPr>
          <p:nvPr/>
        </p:nvSpPr>
        <p:spPr>
          <a:xfrm>
            <a:off x="190500" y="8077200"/>
            <a:ext cx="3952875" cy="571500"/>
          </a:xfrm>
          <a:prstGeom prst="roundRect">
            <a:avLst>
              <a:gd name="adj" fmla="val 13333"/>
            </a:avLst>
          </a:prstGeom>
          <a:solidFill>
            <a:srgbClr val="FFFFFF"/>
          </a:solidFill>
          <a:ln w="19050">
            <a:solidFill>
              <a:srgbClr val="9471CF"/>
            </a:solidFill>
          </a:ln>
        </p:spPr>
        <p:txBody>
          <a:bodyPr anchor="ctr"/>
          <a:lstStyle/>
          <a:p>
            <a:pPr algn="ctr">
              <a:defRPr sz="1500">
                <a:solidFill>
                  <a:srgbClr val="222222"/>
                </a:solidFill>
                <a:latin typeface="Arial"/>
                <a:ea typeface="Arial"/>
                <a:cs typeface="Arial"/>
              </a:defRPr>
            </a:pPr>
            <a:r>
              <a:rPr sz="1500">
                <a:solidFill>
                  <a:srgbClr val="222222"/>
                </a:solidFill>
                <a:latin typeface="Arial"/>
                <a:ea typeface="Arial"/>
                <a:cs typeface="Arial"/>
              </a:rPr>
              <a:t>Split back at n_train</a:t>
            </a:r>
          </a:p>
        </p:txBody>
      </p:sp>
      <p:sp>
        <p:nvSpPr>
          <p:cNvPr id="512" name="English ">
            <a:extLst>
              <a:ext uri="{FF2B5EF4-FFF2-40B4-BE49-F238E27FC236}">
                <a16:creationId xmlns:a16="http://schemas.microsoft.com/office/drawing/2014/main" id="{72DD8B41-4C6A-439D-B0F9-A8B01E8DE388}"/>
              </a:ext>
            </a:extLst>
          </p:cNvPr>
          <p:cNvSpPr>
            <a:spLocks noGrp="1"/>
          </p:cNvSpPr>
          <p:nvPr/>
        </p:nvSpPr>
        <p:spPr>
          <a:xfrm>
            <a:off x="142875" y="9144000"/>
            <a:ext cx="2000250" cy="857250"/>
          </a:xfrm>
          <a:prstGeom prst="roundRect">
            <a:avLst>
              <a:gd name="adj" fmla="val 8889"/>
            </a:avLst>
          </a:prstGeom>
          <a:solidFill>
            <a:srgbClr val="FFF7EF"/>
          </a:solidFill>
          <a:ln w="19050">
            <a:solidFill>
              <a:srgbClr val="9471CF"/>
            </a:solidFill>
          </a:ln>
        </p:spPr>
        <p:txBody>
          <a:bodyPr anchor="ctr"/>
          <a:lstStyle/>
          <a:p>
            <a:pPr algn="ctr">
              <a:defRPr sz="1425">
                <a:solidFill>
                  <a:srgbClr val="222222"/>
                </a:solidFill>
                <a:latin typeface="Arial"/>
                <a:ea typeface="Arial"/>
                <a:cs typeface="Arial"/>
              </a:defRPr>
            </a:pPr>
            <a:r>
              <a:rPr sz="1425">
                <a:solidFill>
                  <a:srgbClr val="222222"/>
                </a:solidFill>
                <a:latin typeface="Arial"/>
                <a:ea typeface="Arial"/>
                <a:cs typeface="Arial"/>
              </a:rPr>
              <a:t>df_train</a:t>
            </a:r>
          </a:p>
          <a:p>
            <a:pPr algn="ctr">
              <a:defRPr sz="1425">
                <a:solidFill>
                  <a:srgbClr val="222222"/>
                </a:solidFill>
                <a:latin typeface="Arial"/>
                <a:ea typeface="Arial"/>
                <a:cs typeface="Arial"/>
              </a:defRPr>
            </a:pPr>
            <a:r>
              <a:rPr sz="1425">
                <a:solidFill>
                  <a:srgbClr val="222222"/>
                </a:solidFill>
                <a:latin typeface="Arial"/>
                <a:ea typeface="Arial"/>
                <a:cs typeface="Arial"/>
              </a:rPr>
              <a:t>X: drop SalePrice</a:t>
            </a:r>
          </a:p>
          <a:p>
            <a:pPr algn="ctr">
              <a:defRPr sz="1425">
                <a:solidFill>
                  <a:srgbClr val="222222"/>
                </a:solidFill>
                <a:latin typeface="Arial"/>
                <a:ea typeface="Arial"/>
                <a:cs typeface="Arial"/>
              </a:defRPr>
            </a:pPr>
            <a:r>
              <a:rPr sz="1425">
                <a:solidFill>
                  <a:srgbClr val="222222"/>
                </a:solidFill>
                <a:latin typeface="Arial"/>
                <a:ea typeface="Arial"/>
                <a:cs typeface="Arial"/>
              </a:rPr>
              <a:t>y: SalePrice</a:t>
            </a:r>
          </a:p>
        </p:txBody>
      </p:sp>
      <p:sp>
        <p:nvSpPr>
          <p:cNvPr id="513" name="English ">
            <a:extLst>
              <a:ext uri="{FF2B5EF4-FFF2-40B4-BE49-F238E27FC236}">
                <a16:creationId xmlns:a16="http://schemas.microsoft.com/office/drawing/2014/main" id="{CC3371E2-AA56-44E9-BC3A-9235AA4427A3}"/>
              </a:ext>
            </a:extLst>
          </p:cNvPr>
          <p:cNvSpPr>
            <a:spLocks noGrp="1"/>
          </p:cNvSpPr>
          <p:nvPr/>
        </p:nvSpPr>
        <p:spPr>
          <a:xfrm>
            <a:off x="2286000" y="9144000"/>
            <a:ext cx="1857375" cy="857250"/>
          </a:xfrm>
          <a:prstGeom prst="roundRect">
            <a:avLst>
              <a:gd name="adj" fmla="val 8889"/>
            </a:avLst>
          </a:prstGeom>
          <a:solidFill>
            <a:srgbClr val="FFF7EF"/>
          </a:solidFill>
          <a:ln w="19050">
            <a:solidFill>
              <a:srgbClr val="9471CF"/>
            </a:solidFill>
          </a:ln>
        </p:spPr>
        <p:txBody>
          <a:bodyPr anchor="ctr"/>
          <a:lstStyle/>
          <a:p>
            <a:pPr algn="ctr">
              <a:defRPr sz="1425">
                <a:solidFill>
                  <a:srgbClr val="222222"/>
                </a:solidFill>
                <a:latin typeface="Arial"/>
                <a:ea typeface="Arial"/>
                <a:cs typeface="Arial"/>
              </a:defRPr>
            </a:pPr>
            <a:r>
              <a:rPr sz="1425">
                <a:solidFill>
                  <a:srgbClr val="222222"/>
                </a:solidFill>
                <a:latin typeface="Arial"/>
                <a:ea typeface="Arial"/>
                <a:cs typeface="Arial"/>
              </a:rPr>
              <a:t>df_test</a:t>
            </a:r>
          </a:p>
          <a:p>
            <a:pPr algn="ctr">
              <a:defRPr sz="1425">
                <a:solidFill>
                  <a:srgbClr val="222222"/>
                </a:solidFill>
                <a:latin typeface="Arial"/>
                <a:ea typeface="Arial"/>
                <a:cs typeface="Arial"/>
              </a:defRPr>
            </a:pPr>
            <a:r>
              <a:rPr sz="1425">
                <a:solidFill>
                  <a:srgbClr val="222222"/>
                </a:solidFill>
                <a:latin typeface="Arial"/>
                <a:ea typeface="Arial"/>
                <a:cs typeface="Arial"/>
              </a:rPr>
              <a:t>Drop SalePrice</a:t>
            </a:r>
          </a:p>
        </p:txBody>
      </p:sp>
      <p:sp>
        <p:nvSpPr>
          <p:cNvPr id="514" name="English ">
            <a:extLst>
              <a:ext uri="{FF2B5EF4-FFF2-40B4-BE49-F238E27FC236}">
                <a16:creationId xmlns:a16="http://schemas.microsoft.com/office/drawing/2014/main" id="{FCAB8D95-1CFC-4D39-9205-D0AE8477DD97}"/>
              </a:ext>
            </a:extLst>
          </p:cNvPr>
          <p:cNvSpPr>
            <a:spLocks noGrp="1"/>
          </p:cNvSpPr>
          <p:nvPr/>
        </p:nvSpPr>
        <p:spPr>
          <a:xfrm>
            <a:off x="1095375" y="8763000"/>
            <a:ext cx="171450" cy="247650"/>
          </a:xfrm>
          <a:prstGeom prst="downArrow">
            <a:avLst/>
          </a:prstGeom>
          <a:solidFill>
            <a:srgbClr val="5A75B8"/>
          </a:solidFill>
          <a:ln w="0">
            <a:noFill/>
          </a:ln>
        </p:spPr>
      </p:sp>
      <p:sp>
        <p:nvSpPr>
          <p:cNvPr id="515" name="English ">
            <a:extLst>
              <a:ext uri="{FF2B5EF4-FFF2-40B4-BE49-F238E27FC236}">
                <a16:creationId xmlns:a16="http://schemas.microsoft.com/office/drawing/2014/main" id="{17E2B2DE-A027-479B-9816-940ADF99EABD}"/>
              </a:ext>
            </a:extLst>
          </p:cNvPr>
          <p:cNvSpPr>
            <a:spLocks noGrp="1"/>
          </p:cNvSpPr>
          <p:nvPr/>
        </p:nvSpPr>
        <p:spPr>
          <a:xfrm>
            <a:off x="3124200" y="8763000"/>
            <a:ext cx="171450" cy="247650"/>
          </a:xfrm>
          <a:prstGeom prst="downArrow">
            <a:avLst/>
          </a:prstGeom>
          <a:solidFill>
            <a:srgbClr val="5A75B8"/>
          </a:solidFill>
          <a:ln w="0">
            <a:no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685282" y="1396714"/>
            <a:ext cx="6122651" cy="8340597"/>
          </a:xfrm>
          <a:custGeom>
            <a:avLst/>
            <a:gdLst/>
            <a:ahLst/>
            <a:cxnLst/>
            <a:rect l="l" t="t" r="r" b="b"/>
            <a:pathLst>
              <a:path w="6122651" h="8340597">
                <a:moveTo>
                  <a:pt x="0" y="0"/>
                </a:moveTo>
                <a:lnTo>
                  <a:pt x="6122651" y="0"/>
                </a:lnTo>
                <a:lnTo>
                  <a:pt x="6122651" y="8340597"/>
                </a:lnTo>
                <a:lnTo>
                  <a:pt x="0" y="8340597"/>
                </a:lnTo>
                <a:lnTo>
                  <a:pt x="0" y="0"/>
                </a:lnTo>
                <a:close/>
              </a:path>
            </a:pathLst>
          </a:custGeom>
          <a:blipFill>
            <a:blip r:embed="rId2"/>
            <a:stretch>
              <a:fillRect t="-530" b="-530"/>
            </a:stretch>
          </a:blipFill>
        </p:spPr>
      </p:sp>
      <p:sp>
        <p:nvSpPr>
          <p:cNvPr id="4" name="TextBox 4"/>
          <p:cNvSpPr txBox="1"/>
          <p:nvPr/>
        </p:nvSpPr>
        <p:spPr>
          <a:xfrm>
            <a:off x="1857375" y="1857375"/>
            <a:ext cx="5429250" cy="809625"/>
          </a:xfrm>
          <a:prstGeom prst="rect">
            <a:avLst/>
          </a:prstGeom>
        </p:spPr>
        <p:txBody>
          <a:bodyPr lIns="0" tIns="0" rIns="0" bIns="0" rtlCol="0" anchor="t">
            <a:spAutoFit/>
          </a:bodyPr>
          <a:lstStyle/>
          <a:p>
            <a:pPr algn="l">
              <a:lnSpc>
                <a:spcPts val="3412"/>
              </a:lnSpc>
              <a:spcBef>
                <a:spcPct val="0"/>
              </a:spcBef>
            </a:pPr>
            <a:r>
              <a:rPr lang="en-US" sz="2700" b="1" i="1">
                <a:gradFill>
                  <a:gsLst>
                    <a:gs pos="0">
                      <a:srgbClr val="0097B2">
                        <a:alpha val="100000"/>
                      </a:srgbClr>
                    </a:gs>
                    <a:gs pos="100000">
                      <a:srgbClr val="7ED957">
                        <a:alpha val="100000"/>
                      </a:srgbClr>
                    </a:gs>
                  </a:gsLst>
                  <a:lin ang="0"/>
                </a:gradFill>
                <a:latin typeface="Proxima Nova Bold Italics"/>
                <a:ea typeface="Proxima Nova Bold Italics"/>
                <a:cs typeface="Proxima Nova Bold Italics"/>
                <a:sym typeface="Proxima Nova Bold Italics"/>
              </a:rPr>
              <a:t>DECISION TREE REGRESSOR</a:t>
            </a:r>
          </a:p>
        </p:txBody>
      </p:sp>
      <p:sp>
        <p:nvSpPr>
          <p:cNvPr id="5" name="TextBox 5"/>
          <p:cNvSpPr txBox="1"/>
          <p:nvPr/>
        </p:nvSpPr>
        <p:spPr>
          <a:xfrm>
            <a:off x="1865138" y="4274450"/>
            <a:ext cx="4997825" cy="2977759"/>
          </a:xfrm>
          <a:prstGeom prst="rect">
            <a:avLst/>
          </a:prstGeom>
        </p:spPr>
        <p:txBody>
          <a:bodyPr lIns="0" tIns="0" rIns="0" bIns="0" rtlCol="0" anchor="t">
            <a:spAutoFit/>
          </a:bodyPr>
          <a:lstStyle/>
          <a:p>
            <a:pPr algn="l">
              <a:lnSpc>
                <a:spcPts val="1829"/>
              </a:lnSpc>
              <a:spcBef>
                <a:spcPct val="0"/>
              </a:spcBef>
            </a:pPr>
            <a:r>
              <a:rPr lang="en-US" sz="1564" b="1">
                <a:solidFill>
                  <a:srgbClr val="11090B"/>
                </a:solidFill>
                <a:latin typeface="Proxima Nova Bold"/>
                <a:ea typeface="Proxima Nova Bold"/>
                <a:cs typeface="Proxima Nova Bold"/>
                <a:sym typeface="Proxima Nova Bold"/>
              </a:rPr>
              <a:t>Working Principle:</a:t>
            </a:r>
          </a:p>
          <a:p>
            <a:pPr algn="l">
              <a:lnSpc>
                <a:spcPts val="1829"/>
              </a:lnSpc>
              <a:spcBef>
                <a:spcPct val="0"/>
              </a:spcBef>
            </a:pPr>
            <a:endParaRPr lang="en-US" sz="1564" b="1">
              <a:solidFill>
                <a:srgbClr val="11090B"/>
              </a:solidFill>
              <a:latin typeface="Proxima Nova Bold"/>
              <a:ea typeface="Proxima Nova Bold"/>
              <a:cs typeface="Proxima Nova Bold"/>
              <a:sym typeface="Proxima Nova Bold"/>
            </a:endParaRPr>
          </a:p>
          <a:p>
            <a:pPr marL="337669" lvl="1" indent="-168834" algn="l">
              <a:lnSpc>
                <a:spcPts val="1829"/>
              </a:lnSpc>
              <a:spcBef>
                <a:spcPct val="0"/>
              </a:spcBef>
              <a:buFont typeface="Arial"/>
              <a:buChar char="•"/>
            </a:pPr>
            <a:r>
              <a:rPr lang="en-US" sz="1564">
                <a:solidFill>
                  <a:srgbClr val="11090B"/>
                </a:solidFill>
                <a:latin typeface="Proxima Nova"/>
                <a:ea typeface="Proxima Nova"/>
                <a:cs typeface="Proxima Nova"/>
                <a:sym typeface="Proxima Nova"/>
              </a:rPr>
              <a:t>Decision Trees operate by recursively partitioning the dataset into smaller subsets via a sequence of decision rules.</a:t>
            </a:r>
          </a:p>
          <a:p>
            <a:pPr marL="337669" lvl="1" indent="-168834" algn="l">
              <a:lnSpc>
                <a:spcPts val="1829"/>
              </a:lnSpc>
              <a:spcBef>
                <a:spcPct val="0"/>
              </a:spcBef>
              <a:buFont typeface="Arial"/>
              <a:buChar char="•"/>
            </a:pPr>
            <a:r>
              <a:rPr lang="en-US" sz="1564">
                <a:solidFill>
                  <a:srgbClr val="11090B"/>
                </a:solidFill>
                <a:latin typeface="Proxima Nova"/>
                <a:ea typeface="Proxima Nova"/>
                <a:cs typeface="Proxima Nova"/>
                <a:sym typeface="Proxima Nova"/>
              </a:rPr>
              <a:t>At each internal node, the model selects an optimal feature and a split threshold to divide the data into child branches.</a:t>
            </a:r>
          </a:p>
          <a:p>
            <a:pPr marL="337669" lvl="1" indent="-168834" algn="l">
              <a:lnSpc>
                <a:spcPts val="1829"/>
              </a:lnSpc>
              <a:spcBef>
                <a:spcPct val="0"/>
              </a:spcBef>
              <a:buFont typeface="Arial"/>
              <a:buChar char="•"/>
            </a:pPr>
            <a:r>
              <a:rPr lang="en-US" sz="1564">
                <a:solidFill>
                  <a:srgbClr val="11090B"/>
                </a:solidFill>
                <a:latin typeface="Proxima Nova"/>
                <a:ea typeface="Proxima Nova"/>
                <a:cs typeface="Proxima Nova"/>
                <a:sym typeface="Proxima Nova"/>
              </a:rPr>
              <a:t>If a sample satisfies the condition, it is routed to the left branch; otherwise, it proceeds to the right branch.</a:t>
            </a:r>
          </a:p>
          <a:p>
            <a:pPr marL="337669" lvl="1" indent="-168834" algn="l">
              <a:lnSpc>
                <a:spcPts val="1829"/>
              </a:lnSpc>
              <a:spcBef>
                <a:spcPct val="0"/>
              </a:spcBef>
              <a:buFont typeface="Arial"/>
              <a:buChar char="•"/>
            </a:pPr>
            <a:r>
              <a:rPr lang="en-US" sz="1564">
                <a:solidFill>
                  <a:srgbClr val="11090B"/>
                </a:solidFill>
                <a:latin typeface="Proxima Nova"/>
                <a:ea typeface="Proxima Nova"/>
                <a:cs typeface="Proxima Nova"/>
                <a:sym typeface="Proxima Nova"/>
              </a:rPr>
              <a:t>This process repeats across multiple depth levels of the tree until specified stopping criteria are met, forming the final leaf nodes.</a:t>
            </a:r>
          </a:p>
        </p:txBody>
      </p:sp>
      <p:sp>
        <p:nvSpPr>
          <p:cNvPr id="6" name="TextBox 6"/>
          <p:cNvSpPr txBox="1"/>
          <p:nvPr/>
        </p:nvSpPr>
        <p:spPr>
          <a:xfrm>
            <a:off x="1865138" y="2839741"/>
            <a:ext cx="5164903" cy="1148959"/>
          </a:xfrm>
          <a:prstGeom prst="rect">
            <a:avLst/>
          </a:prstGeom>
        </p:spPr>
        <p:txBody>
          <a:bodyPr lIns="0" tIns="0" rIns="0" bIns="0" rtlCol="0" anchor="t">
            <a:spAutoFit/>
          </a:bodyPr>
          <a:lstStyle/>
          <a:p>
            <a:pPr algn="just">
              <a:lnSpc>
                <a:spcPts val="1829"/>
              </a:lnSpc>
              <a:spcBef>
                <a:spcPct val="0"/>
              </a:spcBef>
            </a:pPr>
            <a:r>
              <a:rPr lang="en-US" sz="1564">
                <a:solidFill>
                  <a:srgbClr val="000000"/>
                </a:solidFill>
                <a:latin typeface="Proxima Nova"/>
                <a:ea typeface="Proxima Nova"/>
                <a:cs typeface="Proxima Nova"/>
                <a:sym typeface="Proxima Nova"/>
              </a:rPr>
              <a:t>In this study, a Decision Tree Regressor is employed as the baseline regression model. The model receives the preprocessed property features, executes a sequence of data splits through decision nodes, and routes each sample to a leaf node to predict the SalePrice.</a:t>
            </a:r>
          </a:p>
        </p:txBody>
      </p:sp>
      <p:sp>
        <p:nvSpPr>
          <p:cNvPr id="8" name="TextBox 5">
            <a:extLst>
              <a:ext uri="{FF2B5EF4-FFF2-40B4-BE49-F238E27FC236}">
                <a16:creationId xmlns:a16="http://schemas.microsoft.com/office/drawing/2014/main" id="{D65B4C66-5D57-3116-E235-506000807CFB}"/>
              </a:ext>
            </a:extLst>
          </p:cNvPr>
          <p:cNvSpPr txBox="1"/>
          <p:nvPr/>
        </p:nvSpPr>
        <p:spPr>
          <a:xfrm>
            <a:off x="5314415" y="19050"/>
            <a:ext cx="7487185" cy="872034"/>
          </a:xfrm>
          <a:prstGeom prst="rect">
            <a:avLst/>
          </a:prstGeom>
        </p:spPr>
        <p:txBody>
          <a:bodyPr wrap="square" lIns="0" tIns="0" rIns="0" bIns="0" rtlCol="0" anchor="t">
            <a:spAutoFit/>
          </a:bodyPr>
          <a:lstStyle/>
          <a:p>
            <a:pPr algn="l">
              <a:lnSpc>
                <a:spcPts val="6805"/>
              </a:lnSpc>
              <a:spcBef>
                <a:spcPct val="0"/>
              </a:spcBef>
            </a:pPr>
            <a:r>
              <a:rPr lang="en-US" sz="5816" dirty="0">
                <a:gradFill>
                  <a:gsLst>
                    <a:gs pos="0">
                      <a:srgbClr val="FF3131">
                        <a:alpha val="100000"/>
                      </a:srgbClr>
                    </a:gs>
                    <a:gs pos="100000">
                      <a:srgbClr val="FF914D">
                        <a:alpha val="100000"/>
                      </a:srgbClr>
                    </a:gs>
                  </a:gsLst>
                  <a:lin ang="0"/>
                </a:gradFill>
                <a:latin typeface="Calistoga"/>
                <a:ea typeface="Calistoga"/>
                <a:cs typeface="Calistoga"/>
                <a:sym typeface="Calistoga"/>
              </a:rPr>
              <a:t>5. Proposed Methods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14567" y="4800074"/>
            <a:ext cx="11192063" cy="4735374"/>
          </a:xfrm>
          <a:custGeom>
            <a:avLst/>
            <a:gdLst/>
            <a:ahLst/>
            <a:cxnLst/>
            <a:rect l="l" t="t" r="r" b="b"/>
            <a:pathLst>
              <a:path w="11192063" h="4735374">
                <a:moveTo>
                  <a:pt x="0" y="0"/>
                </a:moveTo>
                <a:lnTo>
                  <a:pt x="11192062" y="0"/>
                </a:lnTo>
                <a:lnTo>
                  <a:pt x="11192062" y="4735373"/>
                </a:lnTo>
                <a:lnTo>
                  <a:pt x="0" y="4735373"/>
                </a:lnTo>
                <a:lnTo>
                  <a:pt x="0" y="0"/>
                </a:lnTo>
                <a:close/>
              </a:path>
            </a:pathLst>
          </a:custGeom>
          <a:blipFill>
            <a:blip r:embed="rId2"/>
            <a:stretch>
              <a:fillRect/>
            </a:stretch>
          </a:blipFill>
        </p:spPr>
      </p:sp>
      <p:sp>
        <p:nvSpPr>
          <p:cNvPr id="3" name="Freeform 3"/>
          <p:cNvSpPr/>
          <p:nvPr/>
        </p:nvSpPr>
        <p:spPr>
          <a:xfrm>
            <a:off x="10531465" y="2280254"/>
            <a:ext cx="4260278" cy="694090"/>
          </a:xfrm>
          <a:custGeom>
            <a:avLst/>
            <a:gdLst/>
            <a:ahLst/>
            <a:cxnLst/>
            <a:rect l="l" t="t" r="r" b="b"/>
            <a:pathLst>
              <a:path w="4260278" h="694090">
                <a:moveTo>
                  <a:pt x="0" y="0"/>
                </a:moveTo>
                <a:lnTo>
                  <a:pt x="4260278" y="0"/>
                </a:lnTo>
                <a:lnTo>
                  <a:pt x="4260278" y="694091"/>
                </a:lnTo>
                <a:lnTo>
                  <a:pt x="0" y="694091"/>
                </a:lnTo>
                <a:lnTo>
                  <a:pt x="0" y="0"/>
                </a:lnTo>
                <a:close/>
              </a:path>
            </a:pathLst>
          </a:custGeom>
          <a:blipFill>
            <a:blip r:embed="rId3"/>
            <a:stretch>
              <a:fillRect/>
            </a:stretch>
          </a:blipFill>
        </p:spPr>
      </p:sp>
      <p:sp>
        <p:nvSpPr>
          <p:cNvPr id="5" name="TextBox 5"/>
          <p:cNvSpPr txBox="1"/>
          <p:nvPr/>
        </p:nvSpPr>
        <p:spPr>
          <a:xfrm>
            <a:off x="784509" y="4446241"/>
            <a:ext cx="4573704" cy="2749159"/>
          </a:xfrm>
          <a:prstGeom prst="rect">
            <a:avLst/>
          </a:prstGeom>
        </p:spPr>
        <p:txBody>
          <a:bodyPr lIns="0" tIns="0" rIns="0" bIns="0" rtlCol="0" anchor="t">
            <a:spAutoFit/>
          </a:bodyPr>
          <a:lstStyle/>
          <a:p>
            <a:pPr algn="l">
              <a:lnSpc>
                <a:spcPts val="1829"/>
              </a:lnSpc>
              <a:spcBef>
                <a:spcPct val="0"/>
              </a:spcBef>
            </a:pPr>
            <a:r>
              <a:rPr lang="en-US" sz="1564" b="1">
                <a:solidFill>
                  <a:srgbClr val="000000"/>
                </a:solidFill>
                <a:latin typeface="Proxima Nova Bold"/>
                <a:ea typeface="Proxima Nova Bold"/>
                <a:cs typeface="Proxima Nova Bold"/>
                <a:sym typeface="Proxima Nova Bold"/>
              </a:rPr>
              <a:t>Working Principle:</a:t>
            </a:r>
          </a:p>
          <a:p>
            <a:pPr algn="l">
              <a:lnSpc>
                <a:spcPts val="1829"/>
              </a:lnSpc>
              <a:spcBef>
                <a:spcPct val="0"/>
              </a:spcBef>
            </a:pPr>
            <a:endParaRPr lang="en-US" sz="1564" b="1">
              <a:solidFill>
                <a:srgbClr val="000000"/>
              </a:solidFill>
              <a:latin typeface="Proxima Nova Bold"/>
              <a:ea typeface="Proxima Nova Bold"/>
              <a:cs typeface="Proxima Nova Bold"/>
              <a:sym typeface="Proxima Nova Bold"/>
            </a:endParaRPr>
          </a:p>
          <a:p>
            <a:pPr marL="337669" lvl="1" indent="-168834" algn="l">
              <a:lnSpc>
                <a:spcPts val="1829"/>
              </a:lnSpc>
              <a:spcBef>
                <a:spcPct val="0"/>
              </a:spcBef>
              <a:buFont typeface="Arial"/>
              <a:buChar char="•"/>
            </a:pPr>
            <a:r>
              <a:rPr lang="en-US" sz="1564">
                <a:solidFill>
                  <a:srgbClr val="000000"/>
                </a:solidFill>
                <a:latin typeface="Proxima Nova"/>
                <a:ea typeface="Proxima Nova"/>
                <a:cs typeface="Proxima Nova"/>
                <a:sym typeface="Proxima Nova"/>
              </a:rPr>
              <a:t>The input data is processed by the initial decision tree to generate a base prediction.</a:t>
            </a:r>
          </a:p>
          <a:p>
            <a:pPr marL="337669" lvl="1" indent="-168834" algn="l">
              <a:lnSpc>
                <a:spcPts val="1829"/>
              </a:lnSpc>
              <a:spcBef>
                <a:spcPct val="0"/>
              </a:spcBef>
              <a:buFont typeface="Arial"/>
              <a:buChar char="•"/>
            </a:pPr>
            <a:r>
              <a:rPr lang="en-US" sz="1564">
                <a:solidFill>
                  <a:srgbClr val="000000"/>
                </a:solidFill>
                <a:latin typeface="Proxima Nova"/>
                <a:ea typeface="Proxima Nova"/>
                <a:cs typeface="Proxima Nova"/>
                <a:sym typeface="Proxima Nova"/>
              </a:rPr>
              <a:t>Subsequent trees are constructed iteratively to model the residual errors or unexplained variance of the current ensemble.</a:t>
            </a:r>
          </a:p>
          <a:p>
            <a:pPr marL="337669" lvl="1" indent="-168834" algn="l">
              <a:lnSpc>
                <a:spcPts val="1829"/>
              </a:lnSpc>
              <a:spcBef>
                <a:spcPct val="0"/>
              </a:spcBef>
              <a:buFont typeface="Arial"/>
              <a:buChar char="•"/>
            </a:pPr>
            <a:r>
              <a:rPr lang="en-US" sz="1564">
                <a:solidFill>
                  <a:srgbClr val="000000"/>
                </a:solidFill>
                <a:latin typeface="Proxima Nova"/>
                <a:ea typeface="Proxima Nova"/>
                <a:cs typeface="Proxima Nova"/>
                <a:sym typeface="Proxima Nova"/>
              </a:rPr>
              <a:t>Each new tree adds a functional contribution to the overall model, and this boosting process continues until a predefined number of trees is reached.</a:t>
            </a:r>
          </a:p>
          <a:p>
            <a:pPr algn="l">
              <a:lnSpc>
                <a:spcPts val="1829"/>
              </a:lnSpc>
              <a:spcBef>
                <a:spcPct val="0"/>
              </a:spcBef>
            </a:pPr>
            <a:endParaRPr lang="en-US" sz="1564">
              <a:solidFill>
                <a:srgbClr val="000000"/>
              </a:solidFill>
              <a:latin typeface="Proxima Nova"/>
              <a:ea typeface="Proxima Nova"/>
              <a:cs typeface="Proxima Nova"/>
              <a:sym typeface="Proxima Nova"/>
            </a:endParaRPr>
          </a:p>
        </p:txBody>
      </p:sp>
      <p:sp>
        <p:nvSpPr>
          <p:cNvPr id="6" name="TextBox 6"/>
          <p:cNvSpPr txBox="1"/>
          <p:nvPr/>
        </p:nvSpPr>
        <p:spPr>
          <a:xfrm>
            <a:off x="784509" y="2897232"/>
            <a:ext cx="6230057" cy="1148959"/>
          </a:xfrm>
          <a:prstGeom prst="rect">
            <a:avLst/>
          </a:prstGeom>
        </p:spPr>
        <p:txBody>
          <a:bodyPr lIns="0" tIns="0" rIns="0" bIns="0" rtlCol="0" anchor="t">
            <a:spAutoFit/>
          </a:bodyPr>
          <a:lstStyle/>
          <a:p>
            <a:pPr algn="just">
              <a:lnSpc>
                <a:spcPts val="1829"/>
              </a:lnSpc>
              <a:spcBef>
                <a:spcPct val="0"/>
              </a:spcBef>
            </a:pPr>
            <a:r>
              <a:rPr lang="en-US" sz="1564" b="1">
                <a:solidFill>
                  <a:srgbClr val="000000"/>
                </a:solidFill>
                <a:latin typeface="Proxima Nova Bold"/>
                <a:ea typeface="Proxima Nova Bold"/>
                <a:cs typeface="Proxima Nova Bold"/>
                <a:sym typeface="Proxima Nova Bold"/>
              </a:rPr>
              <a:t>XGBoost</a:t>
            </a:r>
            <a:r>
              <a:rPr lang="en-US" sz="1564">
                <a:solidFill>
                  <a:srgbClr val="000000"/>
                </a:solidFill>
                <a:latin typeface="Proxima Nova"/>
                <a:ea typeface="Proxima Nova"/>
                <a:cs typeface="Proxima Nova"/>
                <a:sym typeface="Proxima Nova"/>
              </a:rPr>
              <a:t> is an ensemble learning algorithm that leverages multiple decision trees to generate predictions. Unlike a single Decision Tree model, XGBoost constructs an ensemble of trees sequentially using the Gradient Boosting framework, where each subsequent tree is trained to correct the residual errors of its predecessors.</a:t>
            </a:r>
          </a:p>
        </p:txBody>
      </p:sp>
      <p:sp>
        <p:nvSpPr>
          <p:cNvPr id="7" name="TextBox 7"/>
          <p:cNvSpPr txBox="1"/>
          <p:nvPr/>
        </p:nvSpPr>
        <p:spPr>
          <a:xfrm>
            <a:off x="784509" y="7246499"/>
            <a:ext cx="6127240" cy="920359"/>
          </a:xfrm>
          <a:prstGeom prst="rect">
            <a:avLst/>
          </a:prstGeom>
        </p:spPr>
        <p:txBody>
          <a:bodyPr lIns="0" tIns="0" rIns="0" bIns="0" rtlCol="0" anchor="t">
            <a:spAutoFit/>
          </a:bodyPr>
          <a:lstStyle/>
          <a:p>
            <a:pPr algn="just">
              <a:lnSpc>
                <a:spcPts val="1829"/>
              </a:lnSpc>
              <a:spcBef>
                <a:spcPct val="0"/>
              </a:spcBef>
            </a:pPr>
            <a:r>
              <a:rPr lang="en-US" sz="1564">
                <a:solidFill>
                  <a:srgbClr val="000000"/>
                </a:solidFill>
                <a:latin typeface="Proxima Nova"/>
                <a:ea typeface="Proxima Nova"/>
                <a:cs typeface="Proxima Nova"/>
                <a:sym typeface="Proxima Nova"/>
              </a:rPr>
              <a:t>During inference, each sample traverses the decision nodes of individual trees until it reaches a terminal leaf node. Each leaf node holds a target prediction score (leaf weight). The output scores from all trees are aggregated to yield the final predicted SalePrice.</a:t>
            </a:r>
          </a:p>
        </p:txBody>
      </p:sp>
      <p:sp>
        <p:nvSpPr>
          <p:cNvPr id="8" name="TextBox 8"/>
          <p:cNvSpPr txBox="1"/>
          <p:nvPr/>
        </p:nvSpPr>
        <p:spPr>
          <a:xfrm>
            <a:off x="1905000" y="1571625"/>
            <a:ext cx="5286375" cy="1000125"/>
          </a:xfrm>
          <a:prstGeom prst="rect">
            <a:avLst/>
          </a:prstGeom>
        </p:spPr>
        <p:txBody>
          <a:bodyPr wrap="square" lIns="0" tIns="0" rIns="0" bIns="0" rtlCol="0" anchor="t">
            <a:spAutoFit/>
          </a:bodyPr>
          <a:lstStyle/>
          <a:p>
            <a:pPr algn="l">
              <a:lnSpc>
                <a:spcPts val="7208"/>
              </a:lnSpc>
              <a:spcBef>
                <a:spcPct val="0"/>
              </a:spcBef>
            </a:pPr>
            <a:r>
              <a:rPr lang="en-US" sz="4500" b="1" i="1" dirty="0">
                <a:gradFill>
                  <a:gsLst>
                    <a:gs pos="0">
                      <a:srgbClr val="FF5757">
                        <a:alpha val="100000"/>
                      </a:srgbClr>
                    </a:gs>
                    <a:gs pos="100000">
                      <a:srgbClr val="8C52FF">
                        <a:alpha val="100000"/>
                      </a:srgbClr>
                    </a:gs>
                  </a:gsLst>
                  <a:lin ang="0"/>
                </a:gradFill>
                <a:latin typeface="Proxima Nova Bold Italics"/>
                <a:ea typeface="Proxima Nova Bold Italics"/>
                <a:cs typeface="Proxima Nova Bold Italics"/>
                <a:sym typeface="Proxima Nova Bold Italics"/>
              </a:rPr>
              <a:t>XGBOOST</a:t>
            </a:r>
          </a:p>
        </p:txBody>
      </p:sp>
      <p:sp>
        <p:nvSpPr>
          <p:cNvPr id="9" name="TextBox 9"/>
          <p:cNvSpPr txBox="1"/>
          <p:nvPr/>
        </p:nvSpPr>
        <p:spPr>
          <a:xfrm>
            <a:off x="8382000" y="1685925"/>
            <a:ext cx="4286250" cy="666750"/>
          </a:xfrm>
          <a:prstGeom prst="rect">
            <a:avLst/>
          </a:prstGeom>
        </p:spPr>
        <p:txBody>
          <a:bodyPr lIns="0" tIns="0" rIns="0" bIns="0" rtlCol="0" anchor="t">
            <a:spAutoFit/>
          </a:bodyPr>
          <a:lstStyle/>
          <a:p>
            <a:pPr algn="ctr">
              <a:lnSpc>
                <a:spcPts val="2573"/>
              </a:lnSpc>
              <a:spcBef>
                <a:spcPct val="0"/>
              </a:spcBef>
            </a:pPr>
            <a:r>
              <a:rPr lang="en-US" sz="2300" b="1" i="1">
                <a:solidFill>
                  <a:srgbClr val="000000"/>
                </a:solidFill>
                <a:latin typeface="Proxima Nova Bold Italics"/>
                <a:ea typeface="Proxima Nova Bold Italics"/>
                <a:cs typeface="Proxima Nova Bold Italics"/>
                <a:sym typeface="Proxima Nova Bold Italics"/>
              </a:rPr>
              <a:t>Algorithm representation</a:t>
            </a:r>
          </a:p>
        </p:txBody>
      </p:sp>
      <p:sp>
        <p:nvSpPr>
          <p:cNvPr id="10" name="TextBox 10"/>
          <p:cNvSpPr txBox="1"/>
          <p:nvPr/>
        </p:nvSpPr>
        <p:spPr>
          <a:xfrm>
            <a:off x="8482854" y="3193420"/>
            <a:ext cx="5705475" cy="1436096"/>
          </a:xfrm>
          <a:prstGeom prst="rect">
            <a:avLst/>
          </a:prstGeom>
        </p:spPr>
        <p:txBody>
          <a:bodyPr lIns="0" tIns="0" rIns="0" bIns="0" rtlCol="0" anchor="t">
            <a:spAutoFit/>
          </a:bodyPr>
          <a:lstStyle/>
          <a:p>
            <a:pPr marL="416261" lvl="1" indent="-208130" algn="l">
              <a:lnSpc>
                <a:spcPts val="2255"/>
              </a:lnSpc>
              <a:spcBef>
                <a:spcPct val="0"/>
              </a:spcBef>
              <a:buFont typeface="Arial"/>
              <a:buChar char="•"/>
            </a:pPr>
            <a:r>
              <a:rPr lang="en-US" sz="1928" b="1">
                <a:solidFill>
                  <a:srgbClr val="000000"/>
                </a:solidFill>
                <a:latin typeface="Proxima Nova Bold"/>
                <a:ea typeface="Proxima Nova Bold"/>
                <a:cs typeface="Proxima Nova Bold"/>
                <a:sym typeface="Proxima Nova Bold"/>
              </a:rPr>
              <a:t>x:</a:t>
            </a:r>
            <a:r>
              <a:rPr lang="en-US" sz="1928">
                <a:solidFill>
                  <a:srgbClr val="000000"/>
                </a:solidFill>
                <a:latin typeface="Proxima Nova"/>
                <a:ea typeface="Proxima Nova"/>
                <a:cs typeface="Proxima Nova"/>
                <a:sym typeface="Proxima Nova"/>
              </a:rPr>
              <a:t> feature vector of a house;</a:t>
            </a:r>
          </a:p>
          <a:p>
            <a:pPr marL="416261" lvl="1" indent="-208130" algn="l">
              <a:lnSpc>
                <a:spcPts val="2255"/>
              </a:lnSpc>
              <a:spcBef>
                <a:spcPct val="0"/>
              </a:spcBef>
              <a:buFont typeface="Arial"/>
              <a:buChar char="•"/>
            </a:pPr>
            <a:r>
              <a:rPr lang="en-US" sz="1928" b="1">
                <a:solidFill>
                  <a:srgbClr val="000000"/>
                </a:solidFill>
                <a:latin typeface="Proxima Nova Bold"/>
                <a:ea typeface="Proxima Nova Bold"/>
                <a:cs typeface="Proxima Nova Bold"/>
                <a:sym typeface="Proxima Nova Bold"/>
              </a:rPr>
              <a:t>fₖ(x):</a:t>
            </a:r>
            <a:r>
              <a:rPr lang="en-US" sz="1928">
                <a:solidFill>
                  <a:srgbClr val="000000"/>
                </a:solidFill>
                <a:latin typeface="Proxima Nova"/>
                <a:ea typeface="Proxima Nova"/>
                <a:cs typeface="Proxima Nova"/>
                <a:sym typeface="Proxima Nova"/>
              </a:rPr>
              <a:t> prediction score of the k-th decision tree; </a:t>
            </a:r>
          </a:p>
          <a:p>
            <a:pPr marL="416261" lvl="1" indent="-208130" algn="l">
              <a:lnSpc>
                <a:spcPts val="2255"/>
              </a:lnSpc>
              <a:spcBef>
                <a:spcPct val="0"/>
              </a:spcBef>
              <a:buFont typeface="Arial"/>
              <a:buChar char="•"/>
            </a:pPr>
            <a:r>
              <a:rPr lang="en-US" sz="1928" b="1">
                <a:solidFill>
                  <a:srgbClr val="000000"/>
                </a:solidFill>
                <a:latin typeface="Proxima Nova Bold"/>
                <a:ea typeface="Proxima Nova Bold"/>
                <a:cs typeface="Proxima Nova Bold"/>
                <a:sym typeface="Proxima Nova Bold"/>
              </a:rPr>
              <a:t>k: </a:t>
            </a:r>
            <a:r>
              <a:rPr lang="en-US" sz="1928">
                <a:solidFill>
                  <a:srgbClr val="000000"/>
                </a:solidFill>
                <a:latin typeface="Proxima Nova"/>
                <a:ea typeface="Proxima Nova"/>
                <a:cs typeface="Proxima Nova"/>
                <a:sym typeface="Proxima Nova"/>
              </a:rPr>
              <a:t>total number of decision trees in the ensemble;</a:t>
            </a:r>
          </a:p>
          <a:p>
            <a:pPr marL="416261" lvl="1" indent="-208130" algn="l">
              <a:lnSpc>
                <a:spcPts val="2255"/>
              </a:lnSpc>
              <a:spcBef>
                <a:spcPct val="0"/>
              </a:spcBef>
              <a:buFont typeface="Arial"/>
              <a:buChar char="•"/>
            </a:pPr>
            <a:r>
              <a:rPr lang="en-US" sz="1928" b="1">
                <a:solidFill>
                  <a:srgbClr val="000000"/>
                </a:solidFill>
                <a:latin typeface="Proxima Nova Bold"/>
                <a:ea typeface="Proxima Nova Bold"/>
                <a:cs typeface="Proxima Nova Bold"/>
                <a:sym typeface="Proxima Nova Bold"/>
              </a:rPr>
              <a:t>ŷ(x):</a:t>
            </a:r>
            <a:r>
              <a:rPr lang="en-US" sz="1928">
                <a:solidFill>
                  <a:srgbClr val="000000"/>
                </a:solidFill>
                <a:latin typeface="Proxima Nova"/>
                <a:ea typeface="Proxima Nova"/>
                <a:cs typeface="Proxima Nova"/>
                <a:sym typeface="Proxima Nova"/>
              </a:rPr>
              <a:t> predicted SalePrice value. </a:t>
            </a:r>
          </a:p>
          <a:p>
            <a:pPr algn="l">
              <a:lnSpc>
                <a:spcPts val="2255"/>
              </a:lnSpc>
              <a:spcBef>
                <a:spcPct val="0"/>
              </a:spcBef>
            </a:pPr>
            <a:r>
              <a:rPr lang="en-US" sz="1928">
                <a:solidFill>
                  <a:srgbClr val="000000"/>
                </a:solidFill>
                <a:latin typeface="Proxima Nova"/>
                <a:ea typeface="Proxima Nova"/>
                <a:cs typeface="Proxima Nova"/>
                <a:sym typeface="Proxima Nova"/>
              </a:rPr>
              <a:t> </a:t>
            </a:r>
          </a:p>
        </p:txBody>
      </p:sp>
      <p:sp>
        <p:nvSpPr>
          <p:cNvPr id="12" name="TextBox 5">
            <a:extLst>
              <a:ext uri="{FF2B5EF4-FFF2-40B4-BE49-F238E27FC236}">
                <a16:creationId xmlns:a16="http://schemas.microsoft.com/office/drawing/2014/main" id="{1FE5359E-6AAE-C7EF-95D6-05E0480D2DC9}"/>
              </a:ext>
            </a:extLst>
          </p:cNvPr>
          <p:cNvSpPr txBox="1"/>
          <p:nvPr/>
        </p:nvSpPr>
        <p:spPr>
          <a:xfrm>
            <a:off x="5314415" y="19050"/>
            <a:ext cx="7487185" cy="872034"/>
          </a:xfrm>
          <a:prstGeom prst="rect">
            <a:avLst/>
          </a:prstGeom>
        </p:spPr>
        <p:txBody>
          <a:bodyPr wrap="square" lIns="0" tIns="0" rIns="0" bIns="0" rtlCol="0" anchor="t">
            <a:spAutoFit/>
          </a:bodyPr>
          <a:lstStyle/>
          <a:p>
            <a:pPr algn="l">
              <a:lnSpc>
                <a:spcPts val="6805"/>
              </a:lnSpc>
              <a:spcBef>
                <a:spcPct val="0"/>
              </a:spcBef>
            </a:pPr>
            <a:r>
              <a:rPr lang="en-US" sz="5816" dirty="0">
                <a:gradFill>
                  <a:gsLst>
                    <a:gs pos="0">
                      <a:srgbClr val="FF3131">
                        <a:alpha val="100000"/>
                      </a:srgbClr>
                    </a:gs>
                    <a:gs pos="100000">
                      <a:srgbClr val="FF914D">
                        <a:alpha val="100000"/>
                      </a:srgbClr>
                    </a:gs>
                  </a:gsLst>
                  <a:lin ang="0"/>
                </a:gradFill>
                <a:latin typeface="Calistoga"/>
                <a:ea typeface="Calistoga"/>
                <a:cs typeface="Calistoga"/>
                <a:sym typeface="Calistoga"/>
              </a:rPr>
              <a:t>5. Proposed Methods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8301819" y="3429284"/>
            <a:ext cx="4599655" cy="1343016"/>
          </a:xfrm>
          <a:custGeom>
            <a:avLst/>
            <a:gdLst/>
            <a:ahLst/>
            <a:cxnLst/>
            <a:rect l="l" t="t" r="r" b="b"/>
            <a:pathLst>
              <a:path w="4599655" h="1343016">
                <a:moveTo>
                  <a:pt x="0" y="0"/>
                </a:moveTo>
                <a:lnTo>
                  <a:pt x="4599655" y="0"/>
                </a:lnTo>
                <a:lnTo>
                  <a:pt x="4599655" y="1343016"/>
                </a:lnTo>
                <a:lnTo>
                  <a:pt x="0" y="1343016"/>
                </a:lnTo>
                <a:lnTo>
                  <a:pt x="0" y="0"/>
                </a:lnTo>
                <a:close/>
              </a:path>
            </a:pathLst>
          </a:custGeom>
          <a:blipFill>
            <a:blip r:embed="rId3"/>
            <a:stretch>
              <a:fillRect/>
            </a:stretch>
          </a:blipFill>
        </p:spPr>
      </p:sp>
      <p:sp>
        <p:nvSpPr>
          <p:cNvPr id="4" name="TextBox 4"/>
          <p:cNvSpPr txBox="1"/>
          <p:nvPr/>
        </p:nvSpPr>
        <p:spPr>
          <a:xfrm>
            <a:off x="1037923" y="2605381"/>
            <a:ext cx="5627580" cy="3892159"/>
          </a:xfrm>
          <a:prstGeom prst="rect">
            <a:avLst/>
          </a:prstGeom>
        </p:spPr>
        <p:txBody>
          <a:bodyPr lIns="0" tIns="0" rIns="0" bIns="0" rtlCol="0" anchor="t">
            <a:spAutoFit/>
          </a:bodyPr>
          <a:lstStyle/>
          <a:p>
            <a:pPr algn="just">
              <a:lnSpc>
                <a:spcPts val="1829"/>
              </a:lnSpc>
              <a:spcBef>
                <a:spcPct val="0"/>
              </a:spcBef>
            </a:pPr>
            <a:r>
              <a:rPr lang="en-US" sz="1564" b="1" i="1">
                <a:solidFill>
                  <a:srgbClr val="000000"/>
                </a:solidFill>
                <a:latin typeface="Proxima Nova Bold Italics"/>
                <a:ea typeface="Proxima Nova Bold Italics"/>
                <a:cs typeface="Proxima Nova Bold Italics"/>
                <a:sym typeface="Proxima Nova Bold Italics"/>
              </a:rPr>
              <a:t>Artificial Neural Networks</a:t>
            </a:r>
            <a:r>
              <a:rPr lang="en-US" sz="1564" i="1">
                <a:solidFill>
                  <a:srgbClr val="000000"/>
                </a:solidFill>
                <a:latin typeface="Proxima Nova Italics"/>
                <a:ea typeface="Proxima Nova Italics"/>
                <a:cs typeface="Proxima Nova Italics"/>
                <a:sym typeface="Proxima Nova Italics"/>
              </a:rPr>
              <a:t> are deep learning models designed to capture complex mapping functions between input features and target variables. In this study, an ANN model is implemented using the Keras framework as a Sequential feedforward network to predict housing prices (SalePrice).</a:t>
            </a:r>
          </a:p>
          <a:p>
            <a:pPr algn="just">
              <a:lnSpc>
                <a:spcPts val="1829"/>
              </a:lnSpc>
              <a:spcBef>
                <a:spcPct val="0"/>
              </a:spcBef>
            </a:pPr>
            <a:endParaRPr lang="en-US" sz="1564" i="1">
              <a:solidFill>
                <a:srgbClr val="000000"/>
              </a:solidFill>
              <a:latin typeface="Proxima Nova Italics"/>
              <a:ea typeface="Proxima Nova Italics"/>
              <a:cs typeface="Proxima Nova Italics"/>
              <a:sym typeface="Proxima Nova Italics"/>
            </a:endParaRPr>
          </a:p>
          <a:p>
            <a:pPr algn="just">
              <a:lnSpc>
                <a:spcPts val="1829"/>
              </a:lnSpc>
              <a:spcBef>
                <a:spcPct val="0"/>
              </a:spcBef>
            </a:pPr>
            <a:endParaRPr lang="en-US" sz="1564" i="1">
              <a:solidFill>
                <a:srgbClr val="000000"/>
              </a:solidFill>
              <a:latin typeface="Proxima Nova Italics"/>
              <a:ea typeface="Proxima Nova Italics"/>
              <a:cs typeface="Proxima Nova Italics"/>
              <a:sym typeface="Proxima Nova Italics"/>
            </a:endParaRPr>
          </a:p>
          <a:p>
            <a:pPr algn="l">
              <a:lnSpc>
                <a:spcPts val="1829"/>
              </a:lnSpc>
              <a:spcBef>
                <a:spcPct val="0"/>
              </a:spcBef>
            </a:pPr>
            <a:r>
              <a:rPr lang="en-US" sz="1564" b="1" i="1">
                <a:solidFill>
                  <a:srgbClr val="000000"/>
                </a:solidFill>
                <a:latin typeface="Proxima Nova Bold Italics"/>
                <a:ea typeface="Proxima Nova Bold Italics"/>
                <a:cs typeface="Proxima Nova Bold Italics"/>
                <a:sym typeface="Proxima Nova Bold Italics"/>
              </a:rPr>
              <a:t>Working Principle:</a:t>
            </a:r>
          </a:p>
          <a:p>
            <a:pPr algn="l">
              <a:lnSpc>
                <a:spcPts val="1829"/>
              </a:lnSpc>
              <a:spcBef>
                <a:spcPct val="0"/>
              </a:spcBef>
            </a:pPr>
            <a:endParaRPr lang="en-US" sz="1564" b="1" i="1">
              <a:solidFill>
                <a:srgbClr val="000000"/>
              </a:solidFill>
              <a:latin typeface="Proxima Nova Bold Italics"/>
              <a:ea typeface="Proxima Nova Bold Italics"/>
              <a:cs typeface="Proxima Nova Bold Italics"/>
              <a:sym typeface="Proxima Nova Bold Italics"/>
            </a:endParaRPr>
          </a:p>
          <a:p>
            <a:pPr marL="337669" lvl="1" indent="-168834" algn="l">
              <a:lnSpc>
                <a:spcPts val="1829"/>
              </a:lnSpc>
              <a:spcBef>
                <a:spcPct val="0"/>
              </a:spcBef>
              <a:buFont typeface="Arial"/>
              <a:buChar char="•"/>
            </a:pPr>
            <a:r>
              <a:rPr lang="en-US" sz="1564">
                <a:solidFill>
                  <a:srgbClr val="000000"/>
                </a:solidFill>
                <a:latin typeface="Proxima Nova"/>
                <a:ea typeface="Proxima Nova"/>
                <a:cs typeface="Proxima Nova"/>
                <a:sym typeface="Proxima Nova"/>
              </a:rPr>
              <a:t>The network receives preprocessed house attributes at the input layer and propagates data sequentially through fully connected (Dense) layers.</a:t>
            </a:r>
          </a:p>
          <a:p>
            <a:pPr marL="337669" lvl="1" indent="-168834" algn="l">
              <a:lnSpc>
                <a:spcPts val="1829"/>
              </a:lnSpc>
              <a:spcBef>
                <a:spcPct val="0"/>
              </a:spcBef>
              <a:buFont typeface="Arial"/>
              <a:buChar char="•"/>
            </a:pPr>
            <a:r>
              <a:rPr lang="en-US" sz="1564">
                <a:solidFill>
                  <a:srgbClr val="000000"/>
                </a:solidFill>
                <a:latin typeface="Proxima Nova"/>
                <a:ea typeface="Proxima Nova"/>
                <a:cs typeface="Proxima Nova"/>
                <a:sym typeface="Proxima Nova"/>
              </a:rPr>
              <a:t>Each neuron performs a linear transformation on its input features using trainable weights and biases, followed by an activation function to generate output activations for the subsequent layer.</a:t>
            </a:r>
          </a:p>
          <a:p>
            <a:pPr algn="l">
              <a:lnSpc>
                <a:spcPts val="1829"/>
              </a:lnSpc>
              <a:spcBef>
                <a:spcPct val="0"/>
              </a:spcBef>
            </a:pPr>
            <a:endParaRPr lang="en-US" sz="1564">
              <a:solidFill>
                <a:srgbClr val="000000"/>
              </a:solidFill>
              <a:latin typeface="Proxima Nova"/>
              <a:ea typeface="Proxima Nova"/>
              <a:cs typeface="Proxima Nova"/>
              <a:sym typeface="Proxima Nova"/>
            </a:endParaRPr>
          </a:p>
        </p:txBody>
      </p:sp>
      <p:sp>
        <p:nvSpPr>
          <p:cNvPr id="5" name="TextBox 5"/>
          <p:cNvSpPr txBox="1"/>
          <p:nvPr/>
        </p:nvSpPr>
        <p:spPr>
          <a:xfrm>
            <a:off x="5314415" y="19050"/>
            <a:ext cx="7487185" cy="872034"/>
          </a:xfrm>
          <a:prstGeom prst="rect">
            <a:avLst/>
          </a:prstGeom>
        </p:spPr>
        <p:txBody>
          <a:bodyPr wrap="square" lIns="0" tIns="0" rIns="0" bIns="0" rtlCol="0" anchor="t">
            <a:spAutoFit/>
          </a:bodyPr>
          <a:lstStyle/>
          <a:p>
            <a:pPr algn="l">
              <a:lnSpc>
                <a:spcPts val="6805"/>
              </a:lnSpc>
              <a:spcBef>
                <a:spcPct val="0"/>
              </a:spcBef>
            </a:pPr>
            <a:r>
              <a:rPr lang="en-US" sz="5816" dirty="0">
                <a:gradFill>
                  <a:gsLst>
                    <a:gs pos="0">
                      <a:srgbClr val="FF3131">
                        <a:alpha val="100000"/>
                      </a:srgbClr>
                    </a:gs>
                    <a:gs pos="100000">
                      <a:srgbClr val="FF914D">
                        <a:alpha val="100000"/>
                      </a:srgbClr>
                    </a:gs>
                  </a:gsLst>
                  <a:lin ang="0"/>
                </a:gradFill>
                <a:latin typeface="Calistoga"/>
                <a:ea typeface="Calistoga"/>
                <a:cs typeface="Calistoga"/>
                <a:sym typeface="Calistoga"/>
              </a:rPr>
              <a:t>5. Proposed Methods</a:t>
            </a:r>
          </a:p>
        </p:txBody>
      </p:sp>
      <p:sp>
        <p:nvSpPr>
          <p:cNvPr id="6" name="TextBox 6"/>
          <p:cNvSpPr txBox="1"/>
          <p:nvPr/>
        </p:nvSpPr>
        <p:spPr>
          <a:xfrm>
            <a:off x="7848291" y="4652908"/>
            <a:ext cx="5126347" cy="1606159"/>
          </a:xfrm>
          <a:prstGeom prst="rect">
            <a:avLst/>
          </a:prstGeom>
        </p:spPr>
        <p:txBody>
          <a:bodyPr lIns="0" tIns="0" rIns="0" bIns="0" rtlCol="0" anchor="t">
            <a:spAutoFit/>
          </a:bodyPr>
          <a:lstStyle/>
          <a:p>
            <a:pPr algn="l">
              <a:lnSpc>
                <a:spcPts val="1829"/>
              </a:lnSpc>
              <a:spcBef>
                <a:spcPct val="0"/>
              </a:spcBef>
            </a:pPr>
            <a:endParaRPr/>
          </a:p>
          <a:p>
            <a:pPr marL="337669" lvl="1" indent="-168834" algn="l">
              <a:lnSpc>
                <a:spcPts val="1829"/>
              </a:lnSpc>
              <a:spcBef>
                <a:spcPct val="0"/>
              </a:spcBef>
              <a:buFont typeface="Arial"/>
              <a:buChar char="•"/>
            </a:pPr>
            <a:r>
              <a:rPr lang="en-US" sz="1564" b="1" i="1">
                <a:solidFill>
                  <a:srgbClr val="000000"/>
                </a:solidFill>
                <a:latin typeface="Proxima Nova Bold Italics"/>
                <a:ea typeface="Proxima Nova Bold Italics"/>
                <a:cs typeface="Proxima Nova Bold Italics"/>
                <a:sym typeface="Proxima Nova Bold Italics"/>
              </a:rPr>
              <a:t>yᵢ : </a:t>
            </a:r>
            <a:r>
              <a:rPr lang="en-US" sz="1564" i="1">
                <a:solidFill>
                  <a:srgbClr val="000000"/>
                </a:solidFill>
                <a:latin typeface="Proxima Nova Italics"/>
                <a:ea typeface="Proxima Nova Italics"/>
                <a:cs typeface="Proxima Nova Italics"/>
                <a:sym typeface="Proxima Nova Italics"/>
              </a:rPr>
              <a:t>the ground-truth SalePrice value of the i-th instance;</a:t>
            </a:r>
          </a:p>
          <a:p>
            <a:pPr marL="337669" lvl="1" indent="-168834" algn="l">
              <a:lnSpc>
                <a:spcPts val="1829"/>
              </a:lnSpc>
              <a:spcBef>
                <a:spcPct val="0"/>
              </a:spcBef>
              <a:buFont typeface="Arial"/>
              <a:buChar char="•"/>
            </a:pPr>
            <a:r>
              <a:rPr lang="en-US" sz="1564" b="1" i="1">
                <a:solidFill>
                  <a:srgbClr val="000000"/>
                </a:solidFill>
                <a:latin typeface="Proxima Nova Bold Italics"/>
                <a:ea typeface="Proxima Nova Bold Italics"/>
                <a:cs typeface="Proxima Nova Bold Italics"/>
                <a:sym typeface="Proxima Nova Bold Italics"/>
              </a:rPr>
              <a:t>ŷᵢ :</a:t>
            </a:r>
            <a:r>
              <a:rPr lang="en-US" sz="1564" i="1">
                <a:solidFill>
                  <a:srgbClr val="000000"/>
                </a:solidFill>
                <a:latin typeface="Proxima Nova Italics"/>
                <a:ea typeface="Proxima Nova Italics"/>
                <a:cs typeface="Proxima Nova Italics"/>
                <a:sym typeface="Proxima Nova Italics"/>
              </a:rPr>
              <a:t> the predicted SalePrice value outputted by the ANN model;</a:t>
            </a:r>
          </a:p>
          <a:p>
            <a:pPr marL="337669" lvl="1" indent="-168834" algn="l">
              <a:lnSpc>
                <a:spcPts val="1829"/>
              </a:lnSpc>
              <a:spcBef>
                <a:spcPct val="0"/>
              </a:spcBef>
              <a:buFont typeface="Arial"/>
              <a:buChar char="•"/>
            </a:pPr>
            <a:r>
              <a:rPr lang="en-US" sz="1564" b="1" i="1">
                <a:solidFill>
                  <a:srgbClr val="000000"/>
                </a:solidFill>
                <a:latin typeface="Proxima Nova Bold Italics"/>
                <a:ea typeface="Proxima Nova Bold Italics"/>
                <a:cs typeface="Proxima Nova Bold Italics"/>
                <a:sym typeface="Proxima Nova Bold Italics"/>
              </a:rPr>
              <a:t>n: </a:t>
            </a:r>
            <a:r>
              <a:rPr lang="en-US" sz="1564" i="1">
                <a:solidFill>
                  <a:srgbClr val="000000"/>
                </a:solidFill>
                <a:latin typeface="Proxima Nova Italics"/>
                <a:ea typeface="Proxima Nova Italics"/>
                <a:cs typeface="Proxima Nova Italics"/>
                <a:sym typeface="Proxima Nova Italics"/>
              </a:rPr>
              <a:t>the total number of samples.</a:t>
            </a:r>
          </a:p>
          <a:p>
            <a:pPr algn="l">
              <a:lnSpc>
                <a:spcPts val="1829"/>
              </a:lnSpc>
              <a:spcBef>
                <a:spcPct val="0"/>
              </a:spcBef>
            </a:pPr>
            <a:endParaRPr lang="en-US" sz="1564" i="1">
              <a:solidFill>
                <a:srgbClr val="000000"/>
              </a:solidFill>
              <a:latin typeface="Proxima Nova Italics"/>
              <a:ea typeface="Proxima Nova Italics"/>
              <a:cs typeface="Proxima Nova Italics"/>
              <a:sym typeface="Proxima Nova Italics"/>
            </a:endParaRPr>
          </a:p>
        </p:txBody>
      </p:sp>
      <p:sp>
        <p:nvSpPr>
          <p:cNvPr id="7" name="TextBox 7"/>
          <p:cNvSpPr txBox="1"/>
          <p:nvPr/>
        </p:nvSpPr>
        <p:spPr>
          <a:xfrm>
            <a:off x="2286000" y="1571625"/>
            <a:ext cx="10953750" cy="714375"/>
          </a:xfrm>
          <a:prstGeom prst="rect">
            <a:avLst/>
          </a:prstGeom>
        </p:spPr>
        <p:txBody>
          <a:bodyPr wrap="square" lIns="0" tIns="0" rIns="0" bIns="0" rtlCol="0" anchor="t">
            <a:spAutoFit/>
          </a:bodyPr>
          <a:lstStyle/>
          <a:p>
            <a:pPr algn="ctr">
              <a:lnSpc>
                <a:spcPts val="4461"/>
              </a:lnSpc>
              <a:spcBef>
                <a:spcPct val="0"/>
              </a:spcBef>
            </a:pPr>
            <a:r>
              <a:rPr lang="en-US" sz="3100" b="1" i="1" dirty="0">
                <a:gradFill>
                  <a:gsLst>
                    <a:gs pos="0">
                      <a:srgbClr val="8C52FF">
                        <a:alpha val="100000"/>
                      </a:srgbClr>
                    </a:gs>
                    <a:gs pos="100000">
                      <a:srgbClr val="FF914D">
                        <a:alpha val="100000"/>
                      </a:srgbClr>
                    </a:gs>
                  </a:gsLst>
                  <a:lin ang="0"/>
                </a:gradFill>
                <a:latin typeface="Proxima Nova Bold Italics"/>
                <a:ea typeface="Proxima Nova Bold Italics"/>
                <a:cs typeface="Proxima Nova Bold Italics"/>
                <a:sym typeface="Proxima Nova Bold Italics"/>
              </a:rPr>
              <a:t>ARTIFICIAL NEURAL NETWORKS</a:t>
            </a:r>
          </a:p>
        </p:txBody>
      </p:sp>
      <p:sp>
        <p:nvSpPr>
          <p:cNvPr id="8" name="TextBox 8"/>
          <p:cNvSpPr txBox="1"/>
          <p:nvPr/>
        </p:nvSpPr>
        <p:spPr>
          <a:xfrm>
            <a:off x="7924623" y="2605381"/>
            <a:ext cx="5354045" cy="691759"/>
          </a:xfrm>
          <a:prstGeom prst="rect">
            <a:avLst/>
          </a:prstGeom>
        </p:spPr>
        <p:txBody>
          <a:bodyPr lIns="0" tIns="0" rIns="0" bIns="0" rtlCol="0" anchor="t">
            <a:spAutoFit/>
          </a:bodyPr>
          <a:lstStyle/>
          <a:p>
            <a:pPr algn="just">
              <a:lnSpc>
                <a:spcPts val="1829"/>
              </a:lnSpc>
              <a:spcBef>
                <a:spcPct val="0"/>
              </a:spcBef>
            </a:pPr>
            <a:r>
              <a:rPr lang="en-US" sz="1564" b="1" i="1">
                <a:solidFill>
                  <a:srgbClr val="000000"/>
                </a:solidFill>
                <a:latin typeface="Proxima Nova Bold Italics"/>
                <a:ea typeface="Proxima Nova Bold Italics"/>
                <a:cs typeface="Proxima Nova Bold Italics"/>
                <a:sym typeface="Proxima Nova Bold Italics"/>
              </a:rPr>
              <a:t>Loss Function: </a:t>
            </a:r>
            <a:r>
              <a:rPr lang="en-US" sz="1564">
                <a:solidFill>
                  <a:srgbClr val="000000"/>
                </a:solidFill>
                <a:latin typeface="Proxima Nova"/>
                <a:ea typeface="Proxima Nova"/>
                <a:cs typeface="Proxima Nova"/>
                <a:sym typeface="Proxima Nova"/>
              </a:rPr>
              <a:t>Root Mean Square Error (RMSE) is adopted as the objective loss function to measure the disparity between actual and predicted target values:</a:t>
            </a:r>
          </a:p>
        </p:txBody>
      </p:sp>
      <p:sp>
        <p:nvSpPr>
          <p:cNvPr id="9" name="TextBox 9"/>
          <p:cNvSpPr txBox="1"/>
          <p:nvPr/>
        </p:nvSpPr>
        <p:spPr>
          <a:xfrm>
            <a:off x="7922803" y="6455547"/>
            <a:ext cx="6000293" cy="2063359"/>
          </a:xfrm>
          <a:prstGeom prst="rect">
            <a:avLst/>
          </a:prstGeom>
        </p:spPr>
        <p:txBody>
          <a:bodyPr lIns="0" tIns="0" rIns="0" bIns="0" rtlCol="0" anchor="t">
            <a:spAutoFit/>
          </a:bodyPr>
          <a:lstStyle/>
          <a:p>
            <a:pPr algn="just">
              <a:lnSpc>
                <a:spcPts val="1829"/>
              </a:lnSpc>
              <a:spcBef>
                <a:spcPct val="0"/>
              </a:spcBef>
            </a:pPr>
            <a:r>
              <a:rPr lang="en-US" sz="1564">
                <a:solidFill>
                  <a:srgbClr val="000000"/>
                </a:solidFill>
                <a:latin typeface="Proxima Nova"/>
                <a:ea typeface="Proxima Nova"/>
                <a:cs typeface="Proxima Nova"/>
                <a:sym typeface="Proxima Nova"/>
              </a:rPr>
              <a:t>A lower RMSE value indicates a smaller prediction error relative to the actual housing prices.</a:t>
            </a:r>
          </a:p>
          <a:p>
            <a:pPr algn="just">
              <a:lnSpc>
                <a:spcPts val="1829"/>
              </a:lnSpc>
              <a:spcBef>
                <a:spcPct val="0"/>
              </a:spcBef>
            </a:pPr>
            <a:endParaRPr lang="en-US" sz="1564">
              <a:solidFill>
                <a:srgbClr val="000000"/>
              </a:solidFill>
              <a:latin typeface="Proxima Nova"/>
              <a:ea typeface="Proxima Nova"/>
              <a:cs typeface="Proxima Nova"/>
              <a:sym typeface="Proxima Nova"/>
            </a:endParaRPr>
          </a:p>
          <a:p>
            <a:pPr algn="just">
              <a:lnSpc>
                <a:spcPts val="1829"/>
              </a:lnSpc>
              <a:spcBef>
                <a:spcPct val="0"/>
              </a:spcBef>
            </a:pPr>
            <a:r>
              <a:rPr lang="en-US" sz="1564">
                <a:solidFill>
                  <a:srgbClr val="000000"/>
                </a:solidFill>
                <a:latin typeface="Proxima Nova"/>
                <a:ea typeface="Proxima Nova"/>
                <a:cs typeface="Proxima Nova"/>
                <a:sym typeface="Proxima Nova"/>
              </a:rPr>
              <a:t>Optimization: The Adamax optimizer is utilized to update network weights based on the loss function gradients. The training procedure executes via forward propagation to generate target predictions, computes the RMSE loss, and subsequently performs backpropagation to propagate errors backward and update model parameters.</a:t>
            </a:r>
          </a:p>
        </p:txBody>
      </p:sp>
      <p:sp>
        <p:nvSpPr>
          <p:cNvPr id="515" name="English ">
            <a:extLst>
              <a:ext uri="{FF2B5EF4-FFF2-40B4-BE49-F238E27FC236}">
                <a16:creationId xmlns:a16="http://schemas.microsoft.com/office/drawing/2014/main" id="{ECBFFEDA-AFA9-4D3B-B518-BAD23D540D98}"/>
              </a:ext>
            </a:extLst>
          </p:cNvPr>
          <p:cNvSpPr>
            <a:spLocks noGrp="1"/>
          </p:cNvSpPr>
          <p:nvPr/>
        </p:nvSpPr>
        <p:spPr>
          <a:xfrm>
            <a:off x="14287500" y="2000250"/>
            <a:ext cx="3238500" cy="381000"/>
          </a:xfrm>
          <a:prstGeom prst="rect">
            <a:avLst/>
          </a:prstGeom>
          <a:noFill/>
          <a:ln w="0">
            <a:noFill/>
          </a:ln>
        </p:spPr>
        <p:txBody>
          <a:bodyPr>
            <a:noAutofit/>
          </a:bodyPr>
          <a:lstStyle/>
          <a:p>
            <a:pPr>
              <a:defRPr sz="1875" b="1">
                <a:solidFill>
                  <a:srgbClr val="222222"/>
                </a:solidFill>
                <a:latin typeface="Arial"/>
                <a:ea typeface="Arial"/>
                <a:cs typeface="Arial"/>
              </a:defRPr>
            </a:pPr>
            <a:r>
              <a:rPr sz="1875" b="1">
                <a:solidFill>
                  <a:srgbClr val="222222"/>
                </a:solidFill>
                <a:latin typeface="Arial"/>
                <a:ea typeface="Arial"/>
                <a:cs typeface="Arial"/>
              </a:rPr>
              <a:t>INPUT LAYER</a:t>
            </a:r>
          </a:p>
        </p:txBody>
      </p:sp>
      <p:sp>
        <p:nvSpPr>
          <p:cNvPr id="502" name="English ">
            <a:extLst>
              <a:ext uri="{FF2B5EF4-FFF2-40B4-BE49-F238E27FC236}">
                <a16:creationId xmlns:a16="http://schemas.microsoft.com/office/drawing/2014/main" id="{132D8509-2AC4-400D-978B-B227EF82D4F3}"/>
              </a:ext>
            </a:extLst>
          </p:cNvPr>
          <p:cNvSpPr>
            <a:spLocks noGrp="1"/>
          </p:cNvSpPr>
          <p:nvPr/>
        </p:nvSpPr>
        <p:spPr>
          <a:xfrm>
            <a:off x="14954250" y="2524125"/>
            <a:ext cx="1952625" cy="666750"/>
          </a:xfrm>
          <a:prstGeom prst="roundRect">
            <a:avLst>
              <a:gd name="adj" fmla="val 11429"/>
            </a:avLst>
          </a:prstGeom>
          <a:solidFill>
            <a:srgbClr val="FFFFFF"/>
          </a:solidFill>
          <a:ln w="19050">
            <a:solidFill>
              <a:srgbClr val="9471CF"/>
            </a:solidFill>
          </a:ln>
        </p:spPr>
        <p:txBody>
          <a:bodyPr anchor="ctr"/>
          <a:lstStyle/>
          <a:p>
            <a:pPr algn="ctr">
              <a:defRPr sz="1875">
                <a:solidFill>
                  <a:srgbClr val="222222"/>
                </a:solidFill>
                <a:latin typeface="Arial"/>
                <a:ea typeface="Arial"/>
                <a:cs typeface="Arial"/>
              </a:defRPr>
            </a:pPr>
            <a:r>
              <a:rPr sz="1875">
                <a:solidFill>
                  <a:srgbClr val="222222"/>
                </a:solidFill>
                <a:latin typeface="Arial"/>
                <a:ea typeface="Arial"/>
                <a:cs typeface="Arial"/>
              </a:rPr>
              <a:t>Input</a:t>
            </a:r>
          </a:p>
        </p:txBody>
      </p:sp>
      <p:sp>
        <p:nvSpPr>
          <p:cNvPr id="503" name="English ">
            <a:extLst>
              <a:ext uri="{FF2B5EF4-FFF2-40B4-BE49-F238E27FC236}">
                <a16:creationId xmlns:a16="http://schemas.microsoft.com/office/drawing/2014/main" id="{62D52CFA-802E-45DA-BE14-5F3DF9440E42}"/>
              </a:ext>
            </a:extLst>
          </p:cNvPr>
          <p:cNvSpPr>
            <a:spLocks noGrp="1"/>
          </p:cNvSpPr>
          <p:nvPr/>
        </p:nvSpPr>
        <p:spPr>
          <a:xfrm>
            <a:off x="15811500" y="3286125"/>
            <a:ext cx="209550" cy="428625"/>
          </a:xfrm>
          <a:prstGeom prst="downArrow">
            <a:avLst/>
          </a:prstGeom>
          <a:solidFill>
            <a:srgbClr val="5A75B8"/>
          </a:solidFill>
          <a:ln w="0">
            <a:noFill/>
          </a:ln>
        </p:spPr>
      </p:sp>
      <p:sp>
        <p:nvSpPr>
          <p:cNvPr id="504" name="English ">
            <a:extLst>
              <a:ext uri="{FF2B5EF4-FFF2-40B4-BE49-F238E27FC236}">
                <a16:creationId xmlns:a16="http://schemas.microsoft.com/office/drawing/2014/main" id="{CA9FF4C2-C0B8-495C-94EE-70FC4C00A76A}"/>
              </a:ext>
            </a:extLst>
          </p:cNvPr>
          <p:cNvSpPr>
            <a:spLocks noGrp="1"/>
          </p:cNvSpPr>
          <p:nvPr/>
        </p:nvSpPr>
        <p:spPr>
          <a:xfrm>
            <a:off x="14287500" y="3829050"/>
            <a:ext cx="3238500" cy="381000"/>
          </a:xfrm>
          <a:prstGeom prst="rect">
            <a:avLst/>
          </a:prstGeom>
          <a:noFill/>
          <a:ln w="0">
            <a:noFill/>
          </a:ln>
        </p:spPr>
        <p:txBody>
          <a:bodyPr>
            <a:noAutofit/>
          </a:bodyPr>
          <a:lstStyle/>
          <a:p>
            <a:pPr>
              <a:defRPr sz="1875" b="1">
                <a:solidFill>
                  <a:srgbClr val="222222"/>
                </a:solidFill>
                <a:latin typeface="Arial"/>
                <a:ea typeface="Arial"/>
                <a:cs typeface="Arial"/>
              </a:defRPr>
            </a:pPr>
            <a:r>
              <a:rPr sz="1875" b="1">
                <a:solidFill>
                  <a:srgbClr val="222222"/>
                </a:solidFill>
                <a:latin typeface="Arial"/>
                <a:ea typeface="Arial"/>
                <a:cs typeface="Arial"/>
              </a:rPr>
              <a:t>HIDDEN LAYERS</a:t>
            </a:r>
          </a:p>
        </p:txBody>
      </p:sp>
      <p:sp>
        <p:nvSpPr>
          <p:cNvPr id="505" name="English ">
            <a:extLst>
              <a:ext uri="{FF2B5EF4-FFF2-40B4-BE49-F238E27FC236}">
                <a16:creationId xmlns:a16="http://schemas.microsoft.com/office/drawing/2014/main" id="{950F0A2E-95C6-454A-B28D-C41BF6892220}"/>
              </a:ext>
            </a:extLst>
          </p:cNvPr>
          <p:cNvSpPr>
            <a:spLocks noGrp="1"/>
          </p:cNvSpPr>
          <p:nvPr/>
        </p:nvSpPr>
        <p:spPr>
          <a:xfrm>
            <a:off x="14954250" y="4381500"/>
            <a:ext cx="1952625" cy="619125"/>
          </a:xfrm>
          <a:prstGeom prst="roundRect">
            <a:avLst>
              <a:gd name="adj" fmla="val 12308"/>
            </a:avLst>
          </a:prstGeom>
          <a:solidFill>
            <a:srgbClr val="19A1D3"/>
          </a:solidFill>
          <a:ln w="19050">
            <a:solidFill>
              <a:srgbClr val="9471CF"/>
            </a:solidFill>
          </a:ln>
        </p:spPr>
        <p:txBody>
          <a:bodyPr anchor="ctr"/>
          <a:lstStyle/>
          <a:p>
            <a:pPr algn="ctr">
              <a:defRPr sz="1875">
                <a:solidFill>
                  <a:srgbClr val="222222"/>
                </a:solidFill>
                <a:latin typeface="Arial"/>
                <a:ea typeface="Arial"/>
                <a:cs typeface="Arial"/>
              </a:defRPr>
            </a:pPr>
            <a:r>
              <a:rPr sz="1875">
                <a:solidFill>
                  <a:srgbClr val="222222"/>
                </a:solidFill>
                <a:latin typeface="Arial"/>
                <a:ea typeface="Arial"/>
                <a:cs typeface="Arial"/>
              </a:rPr>
              <a:t>Dense 1</a:t>
            </a:r>
          </a:p>
        </p:txBody>
      </p:sp>
      <p:sp>
        <p:nvSpPr>
          <p:cNvPr id="506" name="English ">
            <a:extLst>
              <a:ext uri="{FF2B5EF4-FFF2-40B4-BE49-F238E27FC236}">
                <a16:creationId xmlns:a16="http://schemas.microsoft.com/office/drawing/2014/main" id="{B7998F86-9FEA-4A8D-8D0E-F2E8A05C226B}"/>
              </a:ext>
            </a:extLst>
          </p:cNvPr>
          <p:cNvSpPr>
            <a:spLocks noGrp="1"/>
          </p:cNvSpPr>
          <p:nvPr/>
        </p:nvSpPr>
        <p:spPr>
          <a:xfrm>
            <a:off x="15811500" y="5067300"/>
            <a:ext cx="209550" cy="285750"/>
          </a:xfrm>
          <a:prstGeom prst="downArrow">
            <a:avLst/>
          </a:prstGeom>
          <a:solidFill>
            <a:srgbClr val="5A75B8"/>
          </a:solidFill>
          <a:ln w="0">
            <a:noFill/>
          </a:ln>
        </p:spPr>
      </p:sp>
      <p:sp>
        <p:nvSpPr>
          <p:cNvPr id="507" name="English ">
            <a:extLst>
              <a:ext uri="{FF2B5EF4-FFF2-40B4-BE49-F238E27FC236}">
                <a16:creationId xmlns:a16="http://schemas.microsoft.com/office/drawing/2014/main" id="{A5CC3A76-36B4-4484-98BE-614A5E283EFB}"/>
              </a:ext>
            </a:extLst>
          </p:cNvPr>
          <p:cNvSpPr>
            <a:spLocks noGrp="1"/>
          </p:cNvSpPr>
          <p:nvPr/>
        </p:nvSpPr>
        <p:spPr>
          <a:xfrm>
            <a:off x="14954250" y="5476875"/>
            <a:ext cx="1952625" cy="619125"/>
          </a:xfrm>
          <a:prstGeom prst="roundRect">
            <a:avLst>
              <a:gd name="adj" fmla="val 12308"/>
            </a:avLst>
          </a:prstGeom>
          <a:solidFill>
            <a:srgbClr val="19A1D3"/>
          </a:solidFill>
          <a:ln w="19050">
            <a:solidFill>
              <a:srgbClr val="9471CF"/>
            </a:solidFill>
          </a:ln>
        </p:spPr>
        <p:txBody>
          <a:bodyPr anchor="ctr"/>
          <a:lstStyle/>
          <a:p>
            <a:pPr algn="ctr">
              <a:defRPr sz="1875">
                <a:solidFill>
                  <a:srgbClr val="222222"/>
                </a:solidFill>
                <a:latin typeface="Arial"/>
                <a:ea typeface="Arial"/>
                <a:cs typeface="Arial"/>
              </a:defRPr>
            </a:pPr>
            <a:r>
              <a:rPr sz="1875">
                <a:solidFill>
                  <a:srgbClr val="222222"/>
                </a:solidFill>
                <a:latin typeface="Arial"/>
                <a:ea typeface="Arial"/>
                <a:cs typeface="Arial"/>
              </a:rPr>
              <a:t>Dense 2</a:t>
            </a:r>
          </a:p>
        </p:txBody>
      </p:sp>
      <p:sp>
        <p:nvSpPr>
          <p:cNvPr id="508" name="English ">
            <a:extLst>
              <a:ext uri="{FF2B5EF4-FFF2-40B4-BE49-F238E27FC236}">
                <a16:creationId xmlns:a16="http://schemas.microsoft.com/office/drawing/2014/main" id="{83C89DF6-1A4D-4DD8-A69A-F96B21070895}"/>
              </a:ext>
            </a:extLst>
          </p:cNvPr>
          <p:cNvSpPr>
            <a:spLocks noGrp="1"/>
          </p:cNvSpPr>
          <p:nvPr/>
        </p:nvSpPr>
        <p:spPr>
          <a:xfrm>
            <a:off x="15811500" y="6162675"/>
            <a:ext cx="209550" cy="285750"/>
          </a:xfrm>
          <a:prstGeom prst="downArrow">
            <a:avLst/>
          </a:prstGeom>
          <a:solidFill>
            <a:srgbClr val="5A75B8"/>
          </a:solidFill>
          <a:ln w="0">
            <a:noFill/>
          </a:ln>
        </p:spPr>
      </p:sp>
      <p:sp>
        <p:nvSpPr>
          <p:cNvPr id="509" name="English ">
            <a:extLst>
              <a:ext uri="{FF2B5EF4-FFF2-40B4-BE49-F238E27FC236}">
                <a16:creationId xmlns:a16="http://schemas.microsoft.com/office/drawing/2014/main" id="{CD568923-1475-433B-9FC9-CD929CBEAEB1}"/>
              </a:ext>
            </a:extLst>
          </p:cNvPr>
          <p:cNvSpPr>
            <a:spLocks noGrp="1"/>
          </p:cNvSpPr>
          <p:nvPr/>
        </p:nvSpPr>
        <p:spPr>
          <a:xfrm>
            <a:off x="14954250" y="6572250"/>
            <a:ext cx="1952625" cy="619125"/>
          </a:xfrm>
          <a:prstGeom prst="roundRect">
            <a:avLst>
              <a:gd name="adj" fmla="val 12308"/>
            </a:avLst>
          </a:prstGeom>
          <a:solidFill>
            <a:srgbClr val="19A1D3"/>
          </a:solidFill>
          <a:ln w="19050">
            <a:solidFill>
              <a:srgbClr val="9471CF"/>
            </a:solidFill>
          </a:ln>
        </p:spPr>
        <p:txBody>
          <a:bodyPr anchor="ctr"/>
          <a:lstStyle/>
          <a:p>
            <a:pPr algn="ctr">
              <a:defRPr sz="1875">
                <a:solidFill>
                  <a:srgbClr val="222222"/>
                </a:solidFill>
                <a:latin typeface="Arial"/>
                <a:ea typeface="Arial"/>
                <a:cs typeface="Arial"/>
              </a:defRPr>
            </a:pPr>
            <a:r>
              <a:rPr sz="1875">
                <a:solidFill>
                  <a:srgbClr val="222222"/>
                </a:solidFill>
                <a:latin typeface="Arial"/>
                <a:ea typeface="Arial"/>
                <a:cs typeface="Arial"/>
              </a:rPr>
              <a:t>Dense 3</a:t>
            </a:r>
          </a:p>
        </p:txBody>
      </p:sp>
      <p:sp>
        <p:nvSpPr>
          <p:cNvPr id="510" name="English ">
            <a:extLst>
              <a:ext uri="{FF2B5EF4-FFF2-40B4-BE49-F238E27FC236}">
                <a16:creationId xmlns:a16="http://schemas.microsoft.com/office/drawing/2014/main" id="{47D375F1-5997-4A4F-BE97-860EB3BEC41F}"/>
              </a:ext>
            </a:extLst>
          </p:cNvPr>
          <p:cNvSpPr>
            <a:spLocks noGrp="1"/>
          </p:cNvSpPr>
          <p:nvPr/>
        </p:nvSpPr>
        <p:spPr>
          <a:xfrm>
            <a:off x="15811500" y="7258050"/>
            <a:ext cx="209550" cy="285750"/>
          </a:xfrm>
          <a:prstGeom prst="downArrow">
            <a:avLst/>
          </a:prstGeom>
          <a:solidFill>
            <a:srgbClr val="5A75B8"/>
          </a:solidFill>
          <a:ln w="0">
            <a:noFill/>
          </a:ln>
        </p:spPr>
      </p:sp>
      <p:sp>
        <p:nvSpPr>
          <p:cNvPr id="511" name="English ">
            <a:extLst>
              <a:ext uri="{FF2B5EF4-FFF2-40B4-BE49-F238E27FC236}">
                <a16:creationId xmlns:a16="http://schemas.microsoft.com/office/drawing/2014/main" id="{71ED5697-FA87-4E2D-BC52-DDE48893D2A7}"/>
              </a:ext>
            </a:extLst>
          </p:cNvPr>
          <p:cNvSpPr>
            <a:spLocks noGrp="1"/>
          </p:cNvSpPr>
          <p:nvPr/>
        </p:nvSpPr>
        <p:spPr>
          <a:xfrm>
            <a:off x="14287500" y="7810500"/>
            <a:ext cx="3238500" cy="381000"/>
          </a:xfrm>
          <a:prstGeom prst="rect">
            <a:avLst/>
          </a:prstGeom>
          <a:noFill/>
          <a:ln w="0">
            <a:noFill/>
          </a:ln>
        </p:spPr>
        <p:txBody>
          <a:bodyPr>
            <a:noAutofit/>
          </a:bodyPr>
          <a:lstStyle/>
          <a:p>
            <a:pPr>
              <a:defRPr sz="1875" b="1">
                <a:solidFill>
                  <a:srgbClr val="222222"/>
                </a:solidFill>
                <a:latin typeface="Arial"/>
                <a:ea typeface="Arial"/>
                <a:cs typeface="Arial"/>
              </a:defRPr>
            </a:pPr>
            <a:r>
              <a:rPr sz="1875" b="1">
                <a:solidFill>
                  <a:srgbClr val="222222"/>
                </a:solidFill>
                <a:latin typeface="Arial"/>
                <a:ea typeface="Arial"/>
                <a:cs typeface="Arial"/>
              </a:rPr>
              <a:t>OUTPUT LAYER</a:t>
            </a:r>
          </a:p>
        </p:txBody>
      </p:sp>
      <p:sp>
        <p:nvSpPr>
          <p:cNvPr id="512" name="English ">
            <a:extLst>
              <a:ext uri="{FF2B5EF4-FFF2-40B4-BE49-F238E27FC236}">
                <a16:creationId xmlns:a16="http://schemas.microsoft.com/office/drawing/2014/main" id="{DDB01DA9-F576-4CB4-8793-B01CE47629A9}"/>
              </a:ext>
            </a:extLst>
          </p:cNvPr>
          <p:cNvSpPr>
            <a:spLocks noGrp="1"/>
          </p:cNvSpPr>
          <p:nvPr/>
        </p:nvSpPr>
        <p:spPr>
          <a:xfrm>
            <a:off x="14954250" y="8334375"/>
            <a:ext cx="1952625" cy="619125"/>
          </a:xfrm>
          <a:prstGeom prst="roundRect">
            <a:avLst>
              <a:gd name="adj" fmla="val 12308"/>
            </a:avLst>
          </a:prstGeom>
          <a:solidFill>
            <a:srgbClr val="FF951E"/>
          </a:solidFill>
          <a:ln w="19050">
            <a:solidFill>
              <a:srgbClr val="9471CF"/>
            </a:solidFill>
          </a:ln>
        </p:spPr>
        <p:txBody>
          <a:bodyPr anchor="ctr"/>
          <a:lstStyle/>
          <a:p>
            <a:pPr algn="ctr">
              <a:defRPr sz="1875">
                <a:solidFill>
                  <a:srgbClr val="222222"/>
                </a:solidFill>
                <a:latin typeface="Arial"/>
                <a:ea typeface="Arial"/>
                <a:cs typeface="Arial"/>
              </a:defRPr>
            </a:pPr>
            <a:r>
              <a:rPr sz="1875">
                <a:solidFill>
                  <a:srgbClr val="222222"/>
                </a:solidFill>
                <a:latin typeface="Arial"/>
                <a:ea typeface="Arial"/>
                <a:cs typeface="Arial"/>
              </a:rPr>
              <a:t>Dense output</a:t>
            </a:r>
          </a:p>
        </p:txBody>
      </p:sp>
      <p:sp>
        <p:nvSpPr>
          <p:cNvPr id="513" name="English ">
            <a:extLst>
              <a:ext uri="{FF2B5EF4-FFF2-40B4-BE49-F238E27FC236}">
                <a16:creationId xmlns:a16="http://schemas.microsoft.com/office/drawing/2014/main" id="{B83EB881-9911-4BEF-AB16-FD12448C3482}"/>
              </a:ext>
            </a:extLst>
          </p:cNvPr>
          <p:cNvSpPr>
            <a:spLocks noGrp="1"/>
          </p:cNvSpPr>
          <p:nvPr/>
        </p:nvSpPr>
        <p:spPr>
          <a:xfrm>
            <a:off x="15811500" y="9001125"/>
            <a:ext cx="209550" cy="238125"/>
          </a:xfrm>
          <a:prstGeom prst="downArrow">
            <a:avLst/>
          </a:prstGeom>
          <a:solidFill>
            <a:srgbClr val="5A75B8"/>
          </a:solidFill>
          <a:ln w="0">
            <a:noFill/>
          </a:ln>
        </p:spPr>
      </p:sp>
      <p:sp>
        <p:nvSpPr>
          <p:cNvPr id="514" name="English ">
            <a:extLst>
              <a:ext uri="{FF2B5EF4-FFF2-40B4-BE49-F238E27FC236}">
                <a16:creationId xmlns:a16="http://schemas.microsoft.com/office/drawing/2014/main" id="{589F7ADD-32FD-4B50-B824-C169B99D0DA1}"/>
              </a:ext>
            </a:extLst>
          </p:cNvPr>
          <p:cNvSpPr>
            <a:spLocks noGrp="1"/>
          </p:cNvSpPr>
          <p:nvPr/>
        </p:nvSpPr>
        <p:spPr>
          <a:xfrm>
            <a:off x="14954250" y="9334500"/>
            <a:ext cx="1952625" cy="571500"/>
          </a:xfrm>
          <a:prstGeom prst="roundRect">
            <a:avLst>
              <a:gd name="adj" fmla="val 13333"/>
            </a:avLst>
          </a:prstGeom>
          <a:solidFill>
            <a:srgbClr val="FF533E"/>
          </a:solidFill>
          <a:ln w="19050">
            <a:solidFill>
              <a:srgbClr val="9471CF"/>
            </a:solidFill>
          </a:ln>
        </p:spPr>
        <p:txBody>
          <a:bodyPr anchor="ctr"/>
          <a:lstStyle/>
          <a:p>
            <a:pPr algn="ctr">
              <a:defRPr sz="1875">
                <a:solidFill>
                  <a:srgbClr val="222222"/>
                </a:solidFill>
                <a:latin typeface="Arial"/>
                <a:ea typeface="Arial"/>
                <a:cs typeface="Arial"/>
              </a:defRPr>
            </a:pPr>
            <a:r>
              <a:rPr sz="1875">
                <a:solidFill>
                  <a:srgbClr val="222222"/>
                </a:solidFill>
                <a:latin typeface="Arial"/>
                <a:ea typeface="Arial"/>
                <a:cs typeface="Arial"/>
              </a:rPr>
              <a:t>Output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589733" y="2019372"/>
          <a:ext cx="4115016" cy="4697522"/>
        </p:xfrm>
        <a:graphic>
          <a:graphicData uri="http://schemas.openxmlformats.org/drawingml/2006/table">
            <a:tbl>
              <a:tblPr/>
              <a:tblGrid>
                <a:gridCol w="2173245">
                  <a:extLst>
                    <a:ext uri="{9D8B030D-6E8A-4147-A177-3AD203B41FA5}">
                      <a16:colId xmlns:a16="http://schemas.microsoft.com/office/drawing/2014/main" val="20000"/>
                    </a:ext>
                  </a:extLst>
                </a:gridCol>
                <a:gridCol w="1941771">
                  <a:extLst>
                    <a:ext uri="{9D8B030D-6E8A-4147-A177-3AD203B41FA5}">
                      <a16:colId xmlns:a16="http://schemas.microsoft.com/office/drawing/2014/main" val="20001"/>
                    </a:ext>
                  </a:extLst>
                </a:gridCol>
              </a:tblGrid>
              <a:tr h="625898">
                <a:tc>
                  <a:txBody>
                    <a:bodyPr/>
                    <a:lstStyle/>
                    <a:p>
                      <a:pPr algn="ctr">
                        <a:lnSpc>
                          <a:spcPts val="3079"/>
                        </a:lnSpc>
                        <a:defRPr/>
                      </a:pPr>
                      <a:r>
                        <a:rPr lang="en-US" sz="2199" b="1">
                          <a:solidFill>
                            <a:srgbClr val="000000"/>
                          </a:solidFill>
                          <a:latin typeface="Noto Serif Bold"/>
                          <a:ea typeface="Noto Serif Bold"/>
                          <a:cs typeface="Noto Serif Bold"/>
                          <a:sym typeface="Noto Serif Bold"/>
                        </a:rPr>
                        <a:t>Library</a:t>
                      </a:r>
                      <a:endParaRPr lang="en-US" sz="1100"/>
                    </a:p>
                  </a:txBody>
                  <a:tcPr marL="57150" marR="57150" marT="57150" marB="5715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8E7AE"/>
                    </a:solidFill>
                  </a:tcPr>
                </a:tc>
                <a:tc>
                  <a:txBody>
                    <a:bodyPr/>
                    <a:lstStyle/>
                    <a:p>
                      <a:pPr algn="ctr">
                        <a:lnSpc>
                          <a:spcPts val="3079"/>
                        </a:lnSpc>
                        <a:defRPr/>
                      </a:pPr>
                      <a:r>
                        <a:rPr lang="en-US" sz="2199" b="1">
                          <a:solidFill>
                            <a:srgbClr val="000000"/>
                          </a:solidFill>
                          <a:latin typeface="Noto Serif Bold"/>
                          <a:ea typeface="Noto Serif Bold"/>
                          <a:cs typeface="Noto Serif Bold"/>
                          <a:sym typeface="Noto Serif Bold"/>
                        </a:rPr>
                        <a:t>Version</a:t>
                      </a:r>
                      <a:endParaRPr lang="en-US" sz="1100"/>
                    </a:p>
                  </a:txBody>
                  <a:tcPr marL="57150" marR="57150" marT="57150" marB="5715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8E7AE"/>
                    </a:solidFill>
                  </a:tcPr>
                </a:tc>
                <a:extLst>
                  <a:ext uri="{0D108BD9-81ED-4DB2-BD59-A6C34878D82A}">
                    <a16:rowId xmlns:a16="http://schemas.microsoft.com/office/drawing/2014/main" val="10000"/>
                  </a:ext>
                </a:extLst>
              </a:tr>
              <a:tr h="508953">
                <a:tc>
                  <a:txBody>
                    <a:bodyPr/>
                    <a:lstStyle/>
                    <a:p>
                      <a:pPr algn="ctr">
                        <a:lnSpc>
                          <a:spcPts val="2520"/>
                        </a:lnSpc>
                        <a:defRPr/>
                      </a:pPr>
                      <a:r>
                        <a:rPr lang="en-US" sz="1800">
                          <a:solidFill>
                            <a:srgbClr val="000000"/>
                          </a:solidFill>
                          <a:latin typeface="Noto Serif"/>
                          <a:ea typeface="Noto Serif"/>
                          <a:cs typeface="Noto Serif"/>
                          <a:sym typeface="Noto Serif"/>
                        </a:rPr>
                        <a:t>numpy</a:t>
                      </a:r>
                      <a:endParaRPr lang="en-US" sz="1100"/>
                    </a:p>
                  </a:txBody>
                  <a:tcPr marL="57150" marR="57150" marT="57150" marB="5715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FFCFF"/>
                    </a:solidFill>
                  </a:tcPr>
                </a:tc>
                <a:tc>
                  <a:txBody>
                    <a:bodyPr/>
                    <a:lstStyle/>
                    <a:p>
                      <a:pPr algn="ctr">
                        <a:lnSpc>
                          <a:spcPts val="2520"/>
                        </a:lnSpc>
                        <a:defRPr/>
                      </a:pPr>
                      <a:r>
                        <a:rPr lang="en-US" sz="1800">
                          <a:solidFill>
                            <a:srgbClr val="000000"/>
                          </a:solidFill>
                          <a:latin typeface="Noto Serif"/>
                          <a:ea typeface="Noto Serif"/>
                          <a:cs typeface="Noto Serif"/>
                          <a:sym typeface="Noto Serif"/>
                        </a:rPr>
                        <a:t>1.26.4</a:t>
                      </a:r>
                      <a:endParaRPr lang="en-US" sz="1100"/>
                    </a:p>
                  </a:txBody>
                  <a:tcPr marL="57150" marR="57150" marT="57150" marB="5715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EFEF"/>
                    </a:solidFill>
                  </a:tcPr>
                </a:tc>
                <a:extLst>
                  <a:ext uri="{0D108BD9-81ED-4DB2-BD59-A6C34878D82A}">
                    <a16:rowId xmlns:a16="http://schemas.microsoft.com/office/drawing/2014/main" val="10001"/>
                  </a:ext>
                </a:extLst>
              </a:tr>
              <a:tr h="508953">
                <a:tc>
                  <a:txBody>
                    <a:bodyPr/>
                    <a:lstStyle/>
                    <a:p>
                      <a:pPr algn="ctr">
                        <a:lnSpc>
                          <a:spcPts val="2520"/>
                        </a:lnSpc>
                        <a:defRPr/>
                      </a:pPr>
                      <a:r>
                        <a:rPr lang="en-US" sz="1800">
                          <a:solidFill>
                            <a:srgbClr val="000000"/>
                          </a:solidFill>
                          <a:latin typeface="Noto Serif"/>
                          <a:ea typeface="Noto Serif"/>
                          <a:cs typeface="Noto Serif"/>
                          <a:sym typeface="Noto Serif"/>
                        </a:rPr>
                        <a:t>pandas</a:t>
                      </a:r>
                      <a:endParaRPr lang="en-US" sz="1100"/>
                    </a:p>
                  </a:txBody>
                  <a:tcPr marL="57150" marR="57150" marT="57150" marB="5715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FFCFF"/>
                    </a:solidFill>
                  </a:tcPr>
                </a:tc>
                <a:tc>
                  <a:txBody>
                    <a:bodyPr/>
                    <a:lstStyle/>
                    <a:p>
                      <a:pPr algn="ctr">
                        <a:lnSpc>
                          <a:spcPts val="2520"/>
                        </a:lnSpc>
                        <a:defRPr/>
                      </a:pPr>
                      <a:r>
                        <a:rPr lang="en-US" sz="1800">
                          <a:solidFill>
                            <a:srgbClr val="000000"/>
                          </a:solidFill>
                          <a:latin typeface="Noto Serif"/>
                          <a:ea typeface="Noto Serif"/>
                          <a:cs typeface="Noto Serif"/>
                          <a:sym typeface="Noto Serif"/>
                        </a:rPr>
                        <a:t>2.2.3</a:t>
                      </a:r>
                      <a:endParaRPr lang="en-US" sz="1100"/>
                    </a:p>
                  </a:txBody>
                  <a:tcPr marL="57150" marR="57150" marT="57150" marB="5715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EFEF"/>
                    </a:solidFill>
                  </a:tcPr>
                </a:tc>
                <a:extLst>
                  <a:ext uri="{0D108BD9-81ED-4DB2-BD59-A6C34878D82A}">
                    <a16:rowId xmlns:a16="http://schemas.microsoft.com/office/drawing/2014/main" val="10002"/>
                  </a:ext>
                </a:extLst>
              </a:tr>
              <a:tr h="508953">
                <a:tc>
                  <a:txBody>
                    <a:bodyPr/>
                    <a:lstStyle/>
                    <a:p>
                      <a:pPr algn="ctr">
                        <a:lnSpc>
                          <a:spcPts val="2520"/>
                        </a:lnSpc>
                        <a:defRPr/>
                      </a:pPr>
                      <a:r>
                        <a:rPr lang="en-US" sz="1800">
                          <a:solidFill>
                            <a:srgbClr val="000000"/>
                          </a:solidFill>
                          <a:latin typeface="Noto Serif"/>
                          <a:ea typeface="Noto Serif"/>
                          <a:cs typeface="Noto Serif"/>
                          <a:sym typeface="Noto Serif"/>
                        </a:rPr>
                        <a:t>matplotlib</a:t>
                      </a:r>
                      <a:endParaRPr lang="en-US" sz="1100"/>
                    </a:p>
                  </a:txBody>
                  <a:tcPr marL="57150" marR="57150" marT="57150" marB="5715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FFCFF"/>
                    </a:solidFill>
                  </a:tcPr>
                </a:tc>
                <a:tc>
                  <a:txBody>
                    <a:bodyPr/>
                    <a:lstStyle/>
                    <a:p>
                      <a:pPr algn="ctr">
                        <a:lnSpc>
                          <a:spcPts val="2520"/>
                        </a:lnSpc>
                        <a:defRPr/>
                      </a:pPr>
                      <a:r>
                        <a:rPr lang="en-US" sz="1800">
                          <a:solidFill>
                            <a:srgbClr val="000000"/>
                          </a:solidFill>
                          <a:latin typeface="Noto Serif"/>
                          <a:ea typeface="Noto Serif"/>
                          <a:cs typeface="Noto Serif"/>
                          <a:sym typeface="Noto Serif"/>
                        </a:rPr>
                        <a:t>3.10.0</a:t>
                      </a:r>
                      <a:endParaRPr lang="en-US" sz="1100"/>
                    </a:p>
                  </a:txBody>
                  <a:tcPr marL="57150" marR="57150" marT="57150" marB="5715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EFEF"/>
                    </a:solidFill>
                  </a:tcPr>
                </a:tc>
                <a:extLst>
                  <a:ext uri="{0D108BD9-81ED-4DB2-BD59-A6C34878D82A}">
                    <a16:rowId xmlns:a16="http://schemas.microsoft.com/office/drawing/2014/main" val="10003"/>
                  </a:ext>
                </a:extLst>
              </a:tr>
              <a:tr h="508953">
                <a:tc>
                  <a:txBody>
                    <a:bodyPr/>
                    <a:lstStyle/>
                    <a:p>
                      <a:pPr algn="ctr">
                        <a:lnSpc>
                          <a:spcPts val="2520"/>
                        </a:lnSpc>
                        <a:defRPr/>
                      </a:pPr>
                      <a:r>
                        <a:rPr lang="en-US" sz="1800">
                          <a:solidFill>
                            <a:srgbClr val="000000"/>
                          </a:solidFill>
                          <a:latin typeface="Noto Serif"/>
                          <a:ea typeface="Noto Serif"/>
                          <a:cs typeface="Noto Serif"/>
                          <a:sym typeface="Noto Serif"/>
                        </a:rPr>
                        <a:t>seaborn</a:t>
                      </a:r>
                      <a:endParaRPr lang="en-US" sz="1100"/>
                    </a:p>
                  </a:txBody>
                  <a:tcPr marL="57150" marR="57150" marT="57150" marB="5715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FFCFF"/>
                    </a:solidFill>
                  </a:tcPr>
                </a:tc>
                <a:tc>
                  <a:txBody>
                    <a:bodyPr/>
                    <a:lstStyle/>
                    <a:p>
                      <a:pPr algn="ctr">
                        <a:lnSpc>
                          <a:spcPts val="2520"/>
                        </a:lnSpc>
                        <a:defRPr/>
                      </a:pPr>
                      <a:r>
                        <a:rPr lang="en-US" sz="1800">
                          <a:solidFill>
                            <a:srgbClr val="000000"/>
                          </a:solidFill>
                          <a:latin typeface="Noto Serif"/>
                          <a:ea typeface="Noto Serif"/>
                          <a:cs typeface="Noto Serif"/>
                          <a:sym typeface="Noto Serif"/>
                        </a:rPr>
                        <a:t>0.13.2</a:t>
                      </a:r>
                      <a:endParaRPr lang="en-US" sz="1100"/>
                    </a:p>
                  </a:txBody>
                  <a:tcPr marL="57150" marR="57150" marT="57150" marB="5715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EFEF"/>
                    </a:solidFill>
                  </a:tcPr>
                </a:tc>
                <a:extLst>
                  <a:ext uri="{0D108BD9-81ED-4DB2-BD59-A6C34878D82A}">
                    <a16:rowId xmlns:a16="http://schemas.microsoft.com/office/drawing/2014/main" val="10004"/>
                  </a:ext>
                </a:extLst>
              </a:tr>
              <a:tr h="508953">
                <a:tc>
                  <a:txBody>
                    <a:bodyPr/>
                    <a:lstStyle/>
                    <a:p>
                      <a:pPr algn="ctr">
                        <a:lnSpc>
                          <a:spcPts val="2520"/>
                        </a:lnSpc>
                        <a:defRPr/>
                      </a:pPr>
                      <a:r>
                        <a:rPr lang="en-US" sz="1800">
                          <a:solidFill>
                            <a:srgbClr val="000000"/>
                          </a:solidFill>
                          <a:latin typeface="Noto Serif"/>
                          <a:ea typeface="Noto Serif"/>
                          <a:cs typeface="Noto Serif"/>
                          <a:sym typeface="Noto Serif"/>
                        </a:rPr>
                        <a:t>scikit - learn </a:t>
                      </a:r>
                      <a:endParaRPr lang="en-US" sz="1100"/>
                    </a:p>
                  </a:txBody>
                  <a:tcPr marL="57150" marR="57150" marT="57150" marB="5715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FFCFF"/>
                    </a:solidFill>
                  </a:tcPr>
                </a:tc>
                <a:tc>
                  <a:txBody>
                    <a:bodyPr/>
                    <a:lstStyle/>
                    <a:p>
                      <a:pPr algn="ctr">
                        <a:lnSpc>
                          <a:spcPts val="2520"/>
                        </a:lnSpc>
                        <a:defRPr/>
                      </a:pPr>
                      <a:r>
                        <a:rPr lang="en-US" sz="1800">
                          <a:solidFill>
                            <a:srgbClr val="000000"/>
                          </a:solidFill>
                          <a:latin typeface="Noto Serif"/>
                          <a:ea typeface="Noto Serif"/>
                          <a:cs typeface="Noto Serif"/>
                          <a:sym typeface="Noto Serif"/>
                        </a:rPr>
                        <a:t>1.6.1</a:t>
                      </a:r>
                      <a:endParaRPr lang="en-US" sz="1100"/>
                    </a:p>
                  </a:txBody>
                  <a:tcPr marL="57150" marR="57150" marT="57150" marB="5715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EFEF"/>
                    </a:solidFill>
                  </a:tcPr>
                </a:tc>
                <a:extLst>
                  <a:ext uri="{0D108BD9-81ED-4DB2-BD59-A6C34878D82A}">
                    <a16:rowId xmlns:a16="http://schemas.microsoft.com/office/drawing/2014/main" val="10005"/>
                  </a:ext>
                </a:extLst>
              </a:tr>
              <a:tr h="508953">
                <a:tc>
                  <a:txBody>
                    <a:bodyPr/>
                    <a:lstStyle/>
                    <a:p>
                      <a:pPr algn="ctr">
                        <a:lnSpc>
                          <a:spcPts val="2520"/>
                        </a:lnSpc>
                        <a:defRPr/>
                      </a:pPr>
                      <a:r>
                        <a:rPr lang="en-US" sz="1800">
                          <a:solidFill>
                            <a:srgbClr val="000000"/>
                          </a:solidFill>
                          <a:latin typeface="Noto Serif"/>
                          <a:ea typeface="Noto Serif"/>
                          <a:cs typeface="Noto Serif"/>
                          <a:sym typeface="Noto Serif"/>
                        </a:rPr>
                        <a:t>xgboost</a:t>
                      </a:r>
                      <a:endParaRPr lang="en-US" sz="1100"/>
                    </a:p>
                  </a:txBody>
                  <a:tcPr marL="57150" marR="57150" marT="57150" marB="5715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FFCFF"/>
                    </a:solidFill>
                  </a:tcPr>
                </a:tc>
                <a:tc>
                  <a:txBody>
                    <a:bodyPr/>
                    <a:lstStyle/>
                    <a:p>
                      <a:pPr algn="ctr">
                        <a:lnSpc>
                          <a:spcPts val="2520"/>
                        </a:lnSpc>
                        <a:defRPr/>
                      </a:pPr>
                      <a:r>
                        <a:rPr lang="en-US" sz="1800">
                          <a:solidFill>
                            <a:srgbClr val="000000"/>
                          </a:solidFill>
                          <a:latin typeface="Noto Serif"/>
                          <a:ea typeface="Noto Serif"/>
                          <a:cs typeface="Noto Serif"/>
                          <a:sym typeface="Noto Serif"/>
                        </a:rPr>
                        <a:t>2.1.4</a:t>
                      </a:r>
                      <a:endParaRPr lang="en-US" sz="1100"/>
                    </a:p>
                  </a:txBody>
                  <a:tcPr marL="57150" marR="57150" marT="57150" marB="5715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EFEF"/>
                    </a:solidFill>
                  </a:tcPr>
                </a:tc>
                <a:extLst>
                  <a:ext uri="{0D108BD9-81ED-4DB2-BD59-A6C34878D82A}">
                    <a16:rowId xmlns:a16="http://schemas.microsoft.com/office/drawing/2014/main" val="10006"/>
                  </a:ext>
                </a:extLst>
              </a:tr>
              <a:tr h="508953">
                <a:tc>
                  <a:txBody>
                    <a:bodyPr/>
                    <a:lstStyle/>
                    <a:p>
                      <a:pPr algn="ctr">
                        <a:lnSpc>
                          <a:spcPts val="2520"/>
                        </a:lnSpc>
                        <a:defRPr/>
                      </a:pPr>
                      <a:r>
                        <a:rPr lang="en-US" sz="1800">
                          <a:solidFill>
                            <a:srgbClr val="000000"/>
                          </a:solidFill>
                          <a:latin typeface="Noto Serif"/>
                          <a:ea typeface="Noto Serif"/>
                          <a:cs typeface="Noto Serif"/>
                          <a:sym typeface="Noto Serif"/>
                        </a:rPr>
                        <a:t>tensorflow</a:t>
                      </a:r>
                      <a:endParaRPr lang="en-US" sz="1100"/>
                    </a:p>
                  </a:txBody>
                  <a:tcPr marL="57150" marR="57150" marT="57150" marB="5715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FFCFF"/>
                    </a:solidFill>
                  </a:tcPr>
                </a:tc>
                <a:tc>
                  <a:txBody>
                    <a:bodyPr/>
                    <a:lstStyle/>
                    <a:p>
                      <a:pPr algn="ctr">
                        <a:lnSpc>
                          <a:spcPts val="2520"/>
                        </a:lnSpc>
                        <a:defRPr/>
                      </a:pPr>
                      <a:r>
                        <a:rPr lang="en-US" sz="1800">
                          <a:solidFill>
                            <a:srgbClr val="000000"/>
                          </a:solidFill>
                          <a:latin typeface="Noto Serif"/>
                          <a:ea typeface="Noto Serif"/>
                          <a:cs typeface="Noto Serif"/>
                          <a:sym typeface="Noto Serif"/>
                        </a:rPr>
                        <a:t>2.10.0</a:t>
                      </a:r>
                      <a:endParaRPr lang="en-US" sz="1100"/>
                    </a:p>
                  </a:txBody>
                  <a:tcPr marL="57150" marR="57150" marT="57150" marB="5715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EFEF"/>
                    </a:solidFill>
                  </a:tcPr>
                </a:tc>
                <a:extLst>
                  <a:ext uri="{0D108BD9-81ED-4DB2-BD59-A6C34878D82A}">
                    <a16:rowId xmlns:a16="http://schemas.microsoft.com/office/drawing/2014/main" val="10007"/>
                  </a:ext>
                </a:extLst>
              </a:tr>
              <a:tr h="508953">
                <a:tc>
                  <a:txBody>
                    <a:bodyPr/>
                    <a:lstStyle/>
                    <a:p>
                      <a:pPr algn="ctr">
                        <a:lnSpc>
                          <a:spcPts val="2520"/>
                        </a:lnSpc>
                        <a:defRPr/>
                      </a:pPr>
                      <a:r>
                        <a:rPr lang="en-US" sz="1800">
                          <a:solidFill>
                            <a:srgbClr val="000000"/>
                          </a:solidFill>
                          <a:latin typeface="Noto Serif"/>
                          <a:ea typeface="Noto Serif"/>
                          <a:cs typeface="Noto Serif"/>
                          <a:sym typeface="Noto Serif"/>
                        </a:rPr>
                        <a:t>keras</a:t>
                      </a:r>
                      <a:endParaRPr lang="en-US" sz="1100"/>
                    </a:p>
                  </a:txBody>
                  <a:tcPr marL="57150" marR="57150" marT="57150" marB="5715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FFCFF"/>
                    </a:solidFill>
                  </a:tcPr>
                </a:tc>
                <a:tc>
                  <a:txBody>
                    <a:bodyPr/>
                    <a:lstStyle/>
                    <a:p>
                      <a:pPr algn="ctr">
                        <a:lnSpc>
                          <a:spcPts val="2520"/>
                        </a:lnSpc>
                        <a:defRPr/>
                      </a:pPr>
                      <a:r>
                        <a:rPr lang="en-US" sz="1800">
                          <a:solidFill>
                            <a:srgbClr val="000000"/>
                          </a:solidFill>
                          <a:latin typeface="Noto Serif"/>
                          <a:ea typeface="Noto Serif"/>
                          <a:cs typeface="Noto Serif"/>
                          <a:sym typeface="Noto Serif"/>
                        </a:rPr>
                        <a:t>2.10.0</a:t>
                      </a:r>
                      <a:endParaRPr lang="en-US" sz="1100"/>
                    </a:p>
                  </a:txBody>
                  <a:tcPr marL="57150" marR="57150" marT="57150" marB="5715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EFEF"/>
                    </a:solidFill>
                  </a:tcPr>
                </a:tc>
                <a:extLst>
                  <a:ext uri="{0D108BD9-81ED-4DB2-BD59-A6C34878D82A}">
                    <a16:rowId xmlns:a16="http://schemas.microsoft.com/office/drawing/2014/main" val="10008"/>
                  </a:ext>
                </a:extLst>
              </a:tr>
            </a:tbl>
          </a:graphicData>
        </a:graphic>
      </p:graphicFrame>
      <p:sp>
        <p:nvSpPr>
          <p:cNvPr id="3" name="Freeform 3"/>
          <p:cNvSpPr/>
          <p:nvPr/>
        </p:nvSpPr>
        <p:spPr>
          <a:xfrm>
            <a:off x="5256802" y="1890851"/>
            <a:ext cx="12643491" cy="4355614"/>
          </a:xfrm>
          <a:custGeom>
            <a:avLst/>
            <a:gdLst/>
            <a:ahLst/>
            <a:cxnLst/>
            <a:rect l="l" t="t" r="r" b="b"/>
            <a:pathLst>
              <a:path w="12643491" h="4355614">
                <a:moveTo>
                  <a:pt x="0" y="0"/>
                </a:moveTo>
                <a:lnTo>
                  <a:pt x="12643491" y="0"/>
                </a:lnTo>
                <a:lnTo>
                  <a:pt x="12643491" y="4355613"/>
                </a:lnTo>
                <a:lnTo>
                  <a:pt x="0" y="4355613"/>
                </a:lnTo>
                <a:lnTo>
                  <a:pt x="0" y="0"/>
                </a:lnTo>
                <a:close/>
              </a:path>
            </a:pathLst>
          </a:custGeom>
          <a:blipFill>
            <a:blip r:embed="rId3"/>
            <a:stretch>
              <a:fillRect/>
            </a:stretch>
          </a:blipFill>
        </p:spPr>
      </p:sp>
      <p:sp>
        <p:nvSpPr>
          <p:cNvPr id="4" name="TextBox 4"/>
          <p:cNvSpPr txBox="1"/>
          <p:nvPr/>
        </p:nvSpPr>
        <p:spPr>
          <a:xfrm>
            <a:off x="6096000" y="168338"/>
            <a:ext cx="6667500" cy="872034"/>
          </a:xfrm>
          <a:prstGeom prst="rect">
            <a:avLst/>
          </a:prstGeom>
        </p:spPr>
        <p:txBody>
          <a:bodyPr wrap="square" lIns="0" tIns="0" rIns="0" bIns="0" rtlCol="0" anchor="t">
            <a:spAutoFit/>
          </a:bodyPr>
          <a:lstStyle/>
          <a:p>
            <a:pPr algn="l">
              <a:lnSpc>
                <a:spcPts val="6805"/>
              </a:lnSpc>
              <a:spcBef>
                <a:spcPct val="0"/>
              </a:spcBef>
            </a:pPr>
            <a:r>
              <a:rPr lang="en-US" sz="5200" dirty="0">
                <a:gradFill>
                  <a:gsLst>
                    <a:gs pos="0">
                      <a:srgbClr val="FF3131">
                        <a:alpha val="100000"/>
                      </a:srgbClr>
                    </a:gs>
                    <a:gs pos="100000">
                      <a:srgbClr val="FF914D">
                        <a:alpha val="100000"/>
                      </a:srgbClr>
                    </a:gs>
                  </a:gsLst>
                  <a:lin ang="0"/>
                </a:gradFill>
                <a:latin typeface="Calistoga"/>
                <a:ea typeface="Calistoga"/>
                <a:cs typeface="Calistoga"/>
                <a:sym typeface="Calistoga"/>
              </a:rPr>
              <a:t>6. Conclusion</a:t>
            </a:r>
          </a:p>
        </p:txBody>
      </p:sp>
      <p:sp>
        <p:nvSpPr>
          <p:cNvPr id="5" name="TextBox 5"/>
          <p:cNvSpPr txBox="1"/>
          <p:nvPr/>
        </p:nvSpPr>
        <p:spPr>
          <a:xfrm>
            <a:off x="580589" y="1485396"/>
            <a:ext cx="4115016" cy="376499"/>
          </a:xfrm>
          <a:prstGeom prst="rect">
            <a:avLst/>
          </a:prstGeom>
        </p:spPr>
        <p:txBody>
          <a:bodyPr wrap="square" lIns="0" tIns="0" rIns="0" bIns="0" rtlCol="0" anchor="t">
            <a:spAutoFit/>
          </a:bodyPr>
          <a:lstStyle/>
          <a:p>
            <a:pPr algn="ctr">
              <a:lnSpc>
                <a:spcPts val="2913"/>
              </a:lnSpc>
              <a:spcBef>
                <a:spcPct val="0"/>
              </a:spcBef>
            </a:pPr>
            <a:r>
              <a:rPr lang="en-US" sz="2490" dirty="0">
                <a:gradFill>
                  <a:gsLst>
                    <a:gs pos="0">
                      <a:srgbClr val="FF5757">
                        <a:alpha val="100000"/>
                      </a:srgbClr>
                    </a:gs>
                    <a:gs pos="100000">
                      <a:srgbClr val="8C52FF">
                        <a:alpha val="100000"/>
                      </a:srgbClr>
                    </a:gs>
                  </a:gsLst>
                  <a:lin ang="0"/>
                </a:gradFill>
                <a:latin typeface="Calistoga"/>
                <a:ea typeface="Calistoga"/>
                <a:cs typeface="Calistoga"/>
                <a:sym typeface="Calistoga"/>
              </a:rPr>
              <a:t>Experimental environment</a:t>
            </a:r>
          </a:p>
        </p:txBody>
      </p:sp>
      <p:sp>
        <p:nvSpPr>
          <p:cNvPr id="6" name="TextBox 6"/>
          <p:cNvSpPr txBox="1"/>
          <p:nvPr/>
        </p:nvSpPr>
        <p:spPr>
          <a:xfrm>
            <a:off x="5020725" y="6521753"/>
            <a:ext cx="13115646" cy="3268492"/>
          </a:xfrm>
          <a:prstGeom prst="rect">
            <a:avLst/>
          </a:prstGeom>
        </p:spPr>
        <p:txBody>
          <a:bodyPr lIns="0" tIns="0" rIns="0" bIns="0" rtlCol="0" anchor="t">
            <a:spAutoFit/>
          </a:bodyPr>
          <a:lstStyle/>
          <a:p>
            <a:pPr marL="485734" lvl="1" indent="-242867" algn="l">
              <a:lnSpc>
                <a:spcPts val="2632"/>
              </a:lnSpc>
              <a:spcBef>
                <a:spcPct val="0"/>
              </a:spcBef>
              <a:buFont typeface="Arial"/>
              <a:buChar char="•"/>
            </a:pPr>
            <a:r>
              <a:rPr lang="en-US" sz="2249">
                <a:solidFill>
                  <a:srgbClr val="000000"/>
                </a:solidFill>
                <a:latin typeface="Noto Serif"/>
                <a:ea typeface="Noto Serif"/>
                <a:cs typeface="Noto Serif"/>
                <a:sym typeface="Noto Serif"/>
              </a:rPr>
              <a:t>This chapter presented the experimental setup and the training process of three house price prediction models on the Ames Housing dataset: Decision Tree, XGBoost, and Artificial Neural Network. </a:t>
            </a:r>
          </a:p>
          <a:p>
            <a:pPr marL="485734" lvl="1" indent="-242867" algn="l">
              <a:lnSpc>
                <a:spcPts val="2632"/>
              </a:lnSpc>
              <a:spcBef>
                <a:spcPct val="0"/>
              </a:spcBef>
              <a:buFont typeface="Arial"/>
              <a:buChar char="•"/>
            </a:pPr>
            <a:r>
              <a:rPr lang="en-US" sz="2249">
                <a:solidFill>
                  <a:srgbClr val="000000"/>
                </a:solidFill>
                <a:latin typeface="Noto Serif"/>
                <a:ea typeface="Noto Serif"/>
                <a:cs typeface="Noto Serif"/>
                <a:sym typeface="Noto Serif"/>
              </a:rPr>
              <a:t>All three models were evaluated consistently on the same validation set to ensure an objective comparison. The experimental results demonstrated that XGBoost achieved the best performance, followed by ANN, with the Decision Tree model ranking last. </a:t>
            </a:r>
          </a:p>
          <a:p>
            <a:pPr marL="485734" lvl="1" indent="-242867" algn="l">
              <a:lnSpc>
                <a:spcPts val="2632"/>
              </a:lnSpc>
              <a:spcBef>
                <a:spcPct val="0"/>
              </a:spcBef>
              <a:buFont typeface="Arial"/>
              <a:buChar char="•"/>
            </a:pPr>
            <a:r>
              <a:rPr lang="en-US" sz="2249">
                <a:solidFill>
                  <a:srgbClr val="000000"/>
                </a:solidFill>
                <a:latin typeface="Noto Serif"/>
                <a:ea typeface="Noto Serif"/>
                <a:cs typeface="Noto Serif"/>
                <a:sym typeface="Noto Serif"/>
              </a:rPr>
              <a:t>These findings serve as the rationale for selecting XGBoost as the primary proposed model for this task, while also suggesting directions for future improvements, including the implementation of early stopping for the neural network and fine-tuning hyperparameters for the Decision Tree model.</a:t>
            </a:r>
          </a:p>
        </p:txBody>
      </p:sp>
      <p:sp>
        <p:nvSpPr>
          <p:cNvPr id="506" name="English ">
            <a:extLst>
              <a:ext uri="{FF2B5EF4-FFF2-40B4-BE49-F238E27FC236}">
                <a16:creationId xmlns:a16="http://schemas.microsoft.com/office/drawing/2014/main" id="{29622F20-58C4-4C8A-9546-1AC39CAB5FEE}"/>
              </a:ext>
            </a:extLst>
          </p:cNvPr>
          <p:cNvSpPr>
            <a:spLocks noGrp="1"/>
          </p:cNvSpPr>
          <p:nvPr/>
        </p:nvSpPr>
        <p:spPr>
          <a:xfrm>
            <a:off x="8572500" y="1857375"/>
            <a:ext cx="6191250" cy="333375"/>
          </a:xfrm>
          <a:prstGeom prst="rect">
            <a:avLst/>
          </a:prstGeom>
          <a:solidFill>
            <a:srgbClr val="FFFFFF"/>
          </a:solidFill>
          <a:ln w="0">
            <a:noFill/>
          </a:ln>
        </p:spPr>
        <p:txBody>
          <a:bodyPr anchor="ctr">
            <a:noAutofit/>
          </a:bodyPr>
          <a:lstStyle/>
          <a:p>
            <a:pPr algn="ctr">
              <a:defRPr sz="1800" b="1">
                <a:solidFill>
                  <a:srgbClr val="222222"/>
                </a:solidFill>
                <a:latin typeface="Arial"/>
                <a:ea typeface="Arial"/>
                <a:cs typeface="Arial"/>
              </a:defRPr>
            </a:pPr>
            <a:r>
              <a:rPr sz="1800" b="1">
                <a:solidFill>
                  <a:srgbClr val="222222"/>
                </a:solidFill>
                <a:latin typeface="Arial"/>
                <a:ea typeface="Arial"/>
                <a:cs typeface="Arial"/>
              </a:rPr>
              <a:t>MODEL RMSE COMPARISON</a:t>
            </a:r>
          </a:p>
        </p:txBody>
      </p:sp>
      <p:sp>
        <p:nvSpPr>
          <p:cNvPr id="502" name="English ">
            <a:extLst>
              <a:ext uri="{FF2B5EF4-FFF2-40B4-BE49-F238E27FC236}">
                <a16:creationId xmlns:a16="http://schemas.microsoft.com/office/drawing/2014/main" id="{E035A3B9-4D75-4AAB-880C-28C6DC15F47E}"/>
              </a:ext>
            </a:extLst>
          </p:cNvPr>
          <p:cNvSpPr>
            <a:spLocks noGrp="1"/>
          </p:cNvSpPr>
          <p:nvPr/>
        </p:nvSpPr>
        <p:spPr>
          <a:xfrm>
            <a:off x="6953250" y="2295525"/>
            <a:ext cx="3810000" cy="228600"/>
          </a:xfrm>
          <a:prstGeom prst="rect">
            <a:avLst/>
          </a:prstGeom>
          <a:solidFill>
            <a:srgbClr val="FFFFFF"/>
          </a:solidFill>
          <a:ln w="0">
            <a:noFill/>
          </a:ln>
        </p:spPr>
        <p:txBody>
          <a:bodyPr anchor="ctr">
            <a:noAutofit/>
          </a:bodyPr>
          <a:lstStyle/>
          <a:p>
            <a:pPr algn="ctr">
              <a:defRPr sz="1425" b="0">
                <a:solidFill>
                  <a:srgbClr val="222222"/>
                </a:solidFill>
                <a:latin typeface="Arial"/>
                <a:ea typeface="Arial"/>
                <a:cs typeface="Arial"/>
              </a:defRPr>
            </a:pPr>
            <a:r>
              <a:rPr sz="1425" b="0">
                <a:solidFill>
                  <a:srgbClr val="222222"/>
                </a:solidFill>
                <a:latin typeface="Arial"/>
                <a:ea typeface="Arial"/>
                <a:cs typeface="Arial"/>
              </a:rPr>
              <a:t>RMSE on the training set</a:t>
            </a:r>
          </a:p>
        </p:txBody>
      </p:sp>
      <p:sp>
        <p:nvSpPr>
          <p:cNvPr id="503" name="English ">
            <a:extLst>
              <a:ext uri="{FF2B5EF4-FFF2-40B4-BE49-F238E27FC236}">
                <a16:creationId xmlns:a16="http://schemas.microsoft.com/office/drawing/2014/main" id="{2F2E0CC3-5481-4DFD-ABB3-B8B8C536ED3C}"/>
              </a:ext>
            </a:extLst>
          </p:cNvPr>
          <p:cNvSpPr>
            <a:spLocks noGrp="1"/>
          </p:cNvSpPr>
          <p:nvPr/>
        </p:nvSpPr>
        <p:spPr>
          <a:xfrm>
            <a:off x="12763500" y="2295525"/>
            <a:ext cx="4476750" cy="228600"/>
          </a:xfrm>
          <a:prstGeom prst="rect">
            <a:avLst/>
          </a:prstGeom>
          <a:solidFill>
            <a:srgbClr val="FFFFFF"/>
          </a:solidFill>
          <a:ln w="0">
            <a:noFill/>
          </a:ln>
        </p:spPr>
        <p:txBody>
          <a:bodyPr anchor="ctr">
            <a:noAutofit/>
          </a:bodyPr>
          <a:lstStyle/>
          <a:p>
            <a:pPr algn="ctr">
              <a:defRPr sz="1425" b="0">
                <a:solidFill>
                  <a:srgbClr val="222222"/>
                </a:solidFill>
                <a:latin typeface="Arial"/>
                <a:ea typeface="Arial"/>
                <a:cs typeface="Arial"/>
              </a:defRPr>
            </a:pPr>
            <a:r>
              <a:rPr sz="1425" b="0">
                <a:solidFill>
                  <a:srgbClr val="222222"/>
                </a:solidFill>
                <a:latin typeface="Arial"/>
                <a:ea typeface="Arial"/>
                <a:cs typeface="Arial"/>
              </a:rPr>
              <a:t>RMSE after Kaggle submission</a:t>
            </a:r>
          </a:p>
        </p:txBody>
      </p:sp>
      <p:sp>
        <p:nvSpPr>
          <p:cNvPr id="504" name="English ">
            <a:extLst>
              <a:ext uri="{FF2B5EF4-FFF2-40B4-BE49-F238E27FC236}">
                <a16:creationId xmlns:a16="http://schemas.microsoft.com/office/drawing/2014/main" id="{AC8DDDC1-BF11-4833-AD4E-4189EC4A1762}"/>
              </a:ext>
            </a:extLst>
          </p:cNvPr>
          <p:cNvSpPr>
            <a:spLocks noGrp="1"/>
          </p:cNvSpPr>
          <p:nvPr/>
        </p:nvSpPr>
        <p:spPr>
          <a:xfrm>
            <a:off x="8191500" y="6048375"/>
            <a:ext cx="1190625" cy="200025"/>
          </a:xfrm>
          <a:prstGeom prst="rect">
            <a:avLst/>
          </a:prstGeom>
          <a:solidFill>
            <a:srgbClr val="FFFFFF"/>
          </a:solidFill>
          <a:ln w="0">
            <a:noFill/>
          </a:ln>
        </p:spPr>
        <p:txBody>
          <a:bodyPr anchor="ctr">
            <a:noAutofit/>
          </a:bodyPr>
          <a:lstStyle/>
          <a:p>
            <a:pPr algn="ctr">
              <a:defRPr sz="1200" b="0">
                <a:solidFill>
                  <a:srgbClr val="222222"/>
                </a:solidFill>
                <a:latin typeface="Arial"/>
                <a:ea typeface="Arial"/>
                <a:cs typeface="Arial"/>
              </a:defRPr>
            </a:pPr>
            <a:r>
              <a:rPr sz="1200" b="0">
                <a:solidFill>
                  <a:srgbClr val="222222"/>
                </a:solidFill>
                <a:latin typeface="Arial"/>
                <a:ea typeface="Arial"/>
                <a:cs typeface="Arial"/>
              </a:rPr>
              <a:t>Model</a:t>
            </a:r>
          </a:p>
        </p:txBody>
      </p:sp>
      <p:sp>
        <p:nvSpPr>
          <p:cNvPr id="505" name="English ">
            <a:extLst>
              <a:ext uri="{FF2B5EF4-FFF2-40B4-BE49-F238E27FC236}">
                <a16:creationId xmlns:a16="http://schemas.microsoft.com/office/drawing/2014/main" id="{B8CEAC0C-6179-4F8C-AF99-082A66326E1A}"/>
              </a:ext>
            </a:extLst>
          </p:cNvPr>
          <p:cNvSpPr>
            <a:spLocks noGrp="1"/>
          </p:cNvSpPr>
          <p:nvPr/>
        </p:nvSpPr>
        <p:spPr>
          <a:xfrm>
            <a:off x="14430375" y="6048375"/>
            <a:ext cx="1190625" cy="200025"/>
          </a:xfrm>
          <a:prstGeom prst="rect">
            <a:avLst/>
          </a:prstGeom>
          <a:solidFill>
            <a:srgbClr val="FFFFFF"/>
          </a:solidFill>
          <a:ln w="0">
            <a:noFill/>
          </a:ln>
        </p:spPr>
        <p:txBody>
          <a:bodyPr anchor="ctr">
            <a:noAutofit/>
          </a:bodyPr>
          <a:lstStyle/>
          <a:p>
            <a:pPr algn="ctr">
              <a:defRPr sz="1200" b="0">
                <a:solidFill>
                  <a:srgbClr val="222222"/>
                </a:solidFill>
                <a:latin typeface="Arial"/>
                <a:ea typeface="Arial"/>
                <a:cs typeface="Arial"/>
              </a:defRPr>
            </a:pPr>
            <a:r>
              <a:rPr sz="1200" b="0">
                <a:solidFill>
                  <a:srgbClr val="222222"/>
                </a:solidFill>
                <a:latin typeface="Arial"/>
                <a:ea typeface="Arial"/>
                <a:cs typeface="Arial"/>
              </a:rPr>
              <a:t>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TotalTime>
  <Words>1549</Words>
  <Application>Microsoft Office PowerPoint</Application>
  <PresentationFormat>Custom</PresentationFormat>
  <Paragraphs>408</Paragraphs>
  <Slides>14</Slides>
  <Notes>8</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14</vt:i4>
      </vt:variant>
    </vt:vector>
  </HeadingPairs>
  <TitlesOfParts>
    <vt:vector size="27" baseType="lpstr">
      <vt:lpstr>Calibri</vt:lpstr>
      <vt:lpstr>Calistoga</vt:lpstr>
      <vt:lpstr>Proxima Nova Bold Italics</vt:lpstr>
      <vt:lpstr>Aptos</vt:lpstr>
      <vt:lpstr>Arimo</vt:lpstr>
      <vt:lpstr>Proxima Nova Heavy</vt:lpstr>
      <vt:lpstr>Proxima Nova Italics</vt:lpstr>
      <vt:lpstr>Proxima Nova Bold</vt:lpstr>
      <vt:lpstr>Arial</vt:lpstr>
      <vt:lpstr>Noto Serif Bold</vt:lpstr>
      <vt:lpstr>Noto Serif</vt:lpstr>
      <vt:lpstr>Proxima Nova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NGHIÊN CỨU NHÓM</dc:title>
  <dc:creator>Ca Nguyễn Khải Hoàn</dc:creator>
  <cp:lastModifiedBy>Đại Nguyễn Tấn</cp:lastModifiedBy>
  <cp:revision>6</cp:revision>
  <dcterms:created xsi:type="dcterms:W3CDTF">2006-08-16T00:00:00Z</dcterms:created>
  <dcterms:modified xsi:type="dcterms:W3CDTF">2026-10-03T07:26:59Z</dcterms:modified>
  <dc:identifier>DAHW1GvZ9L0</dc:identifier>
</cp:coreProperties>
</file>